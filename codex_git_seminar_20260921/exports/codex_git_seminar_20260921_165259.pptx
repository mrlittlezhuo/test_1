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  <Relationship Id="rId2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这次汇报不把 Codex、VS Code 和 Git 当作三个零散工具，而是把它们串成一条从想法到可复现结果的工作路径。Codex 负责理解任务并执行修改，VS Code 提供观察代码、终端和差异的工作区，Git 负责记录、比较与恢复。我们会先讲 Codex，再讲 Git，最后把两者组合成科研工作流。衡量这套工具链的标准不是代码产生得多快，而是研究结果是否更可靠、更容易复查。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用同一个 MATLAB 任务看，两者的差别会更直观。如果我在普通 ChatGPT 对话中问“扩展卡尔曼滤波是什么，给一段示例代码”，通常得到的是原理说明和参考代码。接下来还要由我判断代码能否用于当前项目，把它放到合适的位置并运行验证。交给 Codex 的任务可以更具体：请它读当前工程，找到定位模块里的状态更新函数，在保持输入输出接口不变的前提下修改文件、补充测试，再说明修改了哪些文件以及测试结果。Codex 能进入授权范围内的真实项目执行这些步骤，也能查看 Git 差异。但这不等于改动自动正确，最后仍要由人检查代码和验证结果。这里的表述依据《Codex 是什么与基本使用教程》第一部分第 1、2 小节。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Codex 的价值不只是补出一段代码，而是围绕任务完成一个可验证的闭环。它从明确目标开始，读取项目和规则，拆解计划，修改文件，运行测试或检查，再审查差异并汇报结果。如果验证失败，就回到修改环节，而不是把未验证的代码直接交付。右侧的状态窗口强调了最终应看到的证据：测试通过、变更文件清楚，而且差异已经准备好供人审查。人在入口确认范围，在出口核对风险、证据和完成标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Codex 项目没有一种神秘或唯一的目录格式，关键是让人和工具都能迅速定位规则、实现与验证。项目根目录里，AGENTS.md 说明执行约束，README.md 提供入口，src 放实现，tests 放可重复检查。configs、data、results 和 docs 分别管理参数、数据约定、输出与方法记录。依赖文件用于锁定环境，.gitignore 则排除密钥、缓存、大型原始数据和可以重新生成的文件。目录结构的目的不是显得专业，而是让规则是什么、代码在哪、怎样运行、如何验证和结果放哪都能被快速回答。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当项目规则稳定后，不必在每次对话里重新解释。AGENTS.md 适合记录测试命令、目录约定、提交规则、禁止事项和必要的领域背景，它回答的是这个项目始终应该怎么做。Skill 则把边界清楚、会重复出现的多步骤方法封装起来，核心是 SKILL.md，也可以配套脚本、参考资料和资源。Codex 执行任务时，一边遵守项目规则，一边在适用时调用可复用流程。接下来分别展开这两种机制，并给出可以直接迁移到科研项目中的示例。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AGENTS.md 可以理解为项目内长期有效的“协作说明书”，Codex 会在开始工作前读取它。全局文件适合放个人通用习惯，仓库根目录适合放整个项目的规则，更深目录中的文件则补充局部约束；从项目根目录到当前工作目录的规则会依次合并，位置越近的说明越具体。内容应优先写成可以执行和检查的规则，例如入口命令、测试方式、禁止修改的目录以及交付要求。临时任务、一次性背景和密钥不适合放进长期规则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这份示例把科研项目中容易口头遗漏的约定写成了明确规则。它先说明 MATLAB 版本和程序入口，再要求修改前检查 Git 状态、只处理当前任务文件、不要改动原始数据，最后规定必须运行的测试和汇报内容。好的 AGENTS.md 不追求面面俱到，而是做到具体、可执行、可验证。项目成员和 Codex 因而能用同一套标准判断任务是否真正完成。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Skill 是针对某一类任务的可复用工作手册，一个技能目录至少包含 SKILL.md，也可以配套脚本、参考资料和素材。Codex 通常先看到技能的名称和描述，判断任务匹配后再加载完整说明，这样既能复用专业流程，又不会把所有细节一次性塞进上下文。项目级技能可以放在 .agents/skills 下，通过美元符号加技能名显式调用，也可以依靠描述自动匹配。AGENTS.md 管整个项目的长期规则，Skill 则服务于边界清楚、会反复出现的具体任务。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这里把“实验结果复核”封装成一个最小技能。SKILL.md 用名称和描述说明什么时候使用，再规定读取配置、记录 Git 提交号、最小复现实验、比较指标和生成摘要的顺序，并明确禁止覆盖原始数据或跳过失败结果。使用时可以显式输入技能名和实验目录，也可以让 Codex 根据任务描述自动匹配。这样，同一套复核步骤能在不同实验和不同成员之间重复执行，输出也更容易比较。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第一次在 VS Code 中使用 Codex，可以沿着三步完成。先安装或启用扩展、登录账号，并打开真实项目；然后打开 Codex 侧边栏，用目标、范围和完成标准描述任务；最后引用相关文件、选区或报错，让上下文足够精确。任务完成后，不只看一段摘要，还要检查差异和测试结果。对于真实科研项目，建议在任务前后建立 Git 检查点，这样每一次 AI 修改都有基线、有证据，也能够恢复。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Git 是分布式版本控制工具，而 GitHub 或 GitLab 是远程托管与协作平台，两者不能混为一谈。集中式版本控制依赖中心仓库，分布式 Git 的每个完整克隆都带有项目历史，因此即使没有网络，也能在本地提交、查看历史和比较版本。一次提交保存的是某一时刻的项目状态以及与父提交的关系，不是把整个文件夹随手复制一份。这也是 Git 能够可靠比较、分支、合并和恢复的基础。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理解 Git 的关键，是知道文件当前位于哪一个位置。工作区是正在编辑的文件，git add 把选中的变化送到暂存区，暂存区决定本次提交包含什么。git commit 再把这批内容固化为本地仓库中的历史，只有 git push 和 git pull 才涉及远程仓库的同步。平时用 git status 看状态，用 git diff 看具体差异，用 git log 看历史。暂存区最重要的价值，是先选择这一次要提交什么，再生成一个清楚的检查点。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日常操作不需要记住大量命令，只要坚持一条安全循环。开始前用 git pull 同步更新，完成一个边界清楚的小修改并测试，然后用 git status 和 git diff 检查范围。接着只用 git add 暂存当前任务相关文件，用提交信息说明为什么改变，最后 git push 到对应远程分支。右侧终端示例显示了一次可解释的小提交：配置和代码变化明确，提交信息也能说明原因。没有理解影响之前，不要使用会覆盖历史或丢失修改的强制命令。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科研项目里的版本历史，应该帮助我们回答这次实验为什么与上一次不同。一个研究假设或修复可以对应一个短分支，在分支中同时修改代码和配置，验证后再合并。提交应能关联代码与配置变化、环境和数据获取说明，以及指标摘要或结果索引。源代码、配置、依赖、评估脚本和图表生成方法适合追踪；密钥、缓存、临时文件、大型原始数据和可重新生成的输出应忽略或交给专门机制管理。结果目录可以保留 README、指标摘要或索引，让提交真正指向实验记录。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前面介绍了 Git 如何管理实验版本，现在回到科研任务本身。Codex 可以先帮助我们梳理论文的观测模型、变量和前提，再对照当前系统检查所需输入是否存在。遇到有希望的方法，先按论文条件做相对独立的最小复现，核对结果；如果对不上，再检查坐标系、归一化或评价指标等实现细节。复现之后，Codex 可以定位项目中的接口、协助接入或改造，并在相同条件下安排与基线的对照。最后，把代码、配置、运行结果和失败原因整理成可复查记录。但它不能代替研究者判断论文假设是否成立，也不能仅凭某个局部残差改善就宣布方法有效。这一页根据《科研过程复盘_Codex与Git协同工作流》的科研环节整理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最后用 Paper2 的多反射面估计说明两者怎样配合。完整全局动态规划提供一条可继续使用的基线；为了减少完整区间搜索的计算量，我们又探索粗糙度引导的受限搜索。两条路线应从明确的起始提交出发：Codex 可以在不同讨论中分别复核基线、分析瓶颈和协助实现新方案，Git 则保存基线，并用独立分支隔离探索代码。聊天分叉不会自动创建 Git 分支，需要我们明确工作目录和分支；如果要同时运行不同路线，还可以使用独立 worktree。比较时固定数据、随机种子和评价指标，重点看定位精度与计算量。是否合并新路线，或者记录失败原因后停止，由研究者根据证据决定。这是研究路线管理的例子，不表示受限搜索已经优于完整方法，也不等于相关论文均已完成严格复现。案例依据《科研过程复盘_Codex与Git协同工作流》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odex_git_semina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odex_git_semina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hyperlink" Target="https://learn.chatgpt.com/docs/agent-configuration/agents-md" TargetMode="External"/>
  <Relationship Id="rId3" Type="http://schemas.openxmlformats.org/officeDocument/2006/relationships/hyperlink" Target="https://learn.chatgpt.com/docs/build-skills" TargetMode="External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hyperlink" Target="https://learn.chatgpt.com/docs/agent-configuration/agents-md" TargetMode="External"/>
  <Relationship Id="rId3" Type="http://schemas.openxmlformats.org/officeDocument/2006/relationships/hyperlink" Target="https://jishuzhan.net/article/2053301309797892098" TargetMode="External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hyperlink" Target="https://jishuzhan.net/article/2053301309797892098" TargetMode="External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hyperlink" Target="https://learn.chatgpt.com/docs/build-skills" TargetMode="External"/>
  <Relationship Id="rId3" Type="http://schemas.openxmlformats.org/officeDocument/2006/relationships/hyperlink" Target="https://jishuzhan.net/article/2053301309797892098" TargetMode="External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78b968eeb4771f2.png"/>
  <Relationship Id="rId3" Type="http://schemas.openxmlformats.org/officeDocument/2006/relationships/image" Target="../media/image_6612b55437c111cf.png"/>
  <Relationship Id="rId4" Type="http://schemas.openxmlformats.org/officeDocument/2006/relationships/image" Target="../media/image_0dccb49f67124b52.png"/>
  <Relationship Id="rId5" Type="http://schemas.openxmlformats.org/officeDocument/2006/relationships/hyperlink" Target="https://learn.chatgpt.com/docs/codex/ide" TargetMode="External"/>
  <Relationship Id="rId6" Type="http://schemas.openxmlformats.org/officeDocument/2006/relationships/hyperlink" Target="https://codexguide.ai/start/13-ide-vscode.html" TargetMode="External"/>
  <Relationship Id="rId7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d664b93c41e8867.jpg"/>
  <Relationship Id="rId3" Type="http://schemas.openxmlformats.org/officeDocument/2006/relationships/hyperlink" Target="https://www.runoob.com/git/git-tutorial.html" TargetMode="External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over-label"/>
          <p:cNvGrpSpPr/>
          <p:nvPr/>
        </p:nvGrpSpPr>
        <p:grpSpPr>
          <a:xfrm>
            <a:off x="831342" y="825818"/>
            <a:ext cx="10529316" cy="264033"/>
            <a:chOff x="831342" y="825818"/>
            <a:chExt cx="105293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831342" y="825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课题组方法交流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647255" y="8258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2026.09</a:t>
              </a:r>
            </a:p>
          </p:txBody>
        </p:sp>
      </p:grpSp>
      <p:grpSp>
        <p:nvGrpSpPr>
          <p:cNvPr id="8" name="cover-title"/>
          <p:cNvGrpSpPr/>
          <p:nvPr/>
        </p:nvGrpSpPr>
        <p:grpSpPr>
          <a:xfrm>
            <a:off x="819150" y="2404110"/>
            <a:ext cx="6229140" cy="1682115"/>
            <a:chOff x="819150" y="2404110"/>
            <a:chExt cx="6229140" cy="1682115"/>
          </a:xfrm>
        </p:grpSpPr>
        <p:sp>
          <p:nvSpPr>
            <p:cNvPr id="5" name="TextBox 5"/>
            <p:cNvSpPr txBox="1"/>
            <p:nvPr/>
          </p:nvSpPr>
          <p:spPr>
            <a:xfrm>
              <a:off x="819150" y="2404110"/>
              <a:ext cx="6229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Codex、VS Code 与 Git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19150" y="3217545"/>
              <a:ext cx="476326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在科研项目中的使用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838200" y="4076700"/>
              <a:ext cx="1495425" cy="9525"/>
            </a:xfrm>
            <a:custGeom>
              <a:avLst/>
              <a:gdLst/>
              <a:ahLst/>
              <a:cxnLst/>
              <a:rect l="l" t="t" r="r" b="b"/>
              <a:pathLst>
                <a:path w="1495425" h="9525">
                  <a:moveTo>
                    <a:pt x="0" y="0"/>
                  </a:moveTo>
                  <a:lnTo>
                    <a:pt x="1495425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1" name="cover-description"/>
          <p:cNvGrpSpPr/>
          <p:nvPr/>
        </p:nvGrpSpPr>
        <p:grpSpPr>
          <a:xfrm>
            <a:off x="828675" y="4807744"/>
            <a:ext cx="3562248" cy="994029"/>
            <a:chOff x="828675" y="4807744"/>
            <a:chExt cx="3562248" cy="994029"/>
          </a:xfrm>
        </p:grpSpPr>
        <p:sp>
          <p:nvSpPr>
            <p:cNvPr id="9" name="TextBox 9"/>
            <p:cNvSpPr txBox="1"/>
            <p:nvPr/>
          </p:nvSpPr>
          <p:spPr>
            <a:xfrm>
              <a:off x="828675" y="4807744"/>
              <a:ext cx="356224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465861"/>
                  </a:solidFill>
                  <a:latin typeface="+mn-lt"/>
                  <a:ea typeface="+mn-ea"/>
                  <a:cs typeface="+mn-cs"/>
                </a:rPr>
                <a:t>项目约定、任务执行与版本记录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961" y="552307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结合科研代码的日常维护与实验复现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54216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ChatGPT 与 Codex 的工作方式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022032"/>
              <a:ext cx="43108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以同一个 MATLAB 扩展卡尔曼滤波任务为例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2" name="chatgpt-column"/>
          <p:cNvGrpSpPr/>
          <p:nvPr/>
        </p:nvGrpSpPr>
        <p:grpSpPr>
          <a:xfrm>
            <a:off x="598932" y="1887855"/>
            <a:ext cx="4639818" cy="3444240"/>
            <a:chOff x="598932" y="1887855"/>
            <a:chExt cx="4639818" cy="3444240"/>
          </a:xfrm>
        </p:grpSpPr>
        <p:sp>
          <p:nvSpPr>
            <p:cNvPr id="6" name="TextBox 6"/>
            <p:cNvSpPr txBox="1"/>
            <p:nvPr/>
          </p:nvSpPr>
          <p:spPr>
            <a:xfrm>
              <a:off x="598932" y="1887855"/>
              <a:ext cx="25157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 ChatGPT 对话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23964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解释原理，给出参考代码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886075"/>
              <a:ext cx="4629150" cy="9525"/>
            </a:xfrm>
            <a:custGeom>
              <a:avLst/>
              <a:gdLst/>
              <a:ahLst/>
              <a:cxnLst/>
              <a:rect l="l" t="t" r="r" b="b"/>
              <a:pathLst>
                <a:path w="4629150" h="9525">
                  <a:moveTo>
                    <a:pt x="0" y="0"/>
                  </a:moveTo>
                  <a:lnTo>
                    <a:pt x="46291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2742" y="31689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你可以这样问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3574732"/>
              <a:ext cx="306571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“请解释扩展卡尔曼滤波的原理，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并给一段 MATLAB 示例代码。”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980" y="4733925"/>
              <a:ext cx="2491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得到原理说明和示例代码；</a:t>
              </a:r>
              <a:br/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还需要自己放进项目并验证。</a:t>
              </a:r>
            </a:p>
          </p:txBody>
        </p:sp>
      </p:grpSp>
      <p:grpSp>
        <p:nvGrpSpPr>
          <p:cNvPr id="19" name="codex-column"/>
          <p:cNvGrpSpPr/>
          <p:nvPr/>
        </p:nvGrpSpPr>
        <p:grpSpPr>
          <a:xfrm>
            <a:off x="6104382" y="1887855"/>
            <a:ext cx="5478018" cy="3444240"/>
            <a:chOff x="6104382" y="1887855"/>
            <a:chExt cx="5478018" cy="3444240"/>
          </a:xfrm>
        </p:grpSpPr>
        <p:sp>
          <p:nvSpPr>
            <p:cNvPr id="13" name="TextBox 13"/>
            <p:cNvSpPr txBox="1"/>
            <p:nvPr/>
          </p:nvSpPr>
          <p:spPr>
            <a:xfrm>
              <a:off x="6104382" y="1887855"/>
              <a:ext cx="8468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05906" y="23964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读取当前项目，修改并验证代码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115050" y="2886075"/>
              <a:ext cx="5467350" cy="9525"/>
            </a:xfrm>
            <a:custGeom>
              <a:avLst/>
              <a:gdLst/>
              <a:ahLst/>
              <a:cxnLst/>
              <a:rect l="l" t="t" r="r" b="b"/>
              <a:pathLst>
                <a:path w="5467350" h="9525">
                  <a:moveTo>
                    <a:pt x="0" y="0"/>
                  </a:moveTo>
                  <a:lnTo>
                    <a:pt x="54673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08192" y="3168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你可以这样交代任务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06668" y="3574732"/>
              <a:ext cx="357911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“请找到定位模块的状态更新函数，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加入扩展卡尔曼滤波，保持接口不变，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补充测试并说明修改了哪些文件。”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07430" y="4733925"/>
              <a:ext cx="2491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得到真实文件改动、测试结果</a:t>
              </a:r>
              <a:br/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和可供审查的 Git 差异。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2742" y="5829300"/>
            <a:ext cx="10984992" cy="470725"/>
            <a:chOff x="602742" y="5829300"/>
            <a:chExt cx="10984992" cy="470725"/>
          </a:xfrm>
        </p:grpSpPr>
        <p:sp>
          <p:nvSpPr>
            <p:cNvPr id="20" name="Line 20"/>
            <p:cNvSpPr/>
            <p:nvPr/>
          </p:nvSpPr>
          <p:spPr>
            <a:xfrm>
              <a:off x="609600" y="5829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2742" y="6035992"/>
              <a:ext cx="4935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Codex 可以在授权项目内执行任务；最终改动仍需人工检查。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21580" y="6087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549189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 处理代码任务的基本流程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041082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一次代码任务通常包括读取项目、修改文件、运行检查和审查差异。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50" name="execution-loop"/>
          <p:cNvGrpSpPr/>
          <p:nvPr/>
        </p:nvGrpSpPr>
        <p:grpSpPr>
          <a:xfrm>
            <a:off x="591439" y="2259806"/>
            <a:ext cx="7828661" cy="3302794"/>
            <a:chOff x="591439" y="2259806"/>
            <a:chExt cx="7828661" cy="3302794"/>
          </a:xfrm>
        </p:grpSpPr>
        <p:sp>
          <p:nvSpPr>
            <p:cNvPr id="6" name="Line 6"/>
            <p:cNvSpPr/>
            <p:nvPr/>
          </p:nvSpPr>
          <p:spPr>
            <a:xfrm>
              <a:off x="1009650" y="3238500"/>
              <a:ext cx="6896100" cy="1"/>
            </a:xfrm>
            <a:prstGeom prst="line">
              <a:avLst/>
            </a:prstGeom>
            <a:noFill/>
            <a:ln w="47625" cap="rnd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591439" y="2952750"/>
              <a:ext cx="7732522" cy="1178528"/>
              <a:chOff x="591439" y="2952750"/>
              <a:chExt cx="7732522" cy="1178528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591439" y="2952750"/>
                <a:ext cx="874522" cy="1178528"/>
                <a:chOff x="591439" y="2952750"/>
                <a:chExt cx="874522" cy="1178528"/>
              </a:xfrm>
            </p:grpSpPr>
            <p:sp>
              <p:nvSpPr>
                <p:cNvPr id="7" name="Ellipse 7"/>
                <p:cNvSpPr/>
                <p:nvPr/>
              </p:nvSpPr>
              <p:spPr>
                <a:xfrm>
                  <a:off x="742950" y="2952750"/>
                  <a:ext cx="571500" cy="571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969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677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明确目标</a:t>
                  </a:r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591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范围与标准</a:t>
                  </a:r>
                </a:p>
              </p:txBody>
            </p:sp>
          </p:grpSp>
          <p:grpSp>
            <p:nvGrpSpPr>
              <p:cNvPr id="16" name="Group 16"/>
              <p:cNvGrpSpPr/>
              <p:nvPr/>
            </p:nvGrpSpPr>
            <p:grpSpPr>
              <a:xfrm>
                <a:off x="1734439" y="2952750"/>
                <a:ext cx="874522" cy="1178528"/>
                <a:chOff x="1734439" y="2952750"/>
                <a:chExt cx="874522" cy="1178528"/>
              </a:xfrm>
            </p:grpSpPr>
            <p:sp>
              <p:nvSpPr>
                <p:cNvPr id="12" name="Ellipse 12"/>
                <p:cNvSpPr/>
                <p:nvPr/>
              </p:nvSpPr>
              <p:spPr>
                <a:xfrm>
                  <a:off x="1885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2112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820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读取项目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734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文件与规则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2877439" y="2952750"/>
                <a:ext cx="874522" cy="1178528"/>
                <a:chOff x="2877439" y="2952750"/>
                <a:chExt cx="874522" cy="1178528"/>
              </a:xfrm>
            </p:grpSpPr>
            <p:sp>
              <p:nvSpPr>
                <p:cNvPr id="17" name="Ellipse 17"/>
                <p:cNvSpPr/>
                <p:nvPr/>
              </p:nvSpPr>
              <p:spPr>
                <a:xfrm>
                  <a:off x="3028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3255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2963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拆解计划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2877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步骤与风险</a:t>
                  </a:r>
                </a:p>
              </p:txBody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4106596" y="2952750"/>
                <a:ext cx="702208" cy="1178528"/>
                <a:chOff x="4106596" y="2952750"/>
                <a:chExt cx="702208" cy="1178528"/>
              </a:xfrm>
            </p:grpSpPr>
            <p:sp>
              <p:nvSpPr>
                <p:cNvPr id="22" name="Ellipse 22"/>
                <p:cNvSpPr/>
                <p:nvPr/>
              </p:nvSpPr>
              <p:spPr>
                <a:xfrm>
                  <a:off x="4171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4398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4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4106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修改文件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4106596" y="388191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最小变更</a:t>
                  </a:r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5163439" y="2952750"/>
                <a:ext cx="874522" cy="1178528"/>
                <a:chOff x="5163439" y="2952750"/>
                <a:chExt cx="874522" cy="1178528"/>
              </a:xfrm>
            </p:grpSpPr>
            <p:sp>
              <p:nvSpPr>
                <p:cNvPr id="27" name="Ellipse 27"/>
                <p:cNvSpPr/>
                <p:nvPr/>
              </p:nvSpPr>
              <p:spPr>
                <a:xfrm>
                  <a:off x="5314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5541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5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5249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运行检查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5163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测试与脚本</a:t>
                  </a: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6361364" y="2952750"/>
                <a:ext cx="764672" cy="1178528"/>
                <a:chOff x="6361364" y="2952750"/>
                <a:chExt cx="764672" cy="1178528"/>
              </a:xfrm>
            </p:grpSpPr>
            <p:sp>
              <p:nvSpPr>
                <p:cNvPr id="32" name="Ellipse 32"/>
                <p:cNvSpPr/>
                <p:nvPr/>
              </p:nvSpPr>
              <p:spPr>
                <a:xfrm>
                  <a:off x="6457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6684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6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361364" y="3634264"/>
                  <a:ext cx="76467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审查 diff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6392596" y="388191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核对范围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7449439" y="2952750"/>
                <a:ext cx="874522" cy="1178528"/>
                <a:chOff x="7449439" y="2952750"/>
                <a:chExt cx="874522" cy="1178528"/>
              </a:xfrm>
            </p:grpSpPr>
            <p:sp>
              <p:nvSpPr>
                <p:cNvPr id="37" name="Ellipse 37"/>
                <p:cNvSpPr/>
                <p:nvPr/>
              </p:nvSpPr>
              <p:spPr>
                <a:xfrm>
                  <a:off x="7600950" y="2952750"/>
                  <a:ext cx="571500" cy="5715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7827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7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7535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汇报结果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7449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证据与后续</a:t>
                  </a:r>
                </a:p>
              </p:txBody>
            </p:sp>
          </p:grpSp>
        </p:grpSp>
        <p:sp>
          <p:nvSpPr>
            <p:cNvPr id="43" name="Line 43"/>
            <p:cNvSpPr/>
            <p:nvPr/>
          </p:nvSpPr>
          <p:spPr>
            <a:xfrm>
              <a:off x="5600700" y="24955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285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4457700" y="24955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11430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4457700" y="2495550"/>
              <a:ext cx="1" cy="28575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345000" y="22598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验证失败就返回修改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09600" y="4762500"/>
              <a:ext cx="7810500" cy="800100"/>
            </a:xfrm>
            <a:prstGeom prst="roundRect">
              <a:avLst>
                <a:gd name="adj" fmla="val 4762"/>
              </a:avLst>
            </a:prstGeom>
            <a:solidFill>
              <a:srgbClr val="F2F5F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1342" y="49501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人的职责贯穿始终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1342" y="523589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在入口确认范围，在出口核对风险、证据与完成标准。</a:t>
              </a:r>
            </a:p>
          </p:txBody>
        </p:sp>
      </p:grpSp>
      <p:grpSp>
        <p:nvGrpSpPr>
          <p:cNvPr id="62" name="editor-status"/>
          <p:cNvGrpSpPr/>
          <p:nvPr/>
        </p:nvGrpSpPr>
        <p:grpSpPr>
          <a:xfrm>
            <a:off x="8763000" y="1809750"/>
            <a:ext cx="2819400" cy="3752850"/>
            <a:chOff x="8763000" y="1809750"/>
            <a:chExt cx="2819400" cy="3752850"/>
          </a:xfrm>
        </p:grpSpPr>
        <p:sp>
          <p:nvSpPr>
            <p:cNvPr id="51" name="Rectangle 51"/>
            <p:cNvSpPr/>
            <p:nvPr/>
          </p:nvSpPr>
          <p:spPr>
            <a:xfrm>
              <a:off x="8763000" y="1809750"/>
              <a:ext cx="2819400" cy="3752850"/>
            </a:xfrm>
            <a:prstGeom prst="roundRect">
              <a:avLst>
                <a:gd name="adj" fmla="val 135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763000" y="1809750"/>
              <a:ext cx="2819400" cy="419100"/>
            </a:xfrm>
            <a:prstGeom prst="roundRect">
              <a:avLst>
                <a:gd name="adj" fmla="val 9091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557766" y="1963102"/>
              <a:ext cx="915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task / verify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04554" y="2480310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FB5D9"/>
                  </a:solidFill>
                  <a:latin typeface="Consolas"/>
                  <a:ea typeface="Consolas"/>
                  <a:cs typeface="Consolas"/>
                </a:rPr>
                <a:t>$ run tests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03792" y="282606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A9C9BB"/>
                  </a:solidFill>
                  <a:latin typeface="Consolas"/>
                  <a:ea typeface="Consolas"/>
                  <a:cs typeface="Consolas"/>
                </a:rPr>
                <a:t>✓ 18 passed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9010650" y="3219450"/>
              <a:ext cx="2324100" cy="9525"/>
            </a:xfrm>
            <a:custGeom>
              <a:avLst/>
              <a:gdLst/>
              <a:ahLst/>
              <a:cxnLst/>
              <a:rect l="l" t="t" r="r" b="b"/>
              <a:pathLst>
                <a:path w="2324100" h="9525">
                  <a:moveTo>
                    <a:pt x="0" y="0"/>
                  </a:moveTo>
                  <a:lnTo>
                    <a:pt x="2324100" y="0"/>
                  </a:lnTo>
                </a:path>
              </a:pathLst>
            </a:custGeom>
            <a:noFill/>
            <a:ln w="9525">
              <a:solidFill>
                <a:srgbClr val="53626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004554" y="3489960"/>
              <a:ext cx="6693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FB5D9"/>
                  </a:solidFill>
                  <a:latin typeface="+mn-lt"/>
                  <a:ea typeface="+mn-ea"/>
                  <a:cs typeface="+mn-cs"/>
                </a:rPr>
                <a:t>CHANGES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04173" y="3824764"/>
              <a:ext cx="1346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 src/model.py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04173" y="4129564"/>
              <a:ext cx="20098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 tests/test_model.py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010650" y="4667250"/>
              <a:ext cx="2266950" cy="533400"/>
            </a:xfrm>
            <a:prstGeom prst="roundRect">
              <a:avLst>
                <a:gd name="adj" fmla="val 7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187918" y="4854892"/>
              <a:ext cx="19124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diff ready to review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603504" y="5962650"/>
            <a:ext cx="10984230" cy="381381"/>
            <a:chOff x="603504" y="5962650"/>
            <a:chExt cx="10984230" cy="381381"/>
          </a:xfrm>
        </p:grpSpPr>
        <p:sp>
          <p:nvSpPr>
            <p:cNvPr id="63" name="Line 63"/>
            <p:cNvSpPr/>
            <p:nvPr/>
          </p:nvSpPr>
          <p:spPr>
            <a:xfrm>
              <a:off x="609600" y="5962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03504" y="6109335"/>
              <a:ext cx="42446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关键判断：不是“生成了没有”，而是“是否验证并可解释”。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421580" y="61255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435292"/>
            <a:ext cx="10987278" cy="1041083"/>
            <a:chOff x="595122" y="435292"/>
            <a:chExt cx="10987278" cy="10410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43529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科研代码项目的常见目录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规则、代码、测试与结果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0" name="project-tree"/>
          <p:cNvGrpSpPr/>
          <p:nvPr/>
        </p:nvGrpSpPr>
        <p:grpSpPr>
          <a:xfrm>
            <a:off x="609600" y="1733550"/>
            <a:ext cx="4762500" cy="4171950"/>
            <a:chOff x="609600" y="1733550"/>
            <a:chExt cx="4762500" cy="4171950"/>
          </a:xfrm>
        </p:grpSpPr>
        <p:sp>
          <p:nvSpPr>
            <p:cNvPr id="6" name="Rectangle 6"/>
            <p:cNvSpPr/>
            <p:nvPr/>
          </p:nvSpPr>
          <p:spPr>
            <a:xfrm>
              <a:off x="609600" y="1733550"/>
              <a:ext cx="4762500" cy="4171950"/>
            </a:xfrm>
            <a:prstGeom prst="roundRect">
              <a:avLst>
                <a:gd name="adj" fmla="val 91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733550"/>
              <a:ext cx="4762500" cy="457200"/>
            </a:xfrm>
            <a:prstGeom prst="roundRect">
              <a:avLst>
                <a:gd name="adj" fmla="val 8333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23035" y="1897856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research-project / explorer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869442" y="2426018"/>
              <a:ext cx="1712957" cy="3369183"/>
              <a:chOff x="869442" y="2426018"/>
              <a:chExt cx="1712957" cy="3369183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69442" y="2426018"/>
                <a:ext cx="17129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research-project/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36142" y="2787968"/>
                <a:ext cx="12641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FC6C5"/>
                    </a:solidFill>
                    <a:latin typeface="Consolas"/>
                    <a:ea typeface="Consolas"/>
                    <a:cs typeface="Consolas"/>
                  </a:rPr>
                  <a:t>├─ AGENTS.md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6142" y="3130868"/>
                <a:ext cx="12641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├─ README.md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36142" y="3473768"/>
                <a:ext cx="71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├─ src/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36142" y="3816668"/>
                <a:ext cx="9133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├─ tests/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36142" y="4159568"/>
                <a:ext cx="111322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├─ configs/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36142" y="4502468"/>
                <a:ext cx="8133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├─ data/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36142" y="4845368"/>
                <a:ext cx="111322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├─ results/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36142" y="5188268"/>
                <a:ext cx="8133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├─ docs/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36142" y="5531168"/>
                <a:ext cx="13131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9C9BB"/>
                    </a:solidFill>
                    <a:latin typeface="Consolas"/>
                    <a:ea typeface="Consolas"/>
                    <a:cs typeface="Consolas"/>
                  </a:rPr>
                  <a:t>└─ .gitignore</a:t>
                </a:r>
              </a:p>
            </p:txBody>
          </p:sp>
        </p:grpSp>
      </p:grpSp>
      <p:grpSp>
        <p:nvGrpSpPr>
          <p:cNvPr id="37" name="file-responsibilities"/>
          <p:cNvGrpSpPr/>
          <p:nvPr/>
        </p:nvGrpSpPr>
        <p:grpSpPr>
          <a:xfrm>
            <a:off x="5706618" y="1879282"/>
            <a:ext cx="5875782" cy="4026218"/>
            <a:chOff x="5706618" y="1879282"/>
            <a:chExt cx="5875782" cy="4026218"/>
          </a:xfrm>
        </p:grpSpPr>
        <p:sp>
          <p:nvSpPr>
            <p:cNvPr id="21" name="TextBox 21"/>
            <p:cNvSpPr txBox="1"/>
            <p:nvPr/>
          </p:nvSpPr>
          <p:spPr>
            <a:xfrm>
              <a:off x="5706618" y="18792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一个好项目应快速回答四个问题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5715000" y="2305050"/>
              <a:ext cx="5867400" cy="2933700"/>
              <a:chOff x="5715000" y="2305050"/>
              <a:chExt cx="5867400" cy="29337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0" y="2305050"/>
                <a:ext cx="5867400" cy="876300"/>
              </a:xfrm>
              <a:prstGeom prst="roundRect">
                <a:avLst>
                  <a:gd name="adj" fmla="val 4348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5715000" y="2305050"/>
                <a:ext cx="7620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974080" y="246697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规则是什么？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974461" y="2779871"/>
                <a:ext cx="363128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355F70"/>
                    </a:solidFill>
                    <a:latin typeface="Consolas"/>
                    <a:ea typeface="Consolas"/>
                    <a:cs typeface="Consolas"/>
                  </a:rPr>
                  <a:t>AGENTS.md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写约束，</a:t>
                </a:r>
                <a:r>
                  <a:rPr lang="en-US" sz="142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README.md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写入口。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5715000" y="3333750"/>
                <a:ext cx="5867400" cy="876300"/>
              </a:xfrm>
              <a:prstGeom prst="roundRect">
                <a:avLst>
                  <a:gd name="adj" fmla="val 4348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5715000" y="3333750"/>
                <a:ext cx="7620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5974080" y="3495675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代码在哪？怎样验证？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974461" y="3808571"/>
                <a:ext cx="328332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src/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放实现，</a:t>
                </a:r>
                <a:r>
                  <a:rPr lang="en-US" sz="142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tests/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放可重复检查。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5715000" y="4362450"/>
                <a:ext cx="5867400" cy="876300"/>
              </a:xfrm>
              <a:prstGeom prst="roundRect">
                <a:avLst>
                  <a:gd name="adj" fmla="val 4348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5715000" y="4362450"/>
                <a:ext cx="7620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5974080" y="4524375"/>
                <a:ext cx="26403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参数、数据与结果怎么管理？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974461" y="4837271"/>
                <a:ext cx="34458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configs/ data/ results/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各司其职。</a:t>
                </a:r>
              </a:p>
            </p:txBody>
          </p:sp>
        </p:grpSp>
        <p:sp>
          <p:nvSpPr>
            <p:cNvPr id="35" name="Rectangle 35"/>
            <p:cNvSpPr/>
            <p:nvPr/>
          </p:nvSpPr>
          <p:spPr>
            <a:xfrm>
              <a:off x="5715000" y="5410200"/>
              <a:ext cx="5867400" cy="495300"/>
            </a:xfrm>
            <a:prstGeom prst="roundRect">
              <a:avLst>
                <a:gd name="adj" fmla="val 7692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99023" y="5577364"/>
              <a:ext cx="49238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27A75"/>
                  </a:solidFill>
                  <a:latin typeface="Consolas"/>
                  <a:ea typeface="Consolas"/>
                  <a:cs typeface="Consolas"/>
                </a:rPr>
                <a:t>.gitignore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：排除密钥、缓存、大型原始数据和可再生成文件。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603885" y="6184106"/>
            <a:ext cx="10983849" cy="220028"/>
            <a:chOff x="603885" y="6184106"/>
            <a:chExt cx="10983849" cy="220028"/>
          </a:xfrm>
        </p:grpSpPr>
        <p:sp>
          <p:nvSpPr>
            <p:cNvPr id="38" name="TextBox 38"/>
            <p:cNvSpPr txBox="1"/>
            <p:nvPr/>
          </p:nvSpPr>
          <p:spPr>
            <a:xfrm>
              <a:off x="603885" y="6184106"/>
              <a:ext cx="5512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目录不是为了“看起来专业”，而是为了让人和 Codex 都能定位规则、执行与验证。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21580" y="6192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项目规则与可复用技能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两类文件分别解决长期约定和特定任务的操作方法。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5" name="agents-column"/>
          <p:cNvGrpSpPr/>
          <p:nvPr/>
        </p:nvGrpSpPr>
        <p:grpSpPr>
          <a:xfrm>
            <a:off x="599313" y="1953101"/>
            <a:ext cx="5058537" cy="3587877"/>
            <a:chOff x="599313" y="1953101"/>
            <a:chExt cx="5058537" cy="3587877"/>
          </a:xfrm>
        </p:grpSpPr>
        <p:sp>
          <p:nvSpPr>
            <p:cNvPr id="6" name="TextBox 6"/>
            <p:cNvSpPr txBox="1"/>
            <p:nvPr/>
          </p:nvSpPr>
          <p:spPr>
            <a:xfrm>
              <a:off x="599313" y="1953101"/>
              <a:ext cx="142378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AGENTS.md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24288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项目内持续生效的工作约定。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80035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2742" y="30737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通常包括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961" y="348472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测试与运行命令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961" y="390382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目录职责和修改范围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961" y="432292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数据、提交和删除的限制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0961" y="474202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完成任务后的汇报要求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3123" y="5291614"/>
              <a:ext cx="36380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例如：修改前检查 Git 状态，完成后运行测试。</a:t>
              </a:r>
            </a:p>
          </p:txBody>
        </p:sp>
      </p:grpSp>
      <p:grpSp>
        <p:nvGrpSpPr>
          <p:cNvPr id="27" name="skill-column"/>
          <p:cNvGrpSpPr/>
          <p:nvPr/>
        </p:nvGrpSpPr>
        <p:grpSpPr>
          <a:xfrm>
            <a:off x="6523863" y="1953101"/>
            <a:ext cx="5058537" cy="3664077"/>
            <a:chOff x="6523863" y="1953101"/>
            <a:chExt cx="5058537" cy="3664077"/>
          </a:xfrm>
        </p:grpSpPr>
        <p:sp>
          <p:nvSpPr>
            <p:cNvPr id="16" name="TextBox 16"/>
            <p:cNvSpPr txBox="1"/>
            <p:nvPr/>
          </p:nvSpPr>
          <p:spPr>
            <a:xfrm>
              <a:off x="6523863" y="1953101"/>
              <a:ext cx="77685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Skill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26530" y="2428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针对一类重复任务的操作手册。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534150" y="280035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27292" y="3073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一个技能目录可以这样组织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755130" y="3476625"/>
              <a:ext cx="1903286" cy="1817370"/>
              <a:chOff x="6755130" y="3476625"/>
              <a:chExt cx="1903286" cy="181737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6755130" y="3476625"/>
                <a:ext cx="19032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experiment-audit/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021830" y="3857625"/>
                <a:ext cx="12863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├─ SKILL.md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021830" y="4238625"/>
                <a:ext cx="123691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├─ scripts/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021830" y="4619625"/>
                <a:ext cx="157010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├─ references/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021830" y="5000625"/>
                <a:ext cx="1125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└─ assets/</a:t>
                </a: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6527673" y="5367814"/>
              <a:ext cx="38297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其中 SKILL.md 必需，其余目录按任务需要添加。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28" name="Line 28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3885" y="6098381"/>
              <a:ext cx="28924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2"/>
                </a:rPr>
                <a:t>AGENTS.md 官方文档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3"/>
                </a:rPr>
                <a:t>Skills 官方文档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526104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AGENTS.md：项目级工作约定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50805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Codex 开始任务前读取这些文件，确定本次工作的约束。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9" name="scope"/>
          <p:cNvGrpSpPr/>
          <p:nvPr/>
        </p:nvGrpSpPr>
        <p:grpSpPr>
          <a:xfrm>
            <a:off x="601218" y="1936432"/>
            <a:ext cx="5247132" cy="3318796"/>
            <a:chOff x="601218" y="1936432"/>
            <a:chExt cx="5247132" cy="3318796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364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文件放在哪里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3123" y="233886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规则从通用到具体，沿工作目录逐级生效。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76225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3123" y="30437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个人通用约定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69261" y="3027521"/>
              <a:ext cx="19564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~/.codex/AGENTS.md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3400425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3123" y="36818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整个项目的约定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69261" y="3665696"/>
              <a:ext cx="18422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project/AGENTS.md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403860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3123" y="43200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局部目录的补充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69261" y="4303871"/>
              <a:ext cx="25786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project/subdir/AGENTS.md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4676775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3123" y="5005864"/>
              <a:ext cx="34737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进入更深目录时，Codex 会合并适用的规则。</a:t>
              </a:r>
            </a:p>
          </p:txBody>
        </p:sp>
      </p:grpSp>
      <p:grpSp>
        <p:nvGrpSpPr>
          <p:cNvPr id="29" name="content"/>
          <p:cNvGrpSpPr/>
          <p:nvPr/>
        </p:nvGrpSpPr>
        <p:grpSpPr>
          <a:xfrm>
            <a:off x="6487668" y="1936432"/>
            <a:ext cx="5094732" cy="3509296"/>
            <a:chOff x="6487668" y="1936432"/>
            <a:chExt cx="5094732" cy="3509296"/>
          </a:xfrm>
        </p:grpSpPr>
        <p:sp>
          <p:nvSpPr>
            <p:cNvPr id="20" name="TextBox 20"/>
            <p:cNvSpPr txBox="1"/>
            <p:nvPr/>
          </p:nvSpPr>
          <p:spPr>
            <a:xfrm>
              <a:off x="6487668" y="193643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写哪些内容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88811" y="238934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项目入口和测试命令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88811" y="281797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允许修改的文件和目录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88811" y="324659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依赖环境、代码约定与验收标准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8811" y="36752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原始数据、密钥等保护要求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496050" y="4171950"/>
              <a:ext cx="5086350" cy="9525"/>
            </a:xfrm>
            <a:custGeom>
              <a:avLst/>
              <a:gdLst/>
              <a:ahLst/>
              <a:cxnLst/>
              <a:rect l="l" t="t" r="r" b="b"/>
              <a:pathLst>
                <a:path w="5086350" h="9525">
                  <a:moveTo>
                    <a:pt x="0" y="0"/>
                  </a:moveTo>
                  <a:lnTo>
                    <a:pt x="50863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88430" y="44100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不写入长期规则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89192" y="48263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一次性任务、频繁变化的细节和敏感信息。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9573" y="519636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让每条规则具体到能够执行或检查。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30" name="Line 30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3885" y="6098381"/>
              <a:ext cx="31592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2"/>
                </a:rPr>
                <a:t>OpenAI AGENTS.md 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3"/>
                </a:rPr>
                <a:t>参考教程第八节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551301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科研项目中的 AGENTS.md 示例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6822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下面是一份最小示例：复制后替换项目入口、验证命令与保护目录即可。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3" name="agents-example"/>
          <p:cNvGrpSpPr/>
          <p:nvPr/>
        </p:nvGrpSpPr>
        <p:grpSpPr>
          <a:xfrm>
            <a:off x="609600" y="1619250"/>
            <a:ext cx="6705600" cy="4305300"/>
            <a:chOff x="609600" y="1619250"/>
            <a:chExt cx="6705600" cy="43053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6705600" cy="4305300"/>
            </a:xfrm>
            <a:prstGeom prst="roundRect">
              <a:avLst>
                <a:gd name="adj" fmla="val 88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6705600" cy="476250"/>
            </a:xfrm>
            <a:prstGeom prst="roundRect">
              <a:avLst>
                <a:gd name="adj" fmla="val 8000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75054" y="1794510"/>
              <a:ext cx="1556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3CDD2"/>
                  </a:solidFill>
                  <a:latin typeface="Consolas"/>
                  <a:ea typeface="Consolas"/>
                  <a:cs typeface="Consolas"/>
                </a:rPr>
                <a:t>project/AGENTS.md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868680" y="2257425"/>
              <a:ext cx="3451250" cy="3181731"/>
              <a:chOff x="868680" y="2257425"/>
              <a:chExt cx="3451250" cy="3181731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68680" y="2257425"/>
                <a:ext cx="12887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AFC6C5"/>
                    </a:solidFill>
                    <a:latin typeface="Consolas"/>
                    <a:ea typeface="Consolas"/>
                    <a:cs typeface="Consolas"/>
                  </a:rPr>
                  <a:t># AGENTS.md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70204" y="2613660"/>
                <a:ext cx="16179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A9C9BB"/>
                    </a:solidFill>
                    <a:latin typeface="Consolas"/>
                    <a:ea typeface="Consolas"/>
                    <a:cs typeface="Consolas"/>
                  </a:rPr>
                  <a:t>## Project context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60704" y="2880360"/>
                <a:ext cx="259020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- MATLAB R2024a；入口：main.m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60704" y="3147060"/>
                <a:ext cx="233034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- 全量测试：tests/run_all.m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70204" y="3509010"/>
                <a:ext cx="18842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A9C9BB"/>
                    </a:solidFill>
                    <a:latin typeface="Consolas"/>
                    <a:ea typeface="Consolas"/>
                    <a:cs typeface="Consolas"/>
                  </a:rPr>
                  <a:t>## Working agreements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60704" y="3775710"/>
                <a:ext cx="21364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- 修改前先检查 git status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60704" y="4042410"/>
                <a:ext cx="19668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- 只修改当前任务相关文件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60704" y="4309110"/>
                <a:ext cx="253227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- 不修改 data/raw/，不提交密钥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70204" y="4671060"/>
                <a:ext cx="23284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A9C9BB"/>
                    </a:solidFill>
                    <a:latin typeface="Consolas"/>
                    <a:ea typeface="Consolas"/>
                    <a:cs typeface="Consolas"/>
                  </a:rPr>
                  <a:t>## Validation and delivery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60704" y="4937760"/>
                <a:ext cx="24191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- 完成后运行 tests/run_all.m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60704" y="5204460"/>
                <a:ext cx="32592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- 汇报修改文件、测试结果、风险与回退方式</a:t>
                </a:r>
              </a:p>
            </p:txBody>
          </p:sp>
        </p:grpSp>
        <p:sp>
          <p:nvSpPr>
            <p:cNvPr id="21" name="Rectangle 21"/>
            <p:cNvSpPr/>
            <p:nvPr/>
          </p:nvSpPr>
          <p:spPr>
            <a:xfrm>
              <a:off x="876300" y="5543550"/>
              <a:ext cx="6172200" cy="228600"/>
            </a:xfrm>
            <a:prstGeom prst="roundRect">
              <a:avLst>
                <a:gd name="adj" fmla="val 16667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23747" y="5600224"/>
              <a:ext cx="31621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EBBC1"/>
                  </a:solidFill>
                  <a:latin typeface="Consolas"/>
                  <a:ea typeface="Microsoft YaHei"/>
                  <a:cs typeface="Consolas"/>
                </a:rPr>
                <a:t>保存位置：项目根目录；团队成员与 Codex 共同遵守</a:t>
              </a:r>
            </a:p>
          </p:txBody>
        </p:sp>
      </p:grpSp>
      <p:grpSp>
        <p:nvGrpSpPr>
          <p:cNvPr id="45" name="writing-principles"/>
          <p:cNvGrpSpPr/>
          <p:nvPr/>
        </p:nvGrpSpPr>
        <p:grpSpPr>
          <a:xfrm>
            <a:off x="7620000" y="1619250"/>
            <a:ext cx="3962400" cy="4305300"/>
            <a:chOff x="7620000" y="1619250"/>
            <a:chExt cx="3962400" cy="4305300"/>
          </a:xfrm>
        </p:grpSpPr>
        <p:sp>
          <p:nvSpPr>
            <p:cNvPr id="24" name="Rectangle 24"/>
            <p:cNvSpPr/>
            <p:nvPr/>
          </p:nvSpPr>
          <p:spPr>
            <a:xfrm>
              <a:off x="7620000" y="1619250"/>
              <a:ext cx="3962400" cy="4305300"/>
            </a:xfrm>
            <a:prstGeom prst="roundRect">
              <a:avLst>
                <a:gd name="adj" fmla="val 96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78318" y="1822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三条写作原则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7886700" y="2266950"/>
              <a:ext cx="3429000" cy="2647950"/>
              <a:chOff x="7886700" y="2266950"/>
              <a:chExt cx="3429000" cy="26479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886700" y="2266950"/>
                <a:ext cx="3429000" cy="781050"/>
              </a:xfrm>
              <a:prstGeom prst="roundRect">
                <a:avLst>
                  <a:gd name="adj" fmla="val 4878"/>
                </a:avLst>
              </a:prstGeom>
              <a:solidFill>
                <a:srgbClr val="F2F5F5"/>
              </a:solidFill>
              <a:ln>
                <a:noFill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8039100" y="2447925"/>
                <a:ext cx="419100" cy="419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182723" y="25622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602980" y="240982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具体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604504" y="2708910"/>
                <a:ext cx="25968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写路径、命令与边界，不写空泛口号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7886700" y="3200400"/>
                <a:ext cx="3429000" cy="781050"/>
              </a:xfrm>
              <a:prstGeom prst="roundRect">
                <a:avLst>
                  <a:gd name="adj" fmla="val 4878"/>
                </a:avLst>
              </a:prstGeom>
              <a:solidFill>
                <a:srgbClr val="F1F5F3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8039100" y="3381375"/>
                <a:ext cx="419100" cy="419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182723" y="34956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602980" y="33432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可执行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604504" y="3642360"/>
                <a:ext cx="19643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Codex 能据此采取明确动作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7886700" y="4133850"/>
                <a:ext cx="3429000" cy="781050"/>
              </a:xfrm>
              <a:prstGeom prst="roundRect">
                <a:avLst>
                  <a:gd name="adj" fmla="val 4878"/>
                </a:avLst>
              </a:prstGeom>
              <a:solidFill>
                <a:srgbClr val="F0F3F8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8039100" y="4314825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182723" y="44291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602980" y="427672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可验证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604504" y="4575810"/>
                <a:ext cx="22738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完成标准能通过测试或检查确认</a:t>
                </a:r>
              </a:p>
            </p:txBody>
          </p:sp>
        </p:grpSp>
        <p:sp>
          <p:nvSpPr>
            <p:cNvPr id="42" name="Line 42"/>
            <p:cNvSpPr/>
            <p:nvPr/>
          </p:nvSpPr>
          <p:spPr>
            <a:xfrm>
              <a:off x="7886700" y="51816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80604" y="5337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先写最常被遗忘、但影响最大的规则。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80985" y="5593556"/>
              <a:ext cx="28818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规则变化时更新文件，并让 Git 记录原因。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604266" y="6230302"/>
            <a:ext cx="10983468" cy="205359"/>
            <a:chOff x="604266" y="6230302"/>
            <a:chExt cx="10983468" cy="205359"/>
          </a:xfrm>
        </p:grpSpPr>
        <p:sp>
          <p:nvSpPr>
            <p:cNvPr id="46" name="TextBox 46"/>
            <p:cNvSpPr txBox="1"/>
            <p:nvPr/>
          </p:nvSpPr>
          <p:spPr>
            <a:xfrm>
              <a:off x="604266" y="623030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示例思路参考：</a:t>
              </a:r>
              <a:r>
                <a:rPr lang="zh-CN" sz="1050" u="sng" dirty="0">
                  <a:solidFill>
                    <a:schemeClr val="accent2"/>
                  </a:solidFill>
                  <a:latin typeface="+mn-lt"/>
                  <a:ea typeface="+mn-ea"/>
                  <a:cs typeface="+mn-cs"/>
                  <a:hlinkClick r:id="rId2"/>
                </a:rPr>
                <a:t>教程第八节：项目指令配置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21580" y="6230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403533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的结构与调用方式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55331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Skill 为一类任务保存步骤说明，必要时附带脚本或参考资料。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directory"/>
          <p:cNvGrpSpPr/>
          <p:nvPr/>
        </p:nvGrpSpPr>
        <p:grpSpPr>
          <a:xfrm>
            <a:off x="601218" y="1917382"/>
            <a:ext cx="4770882" cy="3480721"/>
            <a:chOff x="601218" y="1917382"/>
            <a:chExt cx="4770882" cy="3480721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173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项目中的目录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3123" y="2281714"/>
              <a:ext cx="3045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.agents/skills/experiment-audit/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6479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30199" y="3011329"/>
              <a:ext cx="2004743" cy="1984439"/>
              <a:chOff x="830199" y="3011329"/>
              <a:chExt cx="2004743" cy="1984439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30199" y="3011329"/>
                <a:ext cx="200474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experiment-audit/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87374" y="3430429"/>
                <a:ext cx="135486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├─ SKILL.md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87374" y="3849529"/>
                <a:ext cx="130283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├─ scripts/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87374" y="4268629"/>
                <a:ext cx="165378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├─ references/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87374" y="4687729"/>
                <a:ext cx="118585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└─ assets/</a:t>
                </a: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831723" y="5148739"/>
              <a:ext cx="3431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SKILL.md 是必需文件，其余内容按需添加。</a:t>
              </a:r>
            </a:p>
          </p:txBody>
        </p:sp>
      </p:grpSp>
      <p:grpSp>
        <p:nvGrpSpPr>
          <p:cNvPr id="27" name="loading"/>
          <p:cNvGrpSpPr/>
          <p:nvPr/>
        </p:nvGrpSpPr>
        <p:grpSpPr>
          <a:xfrm>
            <a:off x="6030468" y="1917382"/>
            <a:ext cx="5551932" cy="2217516"/>
            <a:chOff x="6030468" y="1917382"/>
            <a:chExt cx="5551932" cy="2217516"/>
          </a:xfrm>
        </p:grpSpPr>
        <p:sp>
          <p:nvSpPr>
            <p:cNvPr id="17" name="TextBox 17"/>
            <p:cNvSpPr txBox="1"/>
            <p:nvPr/>
          </p:nvSpPr>
          <p:spPr>
            <a:xfrm>
              <a:off x="6030468" y="1917382"/>
              <a:ext cx="16246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 怎样使用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038850" y="2343150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31992" y="26069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46061" y="259889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读取名称与描述，确认任务是否匹配。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38850" y="2971800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31992" y="32356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再加载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46061" y="3227546"/>
              <a:ext cx="24685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匹配后读取完整 SKILL.md。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038850" y="3600450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31992" y="38642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最后执行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46061" y="385619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按步骤工作，并检查结果。</a:t>
              </a:r>
            </a:p>
          </p:txBody>
        </p:sp>
      </p:grpSp>
      <p:grpSp>
        <p:nvGrpSpPr>
          <p:cNvPr id="31" name="invocation"/>
          <p:cNvGrpSpPr/>
          <p:nvPr/>
        </p:nvGrpSpPr>
        <p:grpSpPr>
          <a:xfrm>
            <a:off x="6030468" y="4679632"/>
            <a:ext cx="4198346" cy="1020319"/>
            <a:chOff x="6030468" y="4679632"/>
            <a:chExt cx="4198346" cy="1020319"/>
          </a:xfrm>
        </p:grpSpPr>
        <p:sp>
          <p:nvSpPr>
            <p:cNvPr id="28" name="TextBox 28"/>
            <p:cNvSpPr txBox="1"/>
            <p:nvPr/>
          </p:nvSpPr>
          <p:spPr>
            <a:xfrm>
              <a:off x="6030468" y="4679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调用方式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31992" y="5093018"/>
              <a:ext cx="2258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显式：</a:t>
              </a:r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$experiment-audit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31992" y="5435918"/>
              <a:ext cx="41968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任务描述与 Skill 用途吻合时由 Codex 选择。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32" name="Line 32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3885" y="6098381"/>
              <a:ext cx="27360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2"/>
                </a:rPr>
                <a:t>OpenAI Skills 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3"/>
                </a:rPr>
                <a:t>参考教程第九节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441900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示例：实验结果复核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适合反复复现实验、核对指标和生成可追溯摘要的科研任务。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2" name="skill-example"/>
          <p:cNvGrpSpPr/>
          <p:nvPr/>
        </p:nvGrpSpPr>
        <p:grpSpPr>
          <a:xfrm>
            <a:off x="609600" y="1619250"/>
            <a:ext cx="5791200" cy="4305300"/>
            <a:chOff x="609600" y="1619250"/>
            <a:chExt cx="5791200" cy="43053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791200" cy="4305300"/>
            </a:xfrm>
            <a:prstGeom prst="roundRect">
              <a:avLst>
                <a:gd name="adj" fmla="val 88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791200" cy="476250"/>
            </a:xfrm>
            <a:prstGeom prst="roundRect">
              <a:avLst>
                <a:gd name="adj" fmla="val 8000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75054" y="1794510"/>
              <a:ext cx="3595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3CDD2"/>
                  </a:solidFill>
                  <a:latin typeface="Consolas"/>
                  <a:ea typeface="Consolas"/>
                  <a:cs typeface="Consolas"/>
                </a:rPr>
                <a:t>.agents/skills/experiment-audit/SKILL.md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870585" y="2278856"/>
              <a:ext cx="3200309" cy="3287078"/>
              <a:chOff x="870585" y="2278856"/>
              <a:chExt cx="3200309" cy="3287078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70585" y="2278856"/>
                <a:ext cx="26020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AEBBC1"/>
                    </a:solidFill>
                    <a:latin typeface="Consolas"/>
                    <a:ea typeface="Consolas"/>
                    <a:cs typeface="Consolas"/>
                  </a:rPr>
                  <a:t>---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70585" y="2545556"/>
                <a:ext cx="18358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AFC6C5"/>
                    </a:solidFill>
                    <a:latin typeface="Consolas"/>
                    <a:ea typeface="Consolas"/>
                    <a:cs typeface="Consolas"/>
                  </a:rPr>
                  <a:t>name:</a:t>
                </a:r>
                <a:r>
                  <a:rPr lang="en-US" sz="1120" dirty="0">
                    <a:solidFill>
                      <a:srgbClr val="E8EEF8"/>
                    </a:solidFill>
                    <a:latin typeface="Consolas"/>
                    <a:ea typeface="Consolas"/>
                    <a:cs typeface="Consolas"/>
                  </a:rPr>
                  <a:t xml:space="preserve"> experiment-audit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70585" y="2812256"/>
                <a:ext cx="32003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AFC6C5"/>
                    </a:solidFill>
                    <a:latin typeface="Consolas"/>
                    <a:ea typeface="Consolas"/>
                    <a:cs typeface="Consolas"/>
                  </a:rPr>
                  <a:t>description:</a:t>
                </a:r>
                <a:r>
                  <a:rPr lang="zh-CN" sz="112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 xml:space="preserve"> 当任务涉及实验复跑、指标对比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70585" y="3040856"/>
                <a:ext cx="13684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或结果复核时使用。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70585" y="3307556"/>
                <a:ext cx="26020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AEBBC1"/>
                    </a:solidFill>
                    <a:latin typeface="Consolas"/>
                    <a:ea typeface="Consolas"/>
                    <a:cs typeface="Consolas"/>
                  </a:rPr>
                  <a:t>---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70585" y="3650456"/>
                <a:ext cx="8465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A9C9BB"/>
                    </a:solidFill>
                    <a:latin typeface="Consolas"/>
                    <a:ea typeface="Consolas"/>
                    <a:cs typeface="Consolas"/>
                  </a:rPr>
                  <a:t># Workflow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61085" y="3936206"/>
                <a:ext cx="19187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1. 读取实验配置与数据说明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61085" y="4202906"/>
                <a:ext cx="219040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2. 记录当前 Git 提交号与环境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61085" y="4469606"/>
                <a:ext cx="146640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3. 运行最小复现实验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61085" y="4736306"/>
                <a:ext cx="206950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4. 与基线指标比较并标记异常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61085" y="5003006"/>
                <a:ext cx="19187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5. 生成复核摘要与结果索引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70585" y="5345906"/>
                <a:ext cx="257459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FFB86B"/>
                    </a:solidFill>
                    <a:latin typeface="Consolas"/>
                    <a:ea typeface="Microsoft YaHei"/>
                    <a:cs typeface="Consolas"/>
                  </a:rPr>
                  <a:t>禁止：覆盖原始数据；隐藏失败结果。</a:t>
                </a:r>
              </a:p>
            </p:txBody>
          </p:sp>
        </p:grpSp>
      </p:grpSp>
      <p:grpSp>
        <p:nvGrpSpPr>
          <p:cNvPr id="50" name="audit-flow"/>
          <p:cNvGrpSpPr/>
          <p:nvPr/>
        </p:nvGrpSpPr>
        <p:grpSpPr>
          <a:xfrm>
            <a:off x="6705600" y="1619250"/>
            <a:ext cx="4876800" cy="4305300"/>
            <a:chOff x="6705600" y="1619250"/>
            <a:chExt cx="4876800" cy="4305300"/>
          </a:xfrm>
        </p:grpSpPr>
        <p:sp>
          <p:nvSpPr>
            <p:cNvPr id="23" name="Rectangle 23"/>
            <p:cNvSpPr/>
            <p:nvPr/>
          </p:nvSpPr>
          <p:spPr>
            <a:xfrm>
              <a:off x="6705600" y="1619250"/>
              <a:ext cx="4876800" cy="4305300"/>
            </a:xfrm>
            <a:prstGeom prst="roundRect">
              <a:avLst>
                <a:gd name="adj" fmla="val 88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63918" y="18221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执行后应该留下什么？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6204" y="21564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每一步都对应一个可检查的证据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296150" y="2686050"/>
              <a:ext cx="1" cy="234315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124700" y="2502218"/>
              <a:ext cx="2611857" cy="2911316"/>
              <a:chOff x="7124700" y="2502218"/>
              <a:chExt cx="2611857" cy="2911316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124700" y="25146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246899" y="26217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613142" y="25022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输入可追溯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614285" y="2755106"/>
                <a:ext cx="21222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配置文件、数据版本与入口命令</a:t>
                </a:r>
              </a:p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7124700" y="31242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246899" y="32313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13142" y="31118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环境可定位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614285" y="3364706"/>
                <a:ext cx="193110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Git 提交号、依赖与运行参数</a:t>
                </a:r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124700" y="37338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246899" y="38409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613142" y="37214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结果可比较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614285" y="3974306"/>
                <a:ext cx="18207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基线、当前指标与允许误差</a:t>
                </a:r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124700" y="43434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246899" y="44505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13142" y="43310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异常不被掩盖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614285" y="4583906"/>
                <a:ext cx="18207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失败步骤、偏差与可能原因</a:t>
                </a:r>
              </a:p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7124700" y="49530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246899" y="50601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613142" y="49406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摘要可以交接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614285" y="5193506"/>
                <a:ext cx="197149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结论、证据路径与下一步建议</a:t>
                </a:r>
              </a:p>
            </p:txBody>
          </p:sp>
        </p:grpSp>
        <p:sp>
          <p:nvSpPr>
            <p:cNvPr id="48" name="Rectangle 48"/>
            <p:cNvSpPr/>
            <p:nvPr/>
          </p:nvSpPr>
          <p:spPr>
            <a:xfrm>
              <a:off x="6972300" y="5524500"/>
              <a:ext cx="4343400" cy="247650"/>
            </a:xfrm>
            <a:prstGeom prst="roundRect">
              <a:avLst>
                <a:gd name="adj" fmla="val 15385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835244" y="5582602"/>
              <a:ext cx="26175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同一个 Skill，可在不同实验目录重复使用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603885" y="6222206"/>
            <a:ext cx="10983849" cy="220028"/>
            <a:chOff x="603885" y="6222206"/>
            <a:chExt cx="10983849" cy="220028"/>
          </a:xfrm>
        </p:grpSpPr>
        <p:sp>
          <p:nvSpPr>
            <p:cNvPr id="51" name="TextBox 51"/>
            <p:cNvSpPr txBox="1"/>
            <p:nvPr/>
          </p:nvSpPr>
          <p:spPr>
            <a:xfrm>
              <a:off x="603885" y="6222206"/>
              <a:ext cx="60348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调用示例：</a:t>
              </a:r>
              <a:r>
                <a:rPr lang="zh-CN" sz="112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 xml:space="preserve"> $experiment-audit 复核 results/exp_07，并与 baseline.json 对比。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421580" y="6230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454608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 VS Code 中使用 Codex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一次任务按安装、提供上下文、检查结果三个环节完成。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setup"/>
          <p:cNvGrpSpPr/>
          <p:nvPr/>
        </p:nvGrpSpPr>
        <p:grpSpPr>
          <a:xfrm>
            <a:off x="601218" y="1936432"/>
            <a:ext cx="3342132" cy="3715893"/>
            <a:chOff x="601218" y="1936432"/>
            <a:chExt cx="3342132" cy="3715893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36432"/>
              <a:ext cx="16060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　安装并登录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23431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3030394"/>
              <a:ext cx="3333750" cy="1292511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602742" y="5093018"/>
              <a:ext cx="25733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在扩展市场安装或启用 Codex，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538829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登录后打开实际项目文件夹。</a:t>
              </a:r>
            </a:p>
          </p:txBody>
        </p:sp>
      </p:grpSp>
      <p:grpSp>
        <p:nvGrpSpPr>
          <p:cNvPr id="17" name="task"/>
          <p:cNvGrpSpPr/>
          <p:nvPr/>
        </p:nvGrpSpPr>
        <p:grpSpPr>
          <a:xfrm>
            <a:off x="4277868" y="1936432"/>
            <a:ext cx="3342132" cy="3715893"/>
            <a:chOff x="4277868" y="1936432"/>
            <a:chExt cx="3342132" cy="3715893"/>
          </a:xfrm>
        </p:grpSpPr>
        <p:sp>
          <p:nvSpPr>
            <p:cNvPr id="12" name="TextBox 12"/>
            <p:cNvSpPr txBox="1"/>
            <p:nvPr/>
          </p:nvSpPr>
          <p:spPr>
            <a:xfrm>
              <a:off x="4277868" y="1936432"/>
              <a:ext cx="13839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　说明任务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286250" y="23431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49365" y="2533650"/>
              <a:ext cx="2807521" cy="22860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4279392" y="5093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在侧边栏交代目标和修改范围，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79392" y="53882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同时写明完成标准。</a:t>
              </a:r>
            </a:p>
          </p:txBody>
        </p:sp>
      </p:grpSp>
      <p:grpSp>
        <p:nvGrpSpPr>
          <p:cNvPr id="23" name="review"/>
          <p:cNvGrpSpPr/>
          <p:nvPr/>
        </p:nvGrpSpPr>
        <p:grpSpPr>
          <a:xfrm>
            <a:off x="7954518" y="1936432"/>
            <a:ext cx="3627882" cy="3715893"/>
            <a:chOff x="7954518" y="1936432"/>
            <a:chExt cx="3627882" cy="3715893"/>
          </a:xfrm>
        </p:grpSpPr>
        <p:sp>
          <p:nvSpPr>
            <p:cNvPr id="18" name="TextBox 18"/>
            <p:cNvSpPr txBox="1"/>
            <p:nvPr/>
          </p:nvSpPr>
          <p:spPr>
            <a:xfrm>
              <a:off x="7954518" y="1936432"/>
              <a:ext cx="22724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　补充上下文并审查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962900" y="23431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23463" y="2533650"/>
              <a:ext cx="2898375" cy="2286000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7956042" y="50930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引用相关文件、选区或报错，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56042" y="5388292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结束后检查 diff 与测试结果。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24" name="Line 24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3885" y="6098381"/>
              <a:ext cx="37951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5"/>
                </a:rPr>
                <a:t>OpenAI Codex IDE 扩展文档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6"/>
                </a:rPr>
                <a:t>VS Code 使用参考教程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37960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的分布式版本管理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49179"/>
              <a:ext cx="645076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Git 管理版本与历史；GitHub、GitLab 等平台负责远程托管与协作。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git-definition"/>
          <p:cNvGrpSpPr/>
          <p:nvPr/>
        </p:nvGrpSpPr>
        <p:grpSpPr>
          <a:xfrm>
            <a:off x="597408" y="2064068"/>
            <a:ext cx="4546092" cy="3689032"/>
            <a:chOff x="597408" y="2064068"/>
            <a:chExt cx="4546092" cy="3689032"/>
          </a:xfrm>
        </p:grpSpPr>
        <p:sp>
          <p:nvSpPr>
            <p:cNvPr id="6" name="TextBox 6"/>
            <p:cNvSpPr txBox="1"/>
            <p:nvPr/>
          </p:nvSpPr>
          <p:spPr>
            <a:xfrm>
              <a:off x="602742" y="2064068"/>
              <a:ext cx="2876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DISTRIBUTED VERSION CONTROL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7408" y="246507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每个本地仓库，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7408" y="286512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都拥有完整历史。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" y="3448050"/>
              <a:ext cx="4533900" cy="895350"/>
            </a:xfrm>
            <a:prstGeom prst="roundRect">
              <a:avLst>
                <a:gd name="adj" fmla="val 425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0961" y="3627596"/>
              <a:ext cx="11597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≠ GitHub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342" y="39500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前者是版本控制工具，后者是远程协作平台。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" y="4552950"/>
              <a:ext cx="4533900" cy="1200150"/>
            </a:xfrm>
            <a:prstGeom prst="roundRect">
              <a:avLst>
                <a:gd name="adj" fmla="val 3175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0961" y="476107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离线也能提交与查看历史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342" y="50930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一次提交保存项目状态快照及其父子关系，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1342" y="5397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不是随手复制一个新文件夹。</a:t>
              </a:r>
            </a:p>
          </p:txBody>
        </p:sp>
      </p:grpSp>
      <p:grpSp>
        <p:nvGrpSpPr>
          <p:cNvPr id="20" name="distributed-diagram"/>
          <p:cNvGrpSpPr/>
          <p:nvPr/>
        </p:nvGrpSpPr>
        <p:grpSpPr>
          <a:xfrm>
            <a:off x="5562600" y="1790700"/>
            <a:ext cx="6019800" cy="3962400"/>
            <a:chOff x="5562600" y="1790700"/>
            <a:chExt cx="6019800" cy="3962400"/>
          </a:xfrm>
        </p:grpSpPr>
        <p:sp>
          <p:nvSpPr>
            <p:cNvPr id="17" name="Rectangle 17"/>
            <p:cNvSpPr/>
            <p:nvPr/>
          </p:nvSpPr>
          <p:spPr>
            <a:xfrm>
              <a:off x="5562600" y="1790700"/>
              <a:ext cx="6019800" cy="3962400"/>
            </a:xfrm>
            <a:prstGeom prst="roundRect">
              <a:avLst>
                <a:gd name="adj" fmla="val 96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34050" y="2038350"/>
              <a:ext cx="5676900" cy="32004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6463284" y="5414010"/>
              <a:ext cx="4218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集中式依赖中心节点；分布式 Git 的每个克隆都包含历史。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3885" y="6107906"/>
            <a:ext cx="10983849" cy="220028"/>
            <a:chOff x="603885" y="6107906"/>
            <a:chExt cx="10983849" cy="220028"/>
          </a:xfrm>
        </p:grpSpPr>
        <p:sp>
          <p:nvSpPr>
            <p:cNvPr id="21" name="TextBox 21"/>
            <p:cNvSpPr txBox="1"/>
            <p:nvPr/>
          </p:nvSpPr>
          <p:spPr>
            <a:xfrm>
              <a:off x="603885" y="6107906"/>
              <a:ext cx="10264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参考：</a:t>
              </a:r>
              <a:r>
                <a:rPr lang="zh-CN" sz="1120" u="sng" dirty="0">
                  <a:solidFill>
                    <a:schemeClr val="accent2"/>
                  </a:solidFill>
                  <a:latin typeface="+mn-lt"/>
                  <a:ea typeface="+mn-ea"/>
                  <a:cs typeface="+mn-cs"/>
                  <a:hlinkClick r:id="rId3"/>
                </a:rPr>
                <a:t>Git 教程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21580" y="61160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34123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的四个工作位置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3334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工作区、暂存区、本地仓库和远程仓库承担不同的工作。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41" name="git-four-zones"/>
          <p:cNvGrpSpPr/>
          <p:nvPr/>
        </p:nvGrpSpPr>
        <p:grpSpPr>
          <a:xfrm>
            <a:off x="609600" y="2438400"/>
            <a:ext cx="10972800" cy="2876550"/>
            <a:chOff x="609600" y="2438400"/>
            <a:chExt cx="10972800" cy="2876550"/>
          </a:xfrm>
        </p:grpSpPr>
        <p:sp>
          <p:nvSpPr>
            <p:cNvPr id="6" name="Line 6"/>
            <p:cNvSpPr/>
            <p:nvPr/>
          </p:nvSpPr>
          <p:spPr>
            <a:xfrm>
              <a:off x="272415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567690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862965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 flipH="1">
              <a:off x="8629650" y="3790950"/>
              <a:ext cx="838200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786548" y="27308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355F70"/>
                  </a:solidFill>
                  <a:latin typeface="Consolas"/>
                  <a:ea typeface="Consolas"/>
                  <a:cs typeface="Consolas"/>
                </a:rPr>
                <a:t>git add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89365" y="27308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355F70"/>
                  </a:solidFill>
                  <a:latin typeface="Consolas"/>
                  <a:ea typeface="Consolas"/>
                  <a:cs typeface="Consolas"/>
                </a:rPr>
                <a:t>git commit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42071" y="273081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7A75"/>
                  </a:solidFill>
                  <a:latin typeface="Consolas"/>
                  <a:ea typeface="Consolas"/>
                  <a:cs typeface="Consolas"/>
                </a:rPr>
                <a:t>git push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42071" y="396906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7A75"/>
                  </a:solidFill>
                  <a:latin typeface="Consolas"/>
                  <a:ea typeface="Consolas"/>
                  <a:cs typeface="Consolas"/>
                </a:rPr>
                <a:t>git pull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609600" y="2438400"/>
              <a:ext cx="10972800" cy="1809750"/>
              <a:chOff x="609600" y="2438400"/>
              <a:chExt cx="10972800" cy="1809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0960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3172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28675" y="2997994"/>
                <a:ext cx="77830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工作区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31723" y="3348514"/>
                <a:ext cx="11097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Working Tree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31342" y="37785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正在编辑的文件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56235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78447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781425" y="2997994"/>
                <a:ext cx="77830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暂存区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784473" y="3348514"/>
                <a:ext cx="10748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Staging Area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784092" y="36833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本次提交准备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784092" y="39309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包含的内容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651510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73722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734175" y="2997994"/>
                <a:ext cx="1031392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本地仓库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737223" y="3348514"/>
                <a:ext cx="141054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Local Repository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736842" y="36833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已固化、可恢复的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736842" y="3930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提交历史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946785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68997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A9C9BB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686925" y="2997994"/>
                <a:ext cx="1031392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远程仓库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689973" y="3348514"/>
                <a:ext cx="158342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C3CDD2"/>
                    </a:solidFill>
                    <a:latin typeface="+mn-lt"/>
                    <a:ea typeface="+mn-ea"/>
                    <a:cs typeface="+mn-cs"/>
                  </a:rPr>
                  <a:t>Remote Repository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689592" y="368331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团队同步与远程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689592" y="3930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备份协作</a:t>
                </a:r>
              </a:p>
            </p:txBody>
          </p:sp>
        </p:grpSp>
        <p:sp>
          <p:nvSpPr>
            <p:cNvPr id="38" name="Rectangle 38"/>
            <p:cNvSpPr/>
            <p:nvPr/>
          </p:nvSpPr>
          <p:spPr>
            <a:xfrm>
              <a:off x="609600" y="4629150"/>
              <a:ext cx="10972800" cy="6858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17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观察状态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1723" y="5043964"/>
              <a:ext cx="49669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55F70"/>
                  </a:solidFill>
                  <a:latin typeface="Consolas"/>
                  <a:ea typeface="Consolas"/>
                  <a:cs typeface="Consolas"/>
                </a:rPr>
                <a:t>git status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看位置　·　</a:t>
              </a:r>
              <a:r>
                <a:rPr lang="en-US" sz="1280" dirty="0">
                  <a:solidFill>
                    <a:srgbClr val="355F70"/>
                  </a:solidFill>
                  <a:latin typeface="Consolas"/>
                  <a:ea typeface="Consolas"/>
                  <a:cs typeface="Consolas"/>
                </a:rPr>
                <a:t>git diff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看差异　·　</a:t>
              </a:r>
              <a:r>
                <a:rPr lang="en-US" sz="1280" dirty="0">
                  <a:solidFill>
                    <a:srgbClr val="355F70"/>
                  </a:solidFill>
                  <a:latin typeface="Consolas"/>
                  <a:ea typeface="Consolas"/>
                  <a:cs typeface="Consolas"/>
                </a:rPr>
                <a:t>git log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看历史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831342" y="5826442"/>
            <a:ext cx="10756392" cy="647319"/>
            <a:chOff x="831342" y="5826442"/>
            <a:chExt cx="10756392" cy="647319"/>
          </a:xfrm>
        </p:grpSpPr>
        <p:sp>
          <p:nvSpPr>
            <p:cNvPr id="42" name="TextBox 42"/>
            <p:cNvSpPr txBox="1"/>
            <p:nvPr/>
          </p:nvSpPr>
          <p:spPr>
            <a:xfrm>
              <a:off x="831342" y="5826442"/>
              <a:ext cx="4575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暂存区的价值：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先选择“这次要提交什么”，再固化历史。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421580" y="62684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34123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的日常操作顺序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先看状态和差异，再精确暂存；验证通过后提交，最后推送。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2" name="safe-loop"/>
          <p:cNvGrpSpPr/>
          <p:nvPr/>
        </p:nvGrpSpPr>
        <p:grpSpPr>
          <a:xfrm>
            <a:off x="742950" y="1903571"/>
            <a:ext cx="2949392" cy="3456432"/>
            <a:chOff x="742950" y="1903571"/>
            <a:chExt cx="2949392" cy="3456432"/>
          </a:xfrm>
        </p:grpSpPr>
        <p:sp>
          <p:nvSpPr>
            <p:cNvPr id="6" name="Line 6"/>
            <p:cNvSpPr/>
            <p:nvPr/>
          </p:nvSpPr>
          <p:spPr>
            <a:xfrm>
              <a:off x="914400" y="2114550"/>
              <a:ext cx="1" cy="289560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42950" y="1903571"/>
              <a:ext cx="2949392" cy="3456432"/>
              <a:chOff x="742950" y="1903571"/>
              <a:chExt cx="2949392" cy="3456432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742950" y="19431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58167" y="20340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231011" y="1903571"/>
                <a:ext cx="85558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Consolas"/>
                    <a:ea typeface="Consolas"/>
                    <a:cs typeface="Consolas"/>
                  </a:rPr>
                  <a:t>git pull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31773" y="21578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开始前同步远程更新</a:t>
                </a:r>
              </a:p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742950" y="253365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58167" y="26246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31011" y="2494121"/>
                <a:ext cx="97028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修改并测试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31773" y="2748439"/>
                <a:ext cx="208071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完成一个边界清楚的小任务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742950" y="31242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58167" y="32151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31011" y="3084671"/>
                <a:ext cx="2222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Consolas"/>
                    <a:ea typeface="Consolas"/>
                    <a:cs typeface="Consolas"/>
                  </a:rPr>
                  <a:t>git status / git diff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31773" y="33389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确认变更范围与内容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742950" y="371475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58167" y="38057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1011" y="3675221"/>
                <a:ext cx="159155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Consolas"/>
                    <a:ea typeface="Consolas"/>
                    <a:cs typeface="Consolas"/>
                  </a:rPr>
                  <a:t>git add &lt;files&gt;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31773" y="392953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只暂存当前任务文件</a:t>
                </a:r>
              </a:p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742950" y="43053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58167" y="43962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31011" y="4265771"/>
                <a:ext cx="246133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527A75"/>
                    </a:solidFill>
                    <a:latin typeface="Consolas"/>
                    <a:ea typeface="Microsoft YaHei"/>
                    <a:cs typeface="Consolas"/>
                  </a:rPr>
                  <a:t>git commit -m "说明原因"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31773" y="45200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让历史回答为什么改</a:t>
                </a: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42950" y="489585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58167" y="49868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231011" y="4856321"/>
                <a:ext cx="85558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git push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31773" y="511063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同步到对应远程分支</a:t>
                </a:r>
              </a:p>
            </p:txBody>
          </p:sp>
        </p:grpSp>
      </p:grpSp>
      <p:grpSp>
        <p:nvGrpSpPr>
          <p:cNvPr id="45" name="terminal-example"/>
          <p:cNvGrpSpPr/>
          <p:nvPr/>
        </p:nvGrpSpPr>
        <p:grpSpPr>
          <a:xfrm>
            <a:off x="6343650" y="1695450"/>
            <a:ext cx="5238750" cy="3619500"/>
            <a:chOff x="6343650" y="1695450"/>
            <a:chExt cx="5238750" cy="3619500"/>
          </a:xfrm>
        </p:grpSpPr>
        <p:sp>
          <p:nvSpPr>
            <p:cNvPr id="33" name="Rectangle 33"/>
            <p:cNvSpPr/>
            <p:nvPr/>
          </p:nvSpPr>
          <p:spPr>
            <a:xfrm>
              <a:off x="6343650" y="1695450"/>
              <a:ext cx="5238750" cy="3619500"/>
            </a:xfrm>
            <a:prstGeom prst="roundRect">
              <a:avLst>
                <a:gd name="adj" fmla="val 105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343650" y="1695450"/>
              <a:ext cx="5238750" cy="438150"/>
            </a:xfrm>
            <a:prstGeom prst="roundRect">
              <a:avLst>
                <a:gd name="adj" fmla="val 8696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76135" y="1850231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terminal · experiment-fix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6641592" y="2426018"/>
              <a:ext cx="4419295" cy="2321433"/>
              <a:chOff x="6641592" y="2426018"/>
              <a:chExt cx="4419295" cy="2321433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6641592" y="2426018"/>
                <a:ext cx="12131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/>
                    <a:ea typeface="Consolas"/>
                    <a:cs typeface="Consolas"/>
                  </a:rPr>
                  <a:t>$ git status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641592" y="2768918"/>
                <a:ext cx="31123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modified: configs/baseline.yaml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41592" y="3111818"/>
                <a:ext cx="17129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/>
                    <a:ea typeface="Consolas"/>
                    <a:cs typeface="Consolas"/>
                  </a:rPr>
                  <a:t>$ git diff --stat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641592" y="3454718"/>
                <a:ext cx="33122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2 files changed, 18 insertions(+)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641592" y="3797618"/>
                <a:ext cx="4111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/>
                    <a:ea typeface="Consolas"/>
                    <a:cs typeface="Consolas"/>
                  </a:rPr>
                  <a:t>$ git add configs/baseline.yaml src/run.m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641592" y="4140518"/>
                <a:ext cx="44192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9C9BB"/>
                    </a:solidFill>
                    <a:latin typeface="Consolas"/>
                    <a:ea typeface="Consolas"/>
                    <a:cs typeface="Consolas"/>
                  </a:rPr>
                  <a:t>$ git commit -m "Fix baseline seed handling"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641592" y="4483418"/>
                <a:ext cx="34121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9C9BB"/>
                    </a:solidFill>
                    <a:latin typeface="Consolas"/>
                    <a:ea typeface="Consolas"/>
                    <a:cs typeface="Consolas"/>
                  </a:rPr>
                  <a:t>[experiment-fix 6f2a1c9] committed</a:t>
                </a:r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6642354" y="49377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3CDD2"/>
                  </a:solidFill>
                  <a:latin typeface="+mn-lt"/>
                  <a:ea typeface="+mn-ea"/>
                  <a:cs typeface="+mn-cs"/>
                </a:rPr>
                <a:t>一次提交只讲一件事，审查与回退都会更容易。</a:t>
              </a:r>
            </a:p>
          </p:txBody>
        </p:sp>
      </p:grpSp>
      <p:grpSp>
        <p:nvGrpSpPr>
          <p:cNvPr id="48" name="risk-warning"/>
          <p:cNvGrpSpPr/>
          <p:nvPr/>
        </p:nvGrpSpPr>
        <p:grpSpPr>
          <a:xfrm>
            <a:off x="831342" y="5816918"/>
            <a:ext cx="10756392" cy="694943"/>
            <a:chOff x="831342" y="5816918"/>
            <a:chExt cx="10756392" cy="694943"/>
          </a:xfrm>
        </p:grpSpPr>
        <p:sp>
          <p:nvSpPr>
            <p:cNvPr id="46" name="TextBox 46"/>
            <p:cNvSpPr txBox="1"/>
            <p:nvPr/>
          </p:nvSpPr>
          <p:spPr>
            <a:xfrm>
              <a:off x="831342" y="5816918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4B08"/>
                  </a:solidFill>
                  <a:latin typeface="+mn-lt"/>
                  <a:ea typeface="+mn-ea"/>
                  <a:cs typeface="+mn-cs"/>
                </a:rPr>
                <a:t>风险提示：</a:t>
              </a:r>
              <a:r>
                <a:rPr lang="zh-CN" sz="1350" dirty="0">
                  <a:solidFill>
                    <a:srgbClr val="8A4B08"/>
                  </a:solidFill>
                  <a:latin typeface="+mn-lt"/>
                  <a:ea typeface="+mn-ea"/>
                  <a:cs typeface="+mn-cs"/>
                </a:rPr>
                <a:t>未理解影响前，不使用会覆盖历史或丢失修改的强制命令。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21580" y="63065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43028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 Git 管理科研实验版本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546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把研究假设、代码、配置、验证结果与提交历史连在一起。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3" name="experiment-branches"/>
          <p:cNvGrpSpPr/>
          <p:nvPr/>
        </p:nvGrpSpPr>
        <p:grpSpPr>
          <a:xfrm>
            <a:off x="609600" y="2015014"/>
            <a:ext cx="7257161" cy="3814286"/>
            <a:chOff x="609600" y="2015014"/>
            <a:chExt cx="7257161" cy="3814286"/>
          </a:xfrm>
        </p:grpSpPr>
        <p:sp>
          <p:nvSpPr>
            <p:cNvPr id="6" name="Line 6"/>
            <p:cNvSpPr/>
            <p:nvPr/>
          </p:nvSpPr>
          <p:spPr>
            <a:xfrm>
              <a:off x="914400" y="4095750"/>
              <a:ext cx="6762750" cy="1"/>
            </a:xfrm>
            <a:prstGeom prst="line">
              <a:avLst/>
            </a:prstGeom>
            <a:noFill/>
            <a:ln w="57150" cap="rnd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1809750" y="2857500"/>
              <a:ext cx="571500" cy="1238250"/>
            </a:xfrm>
            <a:custGeom>
              <a:avLst/>
              <a:gdLst/>
              <a:ahLst/>
              <a:cxnLst/>
              <a:rect l="l" t="t" r="r" b="b"/>
              <a:pathLst>
                <a:path w="571500" h="1238250">
                  <a:moveTo>
                    <a:pt x="0" y="1238250"/>
                  </a:moveTo>
                  <a:lnTo>
                    <a:pt x="571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2381250" y="28575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095750" y="2857500"/>
              <a:ext cx="666750" cy="1238250"/>
            </a:xfrm>
            <a:custGeom>
              <a:avLst/>
              <a:gdLst/>
              <a:ahLst/>
              <a:cxnLst/>
              <a:rect l="l" t="t" r="r" b="b"/>
              <a:pathLst>
                <a:path w="666750" h="1238250">
                  <a:moveTo>
                    <a:pt x="0" y="0"/>
                  </a:moveTo>
                  <a:lnTo>
                    <a:pt x="666750" y="123825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429000" y="333375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762000"/>
                  </a:moveTo>
                  <a:lnTo>
                    <a:pt x="6667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095750" y="33337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810250" y="333375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0"/>
                  </a:moveTo>
                  <a:lnTo>
                    <a:pt x="666750" y="76200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048250" y="2381250"/>
              <a:ext cx="666750" cy="1714500"/>
            </a:xfrm>
            <a:custGeom>
              <a:avLst/>
              <a:gdLst/>
              <a:ahLst/>
              <a:cxnLst/>
              <a:rect l="l" t="t" r="r" b="b"/>
              <a:pathLst>
                <a:path w="666750" h="1714500">
                  <a:moveTo>
                    <a:pt x="0" y="1714500"/>
                  </a:moveTo>
                  <a:lnTo>
                    <a:pt x="666750" y="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715000" y="2381250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700" y="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124700" y="2381250"/>
              <a:ext cx="400050" cy="1714500"/>
            </a:xfrm>
            <a:custGeom>
              <a:avLst/>
              <a:gdLst/>
              <a:ahLst/>
              <a:cxnLst/>
              <a:rect l="l" t="t" r="r" b="b"/>
              <a:pathLst>
                <a:path w="400050" h="1714500">
                  <a:moveTo>
                    <a:pt x="0" y="0"/>
                  </a:moveTo>
                  <a:lnTo>
                    <a:pt x="400050" y="171450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42950" y="2247900"/>
              <a:ext cx="7105650" cy="2019300"/>
              <a:chOff x="742950" y="2247900"/>
              <a:chExt cx="7105650" cy="20193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742950" y="39243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1714500" y="40005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3333750" y="40005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4953000" y="40005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7505700" y="39243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105150" y="2724150"/>
                <a:ext cx="266700" cy="2667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4819650" y="3200400"/>
                <a:ext cx="266700" cy="2667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6343650" y="2247900"/>
                <a:ext cx="266700" cy="2667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rgbClr val="6C8D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742571" y="4339114"/>
              <a:ext cx="8008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基线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99415" y="249126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实验 A · config-a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13915" y="304371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实验 B · config-b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37915" y="201501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4C68CC"/>
                  </a:solidFill>
                  <a:latin typeface="+mn-lt"/>
                  <a:ea typeface="+mn-ea"/>
                  <a:cs typeface="+mn-cs"/>
                </a:rPr>
                <a:t>实验 C · config-c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92239" y="43391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验证后合并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9600" y="4857750"/>
              <a:ext cx="7239000" cy="971550"/>
            </a:xfrm>
            <a:prstGeom prst="roundRect">
              <a:avLst>
                <a:gd name="adj" fmla="val 392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1342" y="50549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一个提交应同时指向三类证据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342" y="5378768"/>
              <a:ext cx="5484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代码与配置变化　·　环境与数据获取说明　·　指标摘要或结果索引</a:t>
              </a:r>
            </a:p>
          </p:txBody>
        </p:sp>
      </p:grpSp>
      <p:grpSp>
        <p:nvGrpSpPr>
          <p:cNvPr id="46" name="track-ignore"/>
          <p:cNvGrpSpPr/>
          <p:nvPr/>
        </p:nvGrpSpPr>
        <p:grpSpPr>
          <a:xfrm>
            <a:off x="8153400" y="1714500"/>
            <a:ext cx="3429000" cy="4114800"/>
            <a:chOff x="8153400" y="1714500"/>
            <a:chExt cx="3429000" cy="4114800"/>
          </a:xfrm>
        </p:grpSpPr>
        <p:sp>
          <p:nvSpPr>
            <p:cNvPr id="34" name="Rectangle 34"/>
            <p:cNvSpPr/>
            <p:nvPr/>
          </p:nvSpPr>
          <p:spPr>
            <a:xfrm>
              <a:off x="8153400" y="1714500"/>
              <a:ext cx="3429000" cy="1924050"/>
            </a:xfrm>
            <a:prstGeom prst="roundRect">
              <a:avLst>
                <a:gd name="adj" fmla="val 1980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73618" y="1917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应该追踪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75142" y="2311718"/>
              <a:ext cx="16133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源代码与评估脚本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75142" y="2635568"/>
              <a:ext cx="1431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配置与环境依赖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75142" y="2959418"/>
              <a:ext cx="1249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数据获取说明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5142" y="3283268"/>
              <a:ext cx="1249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图表生成方法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53400" y="3829050"/>
              <a:ext cx="34290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73618" y="40319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应该忽略或外部管理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75142" y="4426268"/>
              <a:ext cx="19768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密钥、缓存与临时文件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75142" y="4750118"/>
              <a:ext cx="1249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大型原始数据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75142" y="5073968"/>
              <a:ext cx="1795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可由脚本重建的输出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75904" y="5471160"/>
              <a:ext cx="30839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结果目录保留 README、指标摘要或索引。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603885" y="6184106"/>
            <a:ext cx="10983849" cy="220028"/>
            <a:chOff x="603885" y="6184106"/>
            <a:chExt cx="10983849" cy="220028"/>
          </a:xfrm>
        </p:grpSpPr>
        <p:sp>
          <p:nvSpPr>
            <p:cNvPr id="47" name="TextBox 47"/>
            <p:cNvSpPr txBox="1"/>
            <p:nvPr/>
          </p:nvSpPr>
          <p:spPr>
            <a:xfrm>
              <a:off x="603885" y="6184106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分支不是越多越好：一个研究假设或修复，对应一个短而清楚的分支。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421580" y="6192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510822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 在算法研究中能做什么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从论文方法到项目实验，协助完成可检查的工作。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6" name="research-actions"/>
          <p:cNvGrpSpPr/>
          <p:nvPr/>
        </p:nvGrpSpPr>
        <p:grpSpPr>
          <a:xfrm>
            <a:off x="597408" y="2131695"/>
            <a:ext cx="10984992" cy="3221355"/>
            <a:chOff x="597408" y="2131695"/>
            <a:chExt cx="10984992" cy="3221355"/>
          </a:xfrm>
        </p:grpSpPr>
        <p:grpSp>
          <p:nvGrpSpPr>
            <p:cNvPr id="10" name="read-paper"/>
            <p:cNvGrpSpPr/>
            <p:nvPr/>
          </p:nvGrpSpPr>
          <p:grpSpPr>
            <a:xfrm>
              <a:off x="597408" y="2131695"/>
              <a:ext cx="10984992" cy="563880"/>
              <a:chOff x="597408" y="2131695"/>
              <a:chExt cx="10984992" cy="563880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597408" y="2131695"/>
                <a:ext cx="37978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456944" y="2180272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论文与假设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3992118" y="2212658"/>
                <a:ext cx="579196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梳理观测模型、变量和前提，核对项目能否提供所需输入。</a:t>
                </a:r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609600" y="268605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15" name="reproduce-method"/>
            <p:cNvGrpSpPr/>
            <p:nvPr/>
          </p:nvGrpSpPr>
          <p:grpSpPr>
            <a:xfrm>
              <a:off x="597408" y="3017520"/>
              <a:ext cx="10984992" cy="563880"/>
              <a:chOff x="597408" y="3017520"/>
              <a:chExt cx="10984992" cy="563880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597408" y="3017520"/>
                <a:ext cx="37978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456944" y="3066098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独立复现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992118" y="3098482"/>
                <a:ext cx="512559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按论文条件搭建最小实验，解释与原文结果的差异。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609600" y="3571875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20" name="integrate-method"/>
            <p:cNvGrpSpPr/>
            <p:nvPr/>
          </p:nvGrpSpPr>
          <p:grpSpPr>
            <a:xfrm>
              <a:off x="597408" y="3903345"/>
              <a:ext cx="10984992" cy="563880"/>
              <a:chOff x="597408" y="3903345"/>
              <a:chExt cx="10984992" cy="56388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597408" y="3903345"/>
                <a:ext cx="37978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456944" y="3951922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接入与改造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92118" y="3984308"/>
                <a:ext cx="512559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定位现有模块接口，试做改造并与基线同条件比较。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609600" y="44577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25" name="record-evidence"/>
            <p:cNvGrpSpPr/>
            <p:nvPr/>
          </p:nvGrpSpPr>
          <p:grpSpPr>
            <a:xfrm>
              <a:off x="597408" y="4789170"/>
              <a:ext cx="10984992" cy="563880"/>
              <a:chOff x="597408" y="4789170"/>
              <a:chExt cx="10984992" cy="563880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597408" y="4789170"/>
                <a:ext cx="37978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456944" y="4837748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整理证据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992118" y="4870132"/>
                <a:ext cx="579196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整理代码、配置、运行结果与失败原因，留下可复查记录。</a:t>
                </a:r>
              </a:p>
            </p:txBody>
          </p:sp>
          <p:sp>
            <p:nvSpPr>
              <p:cNvPr id="24" name="Line 24"/>
              <p:cNvSpPr/>
              <p:nvPr/>
            </p:nvSpPr>
            <p:spPr>
              <a:xfrm>
                <a:off x="609600" y="5343525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</p:grpSp>
      <p:grpSp>
        <p:nvGrpSpPr>
          <p:cNvPr id="29" name="footer"/>
          <p:cNvGrpSpPr/>
          <p:nvPr/>
        </p:nvGrpSpPr>
        <p:grpSpPr>
          <a:xfrm>
            <a:off x="602742" y="6064568"/>
            <a:ext cx="10984992" cy="264033"/>
            <a:chOff x="602742" y="6064568"/>
            <a:chExt cx="10984992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602742" y="606456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是否采用一种方法，仍由研究者根据假设与最终指标判断。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421580" y="60969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618966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 与 Git：两条算法路线的对照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4789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Paper2 多反射面估计中的完整搜索与粗糙度引导搜索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9" name="common-baseline"/>
          <p:cNvGrpSpPr/>
          <p:nvPr/>
        </p:nvGrpSpPr>
        <p:grpSpPr>
          <a:xfrm>
            <a:off x="600456" y="1883092"/>
            <a:ext cx="10981944" cy="679133"/>
            <a:chOff x="600456" y="1883092"/>
            <a:chExt cx="10981944" cy="679133"/>
          </a:xfrm>
        </p:grpSpPr>
        <p:sp>
          <p:nvSpPr>
            <p:cNvPr id="6" name="TextBox 6"/>
            <p:cNvSpPr txBox="1"/>
            <p:nvPr/>
          </p:nvSpPr>
          <p:spPr>
            <a:xfrm>
              <a:off x="602742" y="18830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共同起点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22059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同一研究问题、稳定基线，以及记录下来的起始提交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552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1" name="parallel-routes"/>
          <p:cNvGrpSpPr/>
          <p:nvPr/>
        </p:nvGrpSpPr>
        <p:grpSpPr>
          <a:xfrm>
            <a:off x="599694" y="2857500"/>
            <a:ext cx="10982706" cy="1809750"/>
            <a:chOff x="599694" y="2857500"/>
            <a:chExt cx="10982706" cy="1809750"/>
          </a:xfrm>
        </p:grpSpPr>
        <p:grpSp>
          <p:nvGrpSpPr>
            <p:cNvPr id="14" name="baseline-route"/>
            <p:cNvGrpSpPr/>
            <p:nvPr/>
          </p:nvGrpSpPr>
          <p:grpSpPr>
            <a:xfrm>
              <a:off x="599694" y="2913698"/>
              <a:ext cx="5115306" cy="1586770"/>
              <a:chOff x="599694" y="2913698"/>
              <a:chExt cx="5115306" cy="158677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99694" y="2913698"/>
                <a:ext cx="315496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路线 A　完整全局动态规划</a:t>
                </a:r>
              </a:p>
            </p:txBody>
          </p:sp>
          <p:sp>
            <p:nvSpPr>
              <p:cNvPr id="11" name="Line 11"/>
              <p:cNvSpPr/>
              <p:nvPr/>
            </p:nvSpPr>
            <p:spPr>
              <a:xfrm>
                <a:off x="609600" y="3381375"/>
                <a:ext cx="510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05400" h="9525">
                    <a:moveTo>
                      <a:pt x="0" y="0"/>
                    </a:moveTo>
                    <a:lnTo>
                      <a:pt x="5105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601599" y="3716179"/>
                <a:ext cx="318952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b="1" dirty="0">
                    <a:solidFill>
                      <a:srgbClr val="355F70"/>
                    </a:solidFill>
                    <a:latin typeface="+mn-lt"/>
                    <a:ea typeface="+mn-ea"/>
                    <a:cs typeface="+mn-cs"/>
                  </a:rPr>
                  <a:t>Codex</a:t>
                </a:r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　复核基线算法与实验设置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01599" y="4192429"/>
                <a:ext cx="288696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b="1" dirty="0">
                    <a:solidFill>
                      <a:srgbClr val="355F70"/>
                    </a:solidFill>
                    <a:latin typeface="+mn-lt"/>
                    <a:ea typeface="+mn-ea"/>
                    <a:cs typeface="+mn-cs"/>
                  </a:rPr>
                  <a:t>Git</a:t>
                </a:r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　保存可复跑的代码和配置</a:t>
                </a: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6096000" y="2857500"/>
              <a:ext cx="9525" cy="1809750"/>
            </a:xfrm>
            <a:custGeom>
              <a:avLst/>
              <a:gdLst/>
              <a:ahLst/>
              <a:cxnLst/>
              <a:rect l="l" t="t" r="r" b="b"/>
              <a:pathLst>
                <a:path w="9525" h="1809750">
                  <a:moveTo>
                    <a:pt x="0" y="0"/>
                  </a:moveTo>
                  <a:lnTo>
                    <a:pt x="0" y="18097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0" name="exploration-route"/>
            <p:cNvGrpSpPr/>
            <p:nvPr/>
          </p:nvGrpSpPr>
          <p:grpSpPr>
            <a:xfrm>
              <a:off x="6467094" y="2913698"/>
              <a:ext cx="5115306" cy="1586770"/>
              <a:chOff x="6467094" y="2913698"/>
              <a:chExt cx="5115306" cy="158677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6467094" y="2913698"/>
                <a:ext cx="341747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路线 B　粗糙度引导受限搜索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6477000" y="3381375"/>
                <a:ext cx="510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05400" h="9525">
                    <a:moveTo>
                      <a:pt x="0" y="0"/>
                    </a:moveTo>
                    <a:lnTo>
                      <a:pt x="5105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468999" y="3716179"/>
                <a:ext cx="318952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b="1" dirty="0">
                    <a:solidFill>
                      <a:srgbClr val="355F70"/>
                    </a:solidFill>
                    <a:latin typeface="+mn-lt"/>
                    <a:ea typeface="+mn-ea"/>
                    <a:cs typeface="+mn-cs"/>
                  </a:rPr>
                  <a:t>Codex</a:t>
                </a:r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　检查瓶颈并实现受限搜索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468999" y="4192429"/>
                <a:ext cx="309966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b="1" dirty="0">
                    <a:solidFill>
                      <a:srgbClr val="355F70"/>
                    </a:solidFill>
                    <a:latin typeface="+mn-lt"/>
                    <a:ea typeface="+mn-ea"/>
                    <a:cs typeface="+mn-cs"/>
                  </a:rPr>
                  <a:t>Git</a:t>
                </a:r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　用独立分支隔离修改与实验</a:t>
                </a:r>
              </a:p>
            </p:txBody>
          </p:sp>
        </p:grpSp>
      </p:grpSp>
      <p:grpSp>
        <p:nvGrpSpPr>
          <p:cNvPr id="27" name="compare-and-decide"/>
          <p:cNvGrpSpPr/>
          <p:nvPr/>
        </p:nvGrpSpPr>
        <p:grpSpPr>
          <a:xfrm>
            <a:off x="601218" y="4953000"/>
            <a:ext cx="10981182" cy="944689"/>
            <a:chOff x="601218" y="4953000"/>
            <a:chExt cx="10981182" cy="944689"/>
          </a:xfrm>
        </p:grpSpPr>
        <p:sp>
          <p:nvSpPr>
            <p:cNvPr id="22" name="Line 22"/>
            <p:cNvSpPr/>
            <p:nvPr/>
          </p:nvSpPr>
          <p:spPr>
            <a:xfrm>
              <a:off x="609600" y="4953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1218" y="516540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同条件比较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87599" y="5173504"/>
              <a:ext cx="51207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固定数据、随机种子和指标，比较定位精度与计算量。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1218" y="55749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研究者决策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87599" y="5583079"/>
              <a:ext cx="42699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有效再合并；不可靠就记录原因并回到基线。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3504" y="6128385"/>
            <a:ext cx="10984230" cy="234696"/>
            <a:chOff x="603504" y="6128385"/>
            <a:chExt cx="10984230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603504" y="6128385"/>
              <a:ext cx="43305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聊天讨论保留思路，Git 分支隔离代码，实验记录连接结果。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421580" y="61445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odex_git_seminar">
  <a:themeElements>
    <a:clrScheme name="codex_git_seminar">
      <a:dk1>
        <a:srgbClr val="263238"/>
      </a:dk1>
      <a:lt1>
        <a:srgbClr val="FFFFFF"/>
      </a:lt1>
      <a:dk2>
        <a:srgbClr val="1F497D"/>
      </a:dk2>
      <a:lt2>
        <a:srgbClr val="FFFFFF"/>
      </a:lt2>
      <a:accent1>
        <a:srgbClr val="263238"/>
      </a:accent1>
      <a:accent2>
        <a:srgbClr val="456779"/>
      </a:accent2>
      <a:accent3>
        <a:srgbClr val="648681"/>
      </a:accent3>
      <a:accent4>
        <a:srgbClr val="263238"/>
      </a:accent4>
      <a:accent5>
        <a:srgbClr val="607078"/>
      </a:accent5>
      <a:accent6>
        <a:srgbClr val="D8DEE0"/>
      </a:accent6>
      <a:hlink>
        <a:srgbClr val="456779"/>
      </a:hlink>
      <a:folHlink>
        <a:srgbClr val="648681"/>
      </a:folHlink>
    </a:clrScheme>
    <a:fontScheme name="codex_git_semina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x_git_semina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dex_git_seminar">
  <a:themeElements>
    <a:clrScheme name="codex_git_seminar">
      <a:dk1>
        <a:srgbClr val="263238"/>
      </a:dk1>
      <a:lt1>
        <a:srgbClr val="FFFFFF"/>
      </a:lt1>
      <a:dk2>
        <a:srgbClr val="1F497D"/>
      </a:dk2>
      <a:lt2>
        <a:srgbClr val="FFFFFF"/>
      </a:lt2>
      <a:accent1>
        <a:srgbClr val="263238"/>
      </a:accent1>
      <a:accent2>
        <a:srgbClr val="456779"/>
      </a:accent2>
      <a:accent3>
        <a:srgbClr val="648681"/>
      </a:accent3>
      <a:accent4>
        <a:srgbClr val="263238"/>
      </a:accent4>
      <a:accent5>
        <a:srgbClr val="607078"/>
      </a:accent5>
      <a:accent6>
        <a:srgbClr val="D8DEE0"/>
      </a:accent6>
      <a:hlink>
        <a:srgbClr val="456779"/>
      </a:hlink>
      <a:folHlink>
        <a:srgbClr val="648681"/>
      </a:folHlink>
    </a:clrScheme>
    <a:fontScheme name="codex_git_semina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x_git_semina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2026-09-21T08:53:00Z</dcterms:created>
  <dcterms:modified xsi:type="dcterms:W3CDTF">2026-09-21T08:53:00Z</dcterms:modified>
  <cp:category/>
  <cp:contentStatus/>
</cp:coreProperties>
</file>