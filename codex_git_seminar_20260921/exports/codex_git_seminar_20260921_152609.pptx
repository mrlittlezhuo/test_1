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用同一个 MATLAB 任务看，两者的差别会更直观。如果我在普通 ChatGPT 对话中问“扩展卡尔曼滤波是什么，给一段示例代码”，通常得到的是原理说明和参考代码。接下来还要由我判断代码能否用于当前项目，把它放到合适的位置并运行验证。交给 Codex 的任务可以更具体：请它读当前工程，找到定位模块里的状态更新函数，在保持输入输出接口不变的前提下修改文件、补充测试，再说明修改了哪些文件以及测试结果。Codex 能进入授权范围内的真实项目执行这些步骤，也能查看 Git 差异。但这不等于改动自动正确，最后仍要由人检查代码和验证结果。这里的表述依据《Codex 是什么与基本使用教程》第一部分第 1、2 小节。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执行任务时，一边遵守项目规则，一边在适用时调用可复用流程。接下来分别展开这两种机制，并给出可以直接迁移到科研项目中的示例。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AGENTS.md 可以理解为项目内长期有效的“协作说明书”，Codex 会在开始工作前读取它。全局文件适合放个人通用习惯，仓库根目录适合放整个项目的规则，更深目录中的文件则补充局部约束；从项目根目录到当前工作目录的规则会依次合并，位置越近的说明越具体。内容应优先写成可以执行和检查的规则，例如入口命令、测试方式、禁止修改的目录以及交付要求。临时任务、一次性背景和密钥不适合放进长期规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Skill 是针对某一类任务的可复用工作手册，一个技能目录至少包含 SKILL.md，也可以配套脚本、参考资料和素材。Codex 通常先看到技能的名称和描述，判断任务匹配后再加载完整说明，这样既能复用专业流程，又不会把所有细节一次性塞进上下文。项目级技能可以放在 .agents/skills 下，通过美元符号加技能名显式调用，也可以依靠描述自动匹配。AGENTS.md 管整个项目的长期规则，Skill 则服务于边界清楚、会反复出现的具体任务。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是分布式版本控制工具，而 GitHub 或 GitLab 是远程托管与协作平台，两者不能混为一谈。集中式版本控制依赖中心仓库，分布式 Git 的每个完整克隆都带有项目历史，因此即使没有网络，也能在本地提交、查看历史和比较版本。一次提交保存的是某一时刻的项目状态以及与父提交的关系，不是把整个文件夹随手复制一份。这也是 Git 能够可靠比较、分支、合并和恢复的基础。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Codex 和 Git 结合起来时，人的判断位于流程的入口和出口。首先定义任务、相关文件与验收条件，再确认 Git 基线干净且可恢复。Codex 在这个上下文中分析、修改并运行检查，人随后审查差异、结果与风险，决定保留、修正还是回退。通过后，只提交当前任务文件并推送，最后把提交号写进实验记录、论文图表来源或结果索引。可信变化可以概括为干净基线、清楚差异、验证证据和可恢复提交，Codex 提高执行效率，Git 把变化固化为事实。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只需要记住三条最低实践。第一，任务要小，要说明目标、范围、相关文件和完成标准；第二，结果要验，要看差异、跑测试并核对数据和图表，不能把生成了当成正确了；第三，历史要清，只提交当前任务文件，说明修改原因，推送并记录提交号。每次结束前检查是否留下了可运行的变化、验证证据和 Git 检查点。可以从一个现有科研脚本开始，让 Codex 完成一个可验证的小改动，再用 Git 建立检查点，把这套方法真正用起来。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dex_git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dex_git_semina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agent-configuration/agents-md" TargetMode="External"/>
  <Relationship Id="rId3" Type="http://schemas.openxmlformats.org/officeDocument/2006/relationships/hyperlink" Target="https://learn.chatgpt.com/docs/build-skills" TargetMode="External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agent-configuration/agents-md" TargetMode="External"/>
  <Relationship Id="rId3" Type="http://schemas.openxmlformats.org/officeDocument/2006/relationships/hyperlink" Target="https://jishuzhan.net/article/2053301309797892098" TargetMode="External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jishuzhan.net/article/2053301309797892098" TargetMode="External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hyperlink" Target="https://learn.chatgpt.com/docs/build-skills" TargetMode="External"/>
  <Relationship Id="rId3" Type="http://schemas.openxmlformats.org/officeDocument/2006/relationships/hyperlink" Target="https://jishuzhan.net/article/2053301309797892098" TargetMode="External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78b968eeb4771f2.png"/>
  <Relationship Id="rId3" Type="http://schemas.openxmlformats.org/officeDocument/2006/relationships/image" Target="../media/image_6612b55437c111cf.png"/>
  <Relationship Id="rId4" Type="http://schemas.openxmlformats.org/officeDocument/2006/relationships/image" Target="../media/image_0dccb49f67124b52.png"/>
  <Relationship Id="rId5" Type="http://schemas.openxmlformats.org/officeDocument/2006/relationships/hyperlink" Target="https://learn.chatgpt.com/docs/codex/ide" TargetMode="External"/>
  <Relationship Id="rId6" Type="http://schemas.openxmlformats.org/officeDocument/2006/relationships/hyperlink" Target="https://codexguide.ai/start/13-ide-vscode.html" TargetMode="External"/>
  <Relationship Id="rId7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664b93c41e8867.jpg"/>
  <Relationship Id="rId3" Type="http://schemas.openxmlformats.org/officeDocument/2006/relationships/hyperlink" Target="https://www.runoob.com/git/git-tutorial.html" TargetMode="External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label"/>
          <p:cNvGrpSpPr/>
          <p:nvPr/>
        </p:nvGrpSpPr>
        <p:grpSpPr>
          <a:xfrm>
            <a:off x="831342" y="825818"/>
            <a:ext cx="10529316" cy="264033"/>
            <a:chOff x="831342" y="825818"/>
            <a:chExt cx="105293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31342" y="825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课题组方法交流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47255" y="825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819150" y="2404110"/>
            <a:ext cx="6229140" cy="1682115"/>
            <a:chOff x="819150" y="2404110"/>
            <a:chExt cx="6229140" cy="1682115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2404110"/>
              <a:ext cx="6229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Codex、VS Code 与 Git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321754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在科研项目中的使用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407670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1" name="cover-description"/>
          <p:cNvGrpSpPr/>
          <p:nvPr/>
        </p:nvGrpSpPr>
        <p:grpSpPr>
          <a:xfrm>
            <a:off x="828675" y="4807744"/>
            <a:ext cx="3562248" cy="994029"/>
            <a:chOff x="828675" y="4807744"/>
            <a:chExt cx="3562248" cy="994029"/>
          </a:xfrm>
        </p:grpSpPr>
        <p:sp>
          <p:nvSpPr>
            <p:cNvPr id="9" name="TextBox 9"/>
            <p:cNvSpPr txBox="1"/>
            <p:nvPr/>
          </p:nvSpPr>
          <p:spPr>
            <a:xfrm>
              <a:off x="828675" y="48077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465861"/>
                  </a:solidFill>
                  <a:latin typeface="+mn-lt"/>
                  <a:ea typeface="+mn-ea"/>
                  <a:cs typeface="+mn-cs"/>
                </a:rPr>
                <a:t>项目约定、任务执行与版本记录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5523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结合科研代码的日常维护与实验复现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21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与 Codex 的工作方式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4310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以同一个 MATLAB 扩展卡尔曼滤波任务为例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chatgpt-column"/>
          <p:cNvGrpSpPr/>
          <p:nvPr/>
        </p:nvGrpSpPr>
        <p:grpSpPr>
          <a:xfrm>
            <a:off x="598932" y="1887855"/>
            <a:ext cx="4639818" cy="3444240"/>
            <a:chOff x="598932" y="1887855"/>
            <a:chExt cx="4639818" cy="344424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1887855"/>
              <a:ext cx="2515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 ChatGPT 对话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396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解释原理，给出参考代码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86075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168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74732"/>
              <a:ext cx="30657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“请解释扩展卡尔曼滤波的原理，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并给一段 MATLAB 示例代码。”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得到原理说明和示例代码；</a:t>
              </a:r>
              <a:br/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还需要自己放进项目并验证。</a:t>
              </a:r>
            </a:p>
          </p:txBody>
        </p:sp>
      </p:grpSp>
      <p:grpSp>
        <p:nvGrpSpPr>
          <p:cNvPr id="19" name="codex-column"/>
          <p:cNvGrpSpPr/>
          <p:nvPr/>
        </p:nvGrpSpPr>
        <p:grpSpPr>
          <a:xfrm>
            <a:off x="6104382" y="1887855"/>
            <a:ext cx="5478018" cy="3444240"/>
            <a:chOff x="6104382" y="1887855"/>
            <a:chExt cx="5478018" cy="3444240"/>
          </a:xfrm>
        </p:grpSpPr>
        <p:sp>
          <p:nvSpPr>
            <p:cNvPr id="13" name="TextBox 13"/>
            <p:cNvSpPr txBox="1"/>
            <p:nvPr/>
          </p:nvSpPr>
          <p:spPr>
            <a:xfrm>
              <a:off x="6104382" y="18878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05906" y="23964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读取当前项目，修改并验证代码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115050" y="2886075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192" y="3168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你可以这样交代任务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6668" y="3574732"/>
              <a:ext cx="35791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“请找到定位模块的状态更新函数，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加入扩展卡尔曼滤波，保持接口不变，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补充测试并说明修改了哪些文件。”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0743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得到真实文件改动、测试结果</a:t>
              </a:r>
              <a:br/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和可供审查的 Git 差异。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5829300"/>
            <a:ext cx="10984992" cy="470725"/>
            <a:chOff x="602742" y="5829300"/>
            <a:chExt cx="10984992" cy="470725"/>
          </a:xfrm>
        </p:grpSpPr>
        <p:sp>
          <p:nvSpPr>
            <p:cNvPr id="20" name="Line 20"/>
            <p:cNvSpPr/>
            <p:nvPr/>
          </p:nvSpPr>
          <p:spPr>
            <a:xfrm>
              <a:off x="609600" y="5829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6035992"/>
              <a:ext cx="4935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可以在授权项目内执行任务；最终改动仍需人工检查。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918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处理代码任务的基本流程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一次代码任务通常包括读取项目、修改文件、运行检查和审查差异。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0" name="execution-loop"/>
          <p:cNvGrpSpPr/>
          <p:nvPr/>
        </p:nvGrpSpPr>
        <p:grpSpPr>
          <a:xfrm>
            <a:off x="591439" y="2259806"/>
            <a:ext cx="7828661" cy="3302794"/>
            <a:chOff x="591439" y="2259806"/>
            <a:chExt cx="7828661" cy="3302794"/>
          </a:xfrm>
        </p:grpSpPr>
        <p:sp>
          <p:nvSpPr>
            <p:cNvPr id="6" name="Line 6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7" name="Ellipse 7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</a:p>
              </p:txBody>
            </p:sp>
          </p:grpSp>
        </p:grpSp>
        <p:sp>
          <p:nvSpPr>
            <p:cNvPr id="43" name="Line 43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4762"/>
              </a:avLst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4950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人的职责贯穿始终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342" y="52358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在入口确认范围，在出口核对风险、证据与完成标准。</a:t>
              </a:r>
            </a:p>
          </p:txBody>
        </p:sp>
      </p:grpSp>
      <p:grpSp>
        <p:nvGrpSpPr>
          <p:cNvPr id="62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1" name="Rectangle 51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135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9091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/>
                  <a:ea typeface="Consolas"/>
                  <a:cs typeface="Consolas"/>
                </a:rPr>
                <a:t>$ run tests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9C9BB"/>
                  </a:solidFill>
                  <a:latin typeface="Consolas"/>
                  <a:ea typeface="Consolas"/>
                  <a:cs typeface="Consolas"/>
                </a:rPr>
                <a:t>✓ 18 passed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5362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 src/model.py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 tests/test_model.py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3504" y="5962650"/>
            <a:ext cx="10984230" cy="381381"/>
            <a:chOff x="603504" y="5962650"/>
            <a:chExt cx="10984230" cy="381381"/>
          </a:xfrm>
        </p:grpSpPr>
        <p:sp>
          <p:nvSpPr>
            <p:cNvPr id="63" name="Line 63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3504" y="61093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关键判断：不是“生成了没有”，而是“是否验证并可解释”。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435292"/>
            <a:ext cx="10987278" cy="1041083"/>
            <a:chOff x="595122" y="435292"/>
            <a:chExt cx="10987278" cy="10410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4352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科研代码项目的常见目录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规则、代码、测试与结果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roject-tree"/>
          <p:cNvGrpSpPr/>
          <p:nvPr/>
        </p:nvGrpSpPr>
        <p:grpSpPr>
          <a:xfrm>
            <a:off x="609600" y="1733550"/>
            <a:ext cx="4762500" cy="4171950"/>
            <a:chOff x="609600" y="1733550"/>
            <a:chExt cx="4762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733550"/>
              <a:ext cx="4762500" cy="4171950"/>
            </a:xfrm>
            <a:prstGeom prst="roundRect">
              <a:avLst>
                <a:gd name="adj" fmla="val 9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8333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035" y="18978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9442" y="2426018"/>
              <a:ext cx="1712957" cy="3369183"/>
              <a:chOff x="869442" y="2426018"/>
              <a:chExt cx="1712957" cy="336918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9442" y="24260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research-project/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27879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├─ AGENTS.md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6142" y="31308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README.md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142" y="347376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src/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3816668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tests/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142" y="41595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configs/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6142" y="45024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data/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6142" y="48453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results/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51882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├─ docs/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6142" y="55311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└─ .gitignore</a:t>
                </a:r>
              </a:p>
            </p:txBody>
          </p:sp>
        </p:grpSp>
      </p:grpSp>
      <p:grpSp>
        <p:nvGrpSpPr>
          <p:cNvPr id="37" name="file-responsibilities"/>
          <p:cNvGrpSpPr/>
          <p:nvPr/>
        </p:nvGrpSpPr>
        <p:grpSpPr>
          <a:xfrm>
            <a:off x="5706618" y="1879282"/>
            <a:ext cx="5875782" cy="4026218"/>
            <a:chOff x="5706618" y="1879282"/>
            <a:chExt cx="5875782" cy="4026218"/>
          </a:xfrm>
        </p:grpSpPr>
        <p:sp>
          <p:nvSpPr>
            <p:cNvPr id="21" name="TextBox 21"/>
            <p:cNvSpPr txBox="1"/>
            <p:nvPr/>
          </p:nvSpPr>
          <p:spPr>
            <a:xfrm>
              <a:off x="5706618" y="18792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一个好项目应快速回答四个问题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15000" y="2305050"/>
              <a:ext cx="5867400" cy="2933700"/>
              <a:chOff x="5715000" y="2305050"/>
              <a:chExt cx="5867400" cy="29337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23050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74080" y="24669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规则是什么？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74461" y="2779871"/>
                <a:ext cx="363128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55F70"/>
                    </a:solidFill>
                    <a:latin typeface="Consolas"/>
                    <a:ea typeface="Consolas"/>
                    <a:cs typeface="Consolas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写约束，</a:t>
                </a:r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README.md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写入口。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0" y="33337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0" y="33337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74080" y="34956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代码在哪？怎样验证？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74461" y="3808571"/>
                <a:ext cx="328332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src/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放实现，</a:t>
                </a:r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tests/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放可重复检查。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15000" y="43624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0" y="43624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974080" y="45243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参数、数据与结果怎么管理？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4461" y="4837271"/>
                <a:ext cx="34458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configs/ data/ results/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各司其职。</a:t>
                </a:r>
              </a:p>
            </p:txBody>
          </p:sp>
        </p:grpSp>
        <p:sp>
          <p:nvSpPr>
            <p:cNvPr id="35" name="Rectangle 35"/>
            <p:cNvSpPr/>
            <p:nvPr/>
          </p:nvSpPr>
          <p:spPr>
            <a:xfrm>
              <a:off x="5715000" y="5410200"/>
              <a:ext cx="5867400" cy="495300"/>
            </a:xfrm>
            <a:prstGeom prst="roundRect">
              <a:avLst>
                <a:gd name="adj" fmla="val 7692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99023" y="557736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.gitignore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：排除密钥、缓存、大型原始数据和可再生成文件。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项目规则与可复用技能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两类文件分别解决长期约定和特定任务的操作方法。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agents-column"/>
          <p:cNvGrpSpPr/>
          <p:nvPr/>
        </p:nvGrpSpPr>
        <p:grpSpPr>
          <a:xfrm>
            <a:off x="599313" y="1953101"/>
            <a:ext cx="5058537" cy="3587877"/>
            <a:chOff x="599313" y="1953101"/>
            <a:chExt cx="5058537" cy="3587877"/>
          </a:xfrm>
        </p:grpSpPr>
        <p:sp>
          <p:nvSpPr>
            <p:cNvPr id="6" name="TextBox 6"/>
            <p:cNvSpPr txBox="1"/>
            <p:nvPr/>
          </p:nvSpPr>
          <p:spPr>
            <a:xfrm>
              <a:off x="599313" y="1953101"/>
              <a:ext cx="14237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AGENTS.md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428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项目内持续生效的工作约定。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通常包括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34847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测试与运行命令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903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目录职责和修改范围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4322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数据、提交和删除的限制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47420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完成任务后的汇报要求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123" y="5291614"/>
              <a:ext cx="3638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例如：修改前检查 Git 状态，完成后运行测试。</a:t>
              </a:r>
            </a:p>
          </p:txBody>
        </p:sp>
      </p:grpSp>
      <p:grpSp>
        <p:nvGrpSpPr>
          <p:cNvPr id="27" name="skill-column"/>
          <p:cNvGrpSpPr/>
          <p:nvPr/>
        </p:nvGrpSpPr>
        <p:grpSpPr>
          <a:xfrm>
            <a:off x="6523863" y="1953101"/>
            <a:ext cx="5058537" cy="3664077"/>
            <a:chOff x="6523863" y="1953101"/>
            <a:chExt cx="5058537" cy="3664077"/>
          </a:xfrm>
        </p:grpSpPr>
        <p:sp>
          <p:nvSpPr>
            <p:cNvPr id="16" name="TextBox 16"/>
            <p:cNvSpPr txBox="1"/>
            <p:nvPr/>
          </p:nvSpPr>
          <p:spPr>
            <a:xfrm>
              <a:off x="6523863" y="1953101"/>
              <a:ext cx="77685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Skill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53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针对一类重复任务的操作手册。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53415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7292" y="3073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一个技能目录可以这样组织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755130" y="3476625"/>
              <a:ext cx="1903286" cy="1817370"/>
              <a:chOff x="6755130" y="3476625"/>
              <a:chExt cx="1903286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755130" y="3476625"/>
                <a:ext cx="19032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experiment-audit/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21830" y="3857625"/>
                <a:ext cx="1286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SKILL.md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1830" y="4238625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scripts/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1830" y="4619625"/>
                <a:ext cx="1570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references/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21830" y="500062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└─ assets/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527673" y="5367814"/>
              <a:ext cx="3829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SKILL.md 必需，其余目录按任务需要添加。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8" name="Line 28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098381"/>
              <a:ext cx="289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AGENTS.md 官方文档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Skills 官方文档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2610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AGENTS.md：项目级工作约定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8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开始任务前读取这些文件，确定本次工作的约束。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601218" y="1936432"/>
            <a:ext cx="5247132" cy="3318796"/>
            <a:chOff x="601218" y="1936432"/>
            <a:chExt cx="5247132" cy="3318796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文件放在哪里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338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规则从通用到具体，沿工作目录逐级生效。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62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3043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个人通用约定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9261" y="3027521"/>
              <a:ext cx="1956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~/.codex/AGENTS.md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4004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23" y="3681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整个项目的约定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9261" y="3665696"/>
              <a:ext cx="1842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project/AGENTS.md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43200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局部目录的补充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9261" y="4303871"/>
              <a:ext cx="2578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project/subdir/AGENTS.md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67677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123" y="5005864"/>
              <a:ext cx="3473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进入更深目录时，Codex 会合并适用的规则。</a:t>
              </a:r>
            </a:p>
          </p:txBody>
        </p:sp>
      </p:grpSp>
      <p:grpSp>
        <p:nvGrpSpPr>
          <p:cNvPr id="29" name="content"/>
          <p:cNvGrpSpPr/>
          <p:nvPr/>
        </p:nvGrpSpPr>
        <p:grpSpPr>
          <a:xfrm>
            <a:off x="6487668" y="1936432"/>
            <a:ext cx="5094732" cy="3509296"/>
            <a:chOff x="6487668" y="1936432"/>
            <a:chExt cx="5094732" cy="3509296"/>
          </a:xfrm>
        </p:grpSpPr>
        <p:sp>
          <p:nvSpPr>
            <p:cNvPr id="20" name="TextBox 20"/>
            <p:cNvSpPr txBox="1"/>
            <p:nvPr/>
          </p:nvSpPr>
          <p:spPr>
            <a:xfrm>
              <a:off x="6487668" y="1936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写哪些内容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811" y="23893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项目入口和测试命令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811" y="28179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允许修改的文件和目录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811" y="32465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依赖环境、代码约定与验收标准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6752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原始数据、密钥等保护要求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496050" y="41719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4410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不写入长期规则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192" y="4826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一次性任务、频繁变化的细节和敏感信息。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1963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让每条规则具体到能够执行或检查。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0" name="Line 3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098381"/>
              <a:ext cx="3159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参考教程第八节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5130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 AGENTS.md 示例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下面是一份最小示例：复制后替换项目入口、验证命令与保护目录即可。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agents-example"/>
          <p:cNvGrpSpPr/>
          <p:nvPr/>
        </p:nvGrpSpPr>
        <p:grpSpPr>
          <a:xfrm>
            <a:off x="609600" y="1619250"/>
            <a:ext cx="6705600" cy="4305300"/>
            <a:chOff x="609600" y="1619250"/>
            <a:chExt cx="67056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67056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67056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155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/>
                  <a:ea typeface="Consolas"/>
                  <a:cs typeface="Consolas"/>
                </a:rPr>
                <a:t>project/AGENTS.md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68680" y="2257425"/>
              <a:ext cx="3451250" cy="3181731"/>
              <a:chOff x="868680" y="2257425"/>
              <a:chExt cx="3451250" cy="318173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8680" y="2257425"/>
                <a:ext cx="1288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# AGENTS.md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204" y="2613660"/>
                <a:ext cx="1617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Project context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0704" y="2880360"/>
                <a:ext cx="25902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MATLAB R2024a；入口：main.m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60704" y="3147060"/>
                <a:ext cx="2330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全量测试：tests/run_all.m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204" y="3509010"/>
                <a:ext cx="1884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Working agreements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0704" y="37757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修改前先检查 git status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0704" y="4042410"/>
                <a:ext cx="196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只修改当前任务相关文件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0704" y="430911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不修改 data/raw/，不提交密钥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0204" y="4671060"/>
                <a:ext cx="23284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## Validation and delivery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0704" y="4937760"/>
                <a:ext cx="24191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完成后运行 tests/run_all.m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0704" y="5204460"/>
                <a:ext cx="3259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- 汇报修改文件、测试结果、风险与回退方式</a:t>
                </a: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76300" y="5543550"/>
              <a:ext cx="6172200" cy="228600"/>
            </a:xfrm>
            <a:prstGeom prst="roundRect">
              <a:avLst>
                <a:gd name="adj" fmla="val 16667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747" y="5600224"/>
              <a:ext cx="3162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EBBC1"/>
                  </a:solidFill>
                  <a:latin typeface="Consolas"/>
                  <a:ea typeface="Microsoft YaHei"/>
                  <a:cs typeface="Consolas"/>
                </a:rPr>
                <a:t>保存位置：项目根目录；团队成员与 Codex 共同遵守</a:t>
              </a:r>
            </a:p>
          </p:txBody>
        </p:sp>
      </p:grpSp>
      <p:grpSp>
        <p:nvGrpSpPr>
          <p:cNvPr id="45" name="writing-principles"/>
          <p:cNvGrpSpPr/>
          <p:nvPr/>
        </p:nvGrpSpPr>
        <p:grpSpPr>
          <a:xfrm>
            <a:off x="7620000" y="1619250"/>
            <a:ext cx="3962400" cy="4305300"/>
            <a:chOff x="7620000" y="1619250"/>
            <a:chExt cx="3962400" cy="4305300"/>
          </a:xfrm>
        </p:grpSpPr>
        <p:sp>
          <p:nvSpPr>
            <p:cNvPr id="24" name="Rectangle 24"/>
            <p:cNvSpPr/>
            <p:nvPr/>
          </p:nvSpPr>
          <p:spPr>
            <a:xfrm>
              <a:off x="7620000" y="1619250"/>
              <a:ext cx="3962400" cy="43053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3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三条写作原则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886700" y="2266950"/>
              <a:ext cx="3429000" cy="2647950"/>
              <a:chOff x="7886700" y="2266950"/>
              <a:chExt cx="3429000" cy="2647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22669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2F5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039100" y="2447925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2723" y="2562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02980" y="2409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具体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4504" y="270891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写路径、命令与边界，不写空泛口号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886700" y="320040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1F5F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039100" y="3381375"/>
                <a:ext cx="419100" cy="419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182723" y="3495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02980" y="3343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可执行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04504" y="3642360"/>
                <a:ext cx="1964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Codex 能据此采取明确动作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86700" y="41338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0F3F8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039100" y="4314825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82723" y="4429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02980" y="42767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可验证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04504" y="457581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完成标准能通过测试或检查确认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886700" y="51816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0604" y="5337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先写最常被遗忘、但影响最大的规则。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5593556"/>
              <a:ext cx="28818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规则变化时更新文件，并让 Git 记录原因。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4266" y="6230302"/>
            <a:ext cx="10983468" cy="205359"/>
            <a:chOff x="604266" y="62303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2303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示例思路参考：</a:t>
              </a:r>
              <a:r>
                <a:rPr lang="zh-CN" sz="105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教程第八节：项目指令配置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0353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的结构与调用方式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533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为一类任务保存步骤说明，必要时附带脚本或参考资料。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irectory"/>
          <p:cNvGrpSpPr/>
          <p:nvPr/>
        </p:nvGrpSpPr>
        <p:grpSpPr>
          <a:xfrm>
            <a:off x="601218" y="1917382"/>
            <a:ext cx="4770882" cy="3480721"/>
            <a:chOff x="601218" y="1917382"/>
            <a:chExt cx="4770882" cy="348072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项目中的目录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2817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.agents/skills/experiment-audit/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99" y="3011329"/>
              <a:ext cx="2004743" cy="1984439"/>
              <a:chOff x="830199" y="3011329"/>
              <a:chExt cx="2004743" cy="198443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199" y="3011329"/>
                <a:ext cx="20047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experiment-audit/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7374" y="3430429"/>
                <a:ext cx="13548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SKILL.md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87374" y="3849529"/>
                <a:ext cx="13028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scripts/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7374" y="4268629"/>
                <a:ext cx="16537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├─ references/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7374" y="4687729"/>
                <a:ext cx="11858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└─ assets/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31723" y="5148739"/>
              <a:ext cx="343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SKILL.md 是必需文件，其余内容按需添加。</a:t>
              </a:r>
            </a:p>
          </p:txBody>
        </p:sp>
      </p:grpSp>
      <p:grpSp>
        <p:nvGrpSpPr>
          <p:cNvPr id="27" name="loading"/>
          <p:cNvGrpSpPr/>
          <p:nvPr/>
        </p:nvGrpSpPr>
        <p:grpSpPr>
          <a:xfrm>
            <a:off x="6030468" y="1917382"/>
            <a:ext cx="5551932" cy="2217516"/>
            <a:chOff x="6030468" y="1917382"/>
            <a:chExt cx="5551932" cy="2217516"/>
          </a:xfrm>
        </p:grpSpPr>
        <p:sp>
          <p:nvSpPr>
            <p:cNvPr id="17" name="TextBox 17"/>
            <p:cNvSpPr txBox="1"/>
            <p:nvPr/>
          </p:nvSpPr>
          <p:spPr>
            <a:xfrm>
              <a:off x="6030468" y="1917382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怎样使用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38850" y="23431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1992" y="2606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6061" y="25988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读取名称与描述，确认任务是否匹配。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38850" y="29718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992" y="3235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6061" y="3227546"/>
              <a:ext cx="2468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匹配后读取完整 SKILL.md。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38850" y="36004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1992" y="3864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6061" y="38561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按步骤工作，并检查结果。</a:t>
              </a:r>
            </a:p>
          </p:txBody>
        </p:sp>
      </p:grpSp>
      <p:grpSp>
        <p:nvGrpSpPr>
          <p:cNvPr id="31" name="invocation"/>
          <p:cNvGrpSpPr/>
          <p:nvPr/>
        </p:nvGrpSpPr>
        <p:grpSpPr>
          <a:xfrm>
            <a:off x="6030468" y="4679632"/>
            <a:ext cx="4198346" cy="1020319"/>
            <a:chOff x="6030468" y="4679632"/>
            <a:chExt cx="4198346" cy="1020319"/>
          </a:xfrm>
        </p:grpSpPr>
        <p:sp>
          <p:nvSpPr>
            <p:cNvPr id="28" name="TextBox 28"/>
            <p:cNvSpPr txBox="1"/>
            <p:nvPr/>
          </p:nvSpPr>
          <p:spPr>
            <a:xfrm>
              <a:off x="603046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1992" y="50930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显式：</a:t>
              </a:r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$experiment-audit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1992" y="5435918"/>
              <a:ext cx="4196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任务描述与 Skill 用途吻合时由 Codex 选择。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2" name="Line 3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885" y="6098381"/>
              <a:ext cx="27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OpenAI Skills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3"/>
                </a:rPr>
                <a:t>参考教程第九节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190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示例：实验结果复核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适合反复复现实验、核对指标和生成可追溯摘要的科研任务。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kill-example"/>
          <p:cNvGrpSpPr/>
          <p:nvPr/>
        </p:nvGrpSpPr>
        <p:grpSpPr>
          <a:xfrm>
            <a:off x="609600" y="1619250"/>
            <a:ext cx="5791200" cy="4305300"/>
            <a:chOff x="609600" y="1619250"/>
            <a:chExt cx="5791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7912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7912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3595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/>
                  <a:ea typeface="Consolas"/>
                  <a:cs typeface="Consolas"/>
                </a:rPr>
                <a:t>.agents/skills/experiment-audit/SKILL.md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70585" y="2278856"/>
              <a:ext cx="3200309" cy="3287078"/>
              <a:chOff x="870585" y="2278856"/>
              <a:chExt cx="3200309" cy="328707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70585" y="22788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/>
                    <a:ea typeface="Consolas"/>
                    <a:cs typeface="Consolas"/>
                  </a:rPr>
                  <a:t>---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585" y="2545556"/>
                <a:ext cx="1835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name:</a:t>
                </a:r>
                <a:r>
                  <a:rPr lang="en-US" sz="1120" dirty="0">
                    <a:solidFill>
                      <a:srgbClr val="E8EEF8"/>
                    </a:solidFill>
                    <a:latin typeface="Consolas"/>
                    <a:ea typeface="Consolas"/>
                    <a:cs typeface="Consolas"/>
                  </a:rPr>
                  <a:t xml:space="preserve"> experiment-audit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70585" y="2812256"/>
                <a:ext cx="3200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/>
                    <a:ea typeface="Consolas"/>
                    <a:cs typeface="Consolas"/>
                  </a:rPr>
                  <a:t>description:</a:t>
                </a:r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 xml:space="preserve"> 当任务涉及实验复跑、指标对比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0585" y="304085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或结果复核时使用。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585" y="33075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/>
                    <a:ea typeface="Consolas"/>
                    <a:cs typeface="Consolas"/>
                  </a:rPr>
                  <a:t>---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0585" y="3650456"/>
                <a:ext cx="846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# Workflow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1085" y="39362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1. 读取实验配置与数据说明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1085" y="4202906"/>
                <a:ext cx="2190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2. 记录当前 Git 提交号与环境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4469606"/>
                <a:ext cx="14664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3. 运行最小复现实验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085" y="4736306"/>
                <a:ext cx="20695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4. 与基线指标比较并标记异常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1085" y="50030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/>
                    <a:ea typeface="Microsoft YaHei"/>
                    <a:cs typeface="Consolas"/>
                  </a:rPr>
                  <a:t>5. 生成复核摘要与结果索引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0585" y="534590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B86B"/>
                    </a:solidFill>
                    <a:latin typeface="Consolas"/>
                    <a:ea typeface="Microsoft YaHei"/>
                    <a:cs typeface="Consolas"/>
                  </a:rPr>
                  <a:t>禁止：覆盖原始数据；隐藏失败结果。</a:t>
                </a:r>
              </a:p>
            </p:txBody>
          </p:sp>
        </p:grpSp>
      </p:grpSp>
      <p:grpSp>
        <p:nvGrpSpPr>
          <p:cNvPr id="50" name="audit-flow"/>
          <p:cNvGrpSpPr/>
          <p:nvPr/>
        </p:nvGrpSpPr>
        <p:grpSpPr>
          <a:xfrm>
            <a:off x="6705600" y="1619250"/>
            <a:ext cx="4876800" cy="4305300"/>
            <a:chOff x="6705600" y="1619250"/>
            <a:chExt cx="4876800" cy="4305300"/>
          </a:xfrm>
        </p:grpSpPr>
        <p:sp>
          <p:nvSpPr>
            <p:cNvPr id="23" name="Rectangle 23"/>
            <p:cNvSpPr/>
            <p:nvPr/>
          </p:nvSpPr>
          <p:spPr>
            <a:xfrm>
              <a:off x="6705600" y="1619250"/>
              <a:ext cx="4876800" cy="4305300"/>
            </a:xfrm>
            <a:prstGeom prst="roundRect">
              <a:avLst>
                <a:gd name="adj" fmla="val 8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918" y="1822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执行后应该留下什么？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每一步都对应一个可检查的证据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296150" y="2686050"/>
              <a:ext cx="1" cy="23431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24700" y="2502218"/>
              <a:ext cx="2611857" cy="2911316"/>
              <a:chOff x="7124700" y="2502218"/>
              <a:chExt cx="2611857" cy="291131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12470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46899" y="26217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3142" y="2502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输入可追溯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4285" y="27551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配置文件、数据版本与入口命令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124700" y="31242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46899" y="32313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3142" y="31118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环境可定位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3364706"/>
                <a:ext cx="1931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 提交号、依赖与运行参数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12470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46899" y="38409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13142" y="3721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结果可比较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4285" y="39743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基线、当前指标与允许误差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124700" y="43434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246899" y="4450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31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异常不被掩盖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4285" y="45839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失败步骤、偏差与可能原因</a:t>
                </a: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124700" y="4953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46899" y="50601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13142" y="49406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摘要可以交接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14285" y="51935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结论、证据路径与下一步建议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6972300" y="5524500"/>
              <a:ext cx="4343400" cy="247650"/>
            </a:xfrm>
            <a:prstGeom prst="roundRect">
              <a:avLst>
                <a:gd name="adj" fmla="val 1538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5244" y="5582602"/>
              <a:ext cx="2617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同一个 Skill，可在不同实验目录重复使用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885" y="6222206"/>
            <a:ext cx="10983849" cy="220028"/>
            <a:chOff x="603885" y="6222206"/>
            <a:chExt cx="10983849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603885" y="6222206"/>
              <a:ext cx="6034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调用示例：</a:t>
              </a:r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 xml:space="preserve"> $experiment-audit 复核 results/exp_07，并与 baseline.json 对比。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546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VS Code 中使用 Codex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一次任务按安装、提供上下文、检查结果三个环节完成。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setup"/>
          <p:cNvGrpSpPr/>
          <p:nvPr/>
        </p:nvGrpSpPr>
        <p:grpSpPr>
          <a:xfrm>
            <a:off x="601218" y="1936432"/>
            <a:ext cx="3342132" cy="3715893"/>
            <a:chOff x="601218" y="1936432"/>
            <a:chExt cx="3342132" cy="371589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安装并登录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030394"/>
              <a:ext cx="3333750" cy="129251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2742" y="50930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388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登录后打开实际项目文件夹。</a:t>
              </a:r>
            </a:p>
          </p:txBody>
        </p:sp>
      </p:grpSp>
      <p:grpSp>
        <p:nvGrpSpPr>
          <p:cNvPr id="17" name="task"/>
          <p:cNvGrpSpPr/>
          <p:nvPr/>
        </p:nvGrpSpPr>
        <p:grpSpPr>
          <a:xfrm>
            <a:off x="4277868" y="1936432"/>
            <a:ext cx="3342132" cy="3715893"/>
            <a:chOff x="4277868" y="1936432"/>
            <a:chExt cx="3342132" cy="3715893"/>
          </a:xfrm>
        </p:grpSpPr>
        <p:sp>
          <p:nvSpPr>
            <p:cNvPr id="12" name="TextBox 12"/>
            <p:cNvSpPr txBox="1"/>
            <p:nvPr/>
          </p:nvSpPr>
          <p:spPr>
            <a:xfrm>
              <a:off x="4277868" y="1936432"/>
              <a:ext cx="1383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说明任务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28625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9365" y="2533650"/>
              <a:ext cx="2807521" cy="2286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279392" y="5093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在侧边栏交代目标和修改范围，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392" y="5388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同时写明完成标准。</a:t>
              </a:r>
            </a:p>
          </p:txBody>
        </p:sp>
      </p:grpSp>
      <p:grpSp>
        <p:nvGrpSpPr>
          <p:cNvPr id="23" name="review"/>
          <p:cNvGrpSpPr/>
          <p:nvPr/>
        </p:nvGrpSpPr>
        <p:grpSpPr>
          <a:xfrm>
            <a:off x="7954518" y="1936432"/>
            <a:ext cx="3627882" cy="3715893"/>
            <a:chOff x="7954518" y="1936432"/>
            <a:chExt cx="3627882" cy="3715893"/>
          </a:xfrm>
        </p:grpSpPr>
        <p:sp>
          <p:nvSpPr>
            <p:cNvPr id="18" name="TextBox 18"/>
            <p:cNvSpPr txBox="1"/>
            <p:nvPr/>
          </p:nvSpPr>
          <p:spPr>
            <a:xfrm>
              <a:off x="7954518" y="1936432"/>
              <a:ext cx="2272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补充上下文并审查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962900" y="23431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3463" y="2533650"/>
              <a:ext cx="2898375" cy="2286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956042" y="5093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引用相关文件、选区或报错，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6042" y="538829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结束后检查 diff 与测试结果。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5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6"/>
                </a:rPr>
                <a:t>VS Code 使用参考教程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7960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的分布式版本管理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49179"/>
              <a:ext cx="64507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 管理版本与历史；GitHub、GitLab 等平台负责远程托管与协作。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it-definition"/>
          <p:cNvGrpSpPr/>
          <p:nvPr/>
        </p:nvGrpSpPr>
        <p:grpSpPr>
          <a:xfrm>
            <a:off x="597408" y="2064068"/>
            <a:ext cx="4546092" cy="3689032"/>
            <a:chOff x="597408" y="2064068"/>
            <a:chExt cx="4546092" cy="3689032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064068"/>
              <a:ext cx="2876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24650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8651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3448050"/>
              <a:ext cx="4533900" cy="89535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961" y="3627596"/>
              <a:ext cx="1159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≠ GitHub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950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552950"/>
              <a:ext cx="4533900" cy="1200150"/>
            </a:xfrm>
            <a:prstGeom prst="roundRect">
              <a:avLst>
                <a:gd name="adj" fmla="val 317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961" y="4761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离线也能提交与查看历史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5093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一次提交保存项目状态快照及其父子关系，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不是随手复制一个新文件夹。</a:t>
              </a:r>
            </a:p>
          </p:txBody>
        </p:sp>
      </p:grpSp>
      <p:grpSp>
        <p:nvGrpSpPr>
          <p:cNvPr id="20" name="distributed-diagram"/>
          <p:cNvGrpSpPr/>
          <p:nvPr/>
        </p:nvGrpSpPr>
        <p:grpSpPr>
          <a:xfrm>
            <a:off x="5562600" y="1790700"/>
            <a:ext cx="6019800" cy="3962400"/>
            <a:chOff x="5562600" y="1790700"/>
            <a:chExt cx="6019800" cy="3962400"/>
          </a:xfrm>
        </p:grpSpPr>
        <p:sp>
          <p:nvSpPr>
            <p:cNvPr id="17" name="Rectangle 17"/>
            <p:cNvSpPr/>
            <p:nvPr/>
          </p:nvSpPr>
          <p:spPr>
            <a:xfrm>
              <a:off x="5562600" y="1790700"/>
              <a:ext cx="6019800" cy="39624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34050" y="2038350"/>
              <a:ext cx="5676900" cy="32004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463284" y="5414010"/>
              <a:ext cx="4218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集中式依赖中心节点；分布式 Git 的每个克隆都包含历史。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885" y="6107906"/>
            <a:ext cx="10983849" cy="220028"/>
            <a:chOff x="603885" y="6107906"/>
            <a:chExt cx="10983849" cy="220028"/>
          </a:xfrm>
        </p:grpSpPr>
        <p:sp>
          <p:nvSpPr>
            <p:cNvPr id="21" name="TextBox 21"/>
            <p:cNvSpPr txBox="1"/>
            <p:nvPr/>
          </p:nvSpPr>
          <p:spPr>
            <a:xfrm>
              <a:off x="603885" y="6107906"/>
              <a:ext cx="10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3"/>
                </a:rPr>
                <a:t>Git 教程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116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的四个工作位置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工作区、暂存区、本地仓库和远程仓库承担不同的工作。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609600" y="243840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add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commit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git push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/>
                  <a:ea typeface="Consolas"/>
                  <a:cs typeface="Consolas"/>
                </a:rPr>
                <a:t>git pull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5151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看位置　·　</a:t>
              </a:r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看差异　·　</a:t>
              </a:r>
              <a:r>
                <a:rPr lang="en-US" sz="1280" dirty="0">
                  <a:solidFill>
                    <a:srgbClr val="355F70"/>
                  </a:solidFill>
                  <a:latin typeface="Consolas"/>
                  <a:ea typeface="Consolas"/>
                  <a:cs typeface="Consolas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看历史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831342" y="5826442"/>
            <a:ext cx="10756392" cy="647319"/>
            <a:chOff x="831342" y="5826442"/>
            <a:chExt cx="10756392" cy="647319"/>
          </a:xfrm>
        </p:grpSpPr>
        <p:sp>
          <p:nvSpPr>
            <p:cNvPr id="42" name="TextBox 42"/>
            <p:cNvSpPr txBox="1"/>
            <p:nvPr/>
          </p:nvSpPr>
          <p:spPr>
            <a:xfrm>
              <a:off x="831342" y="5826442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暂存区的价值：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先选择“这次要提交什么”，再固化历史。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215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的日常操作顺序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6" name="Line 6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pull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status / git diff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/>
                    <a:ea typeface="Consolas"/>
                    <a:cs typeface="Consolas"/>
                  </a:rPr>
                  <a:t>git add &lt;files&gt;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527A75"/>
                    </a:solidFill>
                    <a:latin typeface="Consolas"/>
                    <a:ea typeface="Microsoft YaHei"/>
                    <a:cs typeface="Consolas"/>
                  </a:rPr>
                  <a:t>git commit -m "说明原因"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git push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</a:p>
            </p:txBody>
          </p:sp>
        </p:grpSp>
      </p:grpSp>
      <p:grpSp>
        <p:nvGrpSpPr>
          <p:cNvPr id="45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3" name="Rectangle 33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8696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status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modified: configs/baseline.yaml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diff --stat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 files changed, 18 insertions(+)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/>
                    <a:ea typeface="Consolas"/>
                    <a:cs typeface="Consolas"/>
                  </a:rPr>
                  <a:t>$ git add configs/baseline.yaml src/run.m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$ git commit -m "Fix baseline seed handling"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/>
                    <a:ea typeface="Consolas"/>
                    <a:cs typeface="Consolas"/>
                  </a:rPr>
                  <a:t>[experiment-fix 6f2a1c9] committed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</a:p>
          </p:txBody>
        </p:sp>
      </p:grpSp>
      <p:grpSp>
        <p:nvGrpSpPr>
          <p:cNvPr id="48" name="risk-warning"/>
          <p:cNvGrpSpPr/>
          <p:nvPr/>
        </p:nvGrpSpPr>
        <p:grpSpPr>
          <a:xfrm>
            <a:off x="831342" y="5816918"/>
            <a:ext cx="10756392" cy="694943"/>
            <a:chOff x="831342" y="5816918"/>
            <a:chExt cx="10756392" cy="694943"/>
          </a:xfrm>
        </p:grpSpPr>
        <p:sp>
          <p:nvSpPr>
            <p:cNvPr id="46" name="TextBox 46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3028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Git 管理科研实验版本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experiment-branches"/>
          <p:cNvGrpSpPr/>
          <p:nvPr/>
        </p:nvGrpSpPr>
        <p:grpSpPr>
          <a:xfrm>
            <a:off x="609600" y="2015014"/>
            <a:ext cx="7257161" cy="3814286"/>
            <a:chOff x="609600" y="2015014"/>
            <a:chExt cx="7257161" cy="3814286"/>
          </a:xfrm>
        </p:grpSpPr>
        <p:sp>
          <p:nvSpPr>
            <p:cNvPr id="6" name="Line 6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基线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实验 A · config-a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实验 B · config-b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验证后合并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4857750"/>
              <a:ext cx="7239000" cy="971550"/>
            </a:xfrm>
            <a:prstGeom prst="roundRect">
              <a:avLst>
                <a:gd name="adj" fmla="val 392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5054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一个提交应同时指向三类证据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53787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代码与配置变化　·　环境与数据获取说明　·　指标摘要或结果索引</a:t>
              </a:r>
            </a:p>
          </p:txBody>
        </p:sp>
      </p:grpSp>
      <p:grpSp>
        <p:nvGrpSpPr>
          <p:cNvPr id="46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1980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应该追踪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231171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源代码与评估脚本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9594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数据获取说明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328326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图表生成方法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5904" y="5471160"/>
              <a:ext cx="3083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结果目录保留 README、指标摘要或索引。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3944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与 Git 的协作流程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每一步明确负责者，也留下可检查的记录。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column-headings"/>
          <p:cNvGrpSpPr/>
          <p:nvPr/>
        </p:nvGrpSpPr>
        <p:grpSpPr>
          <a:xfrm>
            <a:off x="603123" y="1957864"/>
            <a:ext cx="10979277" cy="375761"/>
            <a:chOff x="603123" y="1957864"/>
            <a:chExt cx="10979277" cy="375761"/>
          </a:xfrm>
        </p:grpSpPr>
        <p:sp>
          <p:nvSpPr>
            <p:cNvPr id="6" name="TextBox 6"/>
            <p:cNvSpPr txBox="1"/>
            <p:nvPr/>
          </p:nvSpPr>
          <p:spPr>
            <a:xfrm>
              <a:off x="603123" y="19578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环节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79773" y="1957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主体或工具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70523" y="1957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应留下的记录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35" name="workflow-table"/>
          <p:cNvGrpSpPr/>
          <p:nvPr/>
        </p:nvGrpSpPr>
        <p:grpSpPr>
          <a:xfrm>
            <a:off x="602361" y="2608421"/>
            <a:ext cx="10980039" cy="3192304"/>
            <a:chOff x="602361" y="2608421"/>
            <a:chExt cx="10980039" cy="3192304"/>
          </a:xfrm>
        </p:grpSpPr>
        <p:sp>
          <p:nvSpPr>
            <p:cNvPr id="11" name="TextBox 11"/>
            <p:cNvSpPr txBox="1"/>
            <p:nvPr/>
          </p:nvSpPr>
          <p:spPr>
            <a:xfrm>
              <a:off x="602361" y="26084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定义任务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79011" y="26084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69761" y="2608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目标、相关文件、验收条件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2933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2361" y="3179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记录基线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011" y="3179921"/>
              <a:ext cx="2871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9761" y="31799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当前分支、提交号、工作区状态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3505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361" y="3751421"/>
              <a:ext cx="1371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执行与验证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9011" y="3751421"/>
              <a:ext cx="546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9761" y="3751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修改文件、运行或测试结果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076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2361" y="4322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审查变化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9011" y="4322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761" y="4322921"/>
              <a:ext cx="22988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diff、指标变化和潜在风险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4648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2361" y="4894421"/>
              <a:ext cx="1371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提交与同步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79011" y="4894421"/>
              <a:ext cx="2871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9761" y="4894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当前任务的提交和远程记录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2361" y="5465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　关联实验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79011" y="546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9761" y="5465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提交号、配置和结果索引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5791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8" name="footer"/>
          <p:cNvGrpSpPr/>
          <p:nvPr/>
        </p:nvGrpSpPr>
        <p:grpSpPr>
          <a:xfrm>
            <a:off x="603504" y="6137910"/>
            <a:ext cx="10984230" cy="234696"/>
            <a:chOff x="603504" y="6137910"/>
            <a:chExt cx="10984230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1379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人工审查决定哪些变化可以进入正式实验记录。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21580" y="61541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科研项目中的三项基本检查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一次任务完成后，用下面三项核对结果。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checks"/>
          <p:cNvGrpSpPr/>
          <p:nvPr/>
        </p:nvGrpSpPr>
        <p:grpSpPr>
          <a:xfrm>
            <a:off x="596646" y="2125028"/>
            <a:ext cx="10985754" cy="2837497"/>
            <a:chOff x="596646" y="2125028"/>
            <a:chExt cx="10985754" cy="2837497"/>
          </a:xfrm>
        </p:grpSpPr>
        <p:sp>
          <p:nvSpPr>
            <p:cNvPr id="6" name="TextBox 6"/>
            <p:cNvSpPr txBox="1"/>
            <p:nvPr/>
          </p:nvSpPr>
          <p:spPr>
            <a:xfrm>
              <a:off x="596646" y="2125028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08582" y="21736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54499" y="2230279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目标、修改范围与完成标准是否清楚？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724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6646" y="3239452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8582" y="32880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验证证据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54499" y="3344704"/>
              <a:ext cx="41104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是否检查 diff、运行测试并核对实验结果？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838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6646" y="4353878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08582" y="4402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版本记录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4499" y="4459129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是否只提交任务文件，并记录提交号？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next-step"/>
          <p:cNvGrpSpPr/>
          <p:nvPr/>
        </p:nvGrpSpPr>
        <p:grpSpPr>
          <a:xfrm>
            <a:off x="602361" y="5664518"/>
            <a:ext cx="10985373" cy="594455"/>
            <a:chOff x="602361" y="5664518"/>
            <a:chExt cx="10985373" cy="594455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开始练习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2361" y="5980271"/>
              <a:ext cx="6138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选一个已有科研脚本，完成一次小修改，核对结果后用 Git 留下检查点。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21580" y="6020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2026-09-21T07:26:10Z</dcterms:created>
  <dcterms:modified xsi:type="dcterms:W3CDTF">2026-09-21T07:26:10Z</dcterms:modified>
  <cp:category/>
  <cp:contentStatus/>
</cp:coreProperties>
</file>