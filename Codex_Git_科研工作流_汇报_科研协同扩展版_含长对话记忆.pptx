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79" r:id="rId11"/>
    <p:sldId id="263" r:id="rId12"/>
    <p:sldId id="264" r:id="rId13"/>
    <p:sldId id="283" r:id="rId14"/>
    <p:sldId id="265" r:id="rId15"/>
    <p:sldId id="266" r:id="rId16"/>
    <p:sldId id="267" r:id="rId17"/>
    <p:sldId id="268" r:id="rId18"/>
    <p:sldId id="280" r:id="rId19"/>
    <p:sldId id="278" r:id="rId20"/>
    <p:sldId id="272" r:id="rId21"/>
    <p:sldId id="271" r:id="rId22"/>
    <p:sldId id="273" r:id="rId23"/>
    <p:sldId id="274" r:id="rId24"/>
    <p:sldId id="275" r:id="rId25"/>
    <p:sldId id="282" r:id="rId2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1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这次汇报不把 Codex、VS Code 和 Git 当作三个零散工具，而是把它们串成一条从想法到可复现结果的工作路径。Codex 负责理解任务并执行修改，VS Code 提供观察代码、终端和差异的工作区，Git 负责记录、比较与恢复。我们会先讲 Codex，再讲 Git，最后把两者组合成科研工作流。衡量这套工具链的标准不是代码产生得多快，而是研究结果是否更可靠、更容易复查。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用同一个 MATLAB 任务看，两者的差别会更直观。如果我在普通 ChatGPT 对话中问“扩展卡尔曼滤波是什么，给一段示例代码”，通常得到的是原理说明和参考代码。接下来还要由我判断代码能否用于当前项目，把它放到合适的位置并运行验证。交给 Codex 的任务可以更具体：请它读当前工程，找到定位模块里的状态更新函数，在保持输入输出接口不变的前提下修改文件、补充测试，再说明修改了哪些文件以及测试结果。Codex 能进入授权范围内的真实项目执行这些步骤，也能查看 Git 差异。但这不等于改动自动正确，最后仍要由人检查代码和验证结果。这里的表述依据《Codex 是什么与基本使用教程》第一部分第 1、2 小节。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的价值不只是补出一段代码，而是围绕任务完成一个可验证的闭环。它从明确目标开始，读取项目和规则，拆解计划，修改文件，运行测试或检查，再审查差异并汇报结果。如果验证失败，就回到修改环节，而不是把未验证的代码直接交付。右侧的状态窗口强调了最终应看到的证据：测试通过、变更文件清楚，而且差异已经准备好供人审查。人在入口确认范围，在出口核对风险、证据和完成标准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项目没有一种神秘或唯一的目录格式，关键是让人和工具都能迅速定位规则、实现与验证。项目根目录里，AGENTS.md 说明执行约束，README.md 提供入口，src 放实现，tests 放可重复检查。configs、data、results 和 docs 分别管理参数、数据约定、输出与方法记录。依赖文件用于锁定环境，.gitignore 则排除密钥、缓存、大型原始数据和可以重新生成的文件。目录结构的目的不是显得专业，而是让规则是什么、代码在哪、怎样运行、如何验证和结果放哪都能被快速回答。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当项目规则稳定后，不必在每次对话里重新解释。AGENTS.md 适合记录测试命令、目录约定、提交规则、禁止事项和必要的领域背景，它回答的是这个项目始终应该怎么做。Skill 则把边界清楚、会重复出现的多步骤方法封装起来，核心是 SKILL.md，也可以配套脚本、参考资料和资源。Codex 执行任务时，一边遵守项目规则，一边在适用时调用可复用流程。接下来分别展开这两种机制，并给出可以直接迁移到科研项目中的示例。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AGENTS.md 可以理解为项目内长期有效的“协作说明书”，Codex 会在开始工作前读取它。全局文件适合放个人通用习惯，仓库根目录适合放整个项目的规则，更深目录中的文件则补充局部约束；从项目根目录到当前工作目录的规则会依次合并，位置越近的说明越具体。内容应优先写成可以执行和检查的规则，例如入口命令、测试方式、禁止修改的目录以及交付要求。临时任务、一次性背景和密钥不适合放进长期规则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这份示例把科研项目中容易口头遗漏的约定写成了明确规则。它先说明 MATLAB 版本和程序入口，再要求修改前检查 Git 状态、只处理当前任务文件、不要改动原始数据，最后规定必须运行的测试和汇报内容。好的 AGENTS.md 不追求面面俱到，而是做到具体、可执行、可验证。项目成员和 Codex 因而能用同一套标准判断任务是否真正完成。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这份示例把科研项目中容易口头遗漏的约定写成了明确规则。它先说明 MATLAB 版本和程序入口，再要求修改前检查 Git 状态、只处理当前任务文件、不要改动原始数据，最后规定必须运行的测试和汇报内容。好的 AGENTS.md 不追求面面俱到，而是做到具体、可执行、可验证。项目成员和 Codex 因而能用同一套标准判断任务是否真正完成。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Skill 是针对某一类任务的可复用工作手册，一个技能目录至少包含 SKILL.md，也可以配套脚本、参考资料和素材。Codex 通常先看到技能的名称和描述，判断任务匹配后再加载完整说明，这样既能复用专业流程，又不会把所有细节一次性塞进上下文。项目级技能可以放在 .agents/skills 下，通过美元符号加技能名显式调用，也可以依靠描述自动匹配。AGENTS.md 管整个项目的长期规则，Skill 则服务于边界清楚、会反复出现的具体任务。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这里把“实验结果复核”封装成一个最小技能。SKILL.md 用名称和描述说明什么时候使用，再规定读取配置、记录 Git 提交号、最小复现实验、比较指标和生成摘要的顺序，并明确禁止覆盖原始数据或跳过失败结果。使用时可以显式输入技能名和实验目录，也可以让 Codex 根据任务描述自动匹配。这样，同一套复核步骤能在不同实验和不同成员之间重复执行，输出也更容易比较。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这里把“实验结果复核”封装成一个最小技能。SKILL.md 用名称和描述说明什么时候使用，再规定读取配置、记录 Git 提交号、最小复现实验、比较指标和生成摘要的顺序，并明确禁止覆盖原始数据或跳过失败结果。使用时可以显式输入技能名和实验目录，也可以让 Codex 根据任务描述自动匹配。这样，同一套复核步骤能在不同实验和不同成员之间重复执行，输出也更容易比较。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科研任务常常从论文讨论走到推导、代码实验，再过一段时间回头讨论。Codex 当前能直接利用的对话上下文有边界；压缩可以保留继续工作所需的关键状态，但不等于逐字保留早期的每个前提和实验设置。所以长聊天可以帮助推进研究，却不适合作为唯一的科研档案。关键推导、参数和路线判断需要另外记录，之后才能重新核对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不必把整段聊天复制成文档，重点是保存已经核对过的结论及其依据。算法文档写清问题、假设、推导和适用条件；实验记录写清数据、配置、随机种子、评价指标、结果及对应的 Git 提交；研究判断还要区分证实的结论与待验证的猜想。项目中的例子是全局优化后某些残差下降，但基站定位误差没有同步改善。这两项观察必须一起记录，不能只写局部指标变好了。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下一轮研究开始时，先明确请 Codex 读取哪些文档；普通项目文档不会保证自动进入新聊天。随后核对当前代码、实验配置和 Git 提交，先复述哪些结论已经证实，哪些仍是假设，再继续推导或实验。完成后把新结果和失败原因写回记录，形成可以反复接续的循环。AGENTS.md 可以规定阅读入口，但原始代码、实验结果和论文仍是核验结论的依据。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第一次在 VS Code 中使用 Codex，可以沿着三步完成。先安装或启用扩展、登录账号，并打开真实项目；然后打开 Codex 侧边栏，用目标、范围和完成标准描述任务；最后引用相关文件、选区或报错，让上下文足够精确。任务完成后，不只看一段摘要，还要检查差异和测试结果。对于真实科研项目，建议在任务前后建立 Git 检查点，这样每一次 AI 修改都有基线、有证据，也能够恢复。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第一次在 VS Code 中使用 Codex，可以沿着三步完成。先安装或启用扩展、登录账号，并打开真实项目；然后打开 Codex 侧边栏，用目标、范围和完成标准描述任务；最后引用相关文件、选区或报错，让上下文足够精确。任务完成后，不只看一段摘要，还要检查差异和测试结果。对于真实科研项目，建议在任务前后建立 Git 检查点，这样每一次 AI 修改都有基线、有证据，也能够恢复。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理解 Git 的关键，是知道文件当前位于哪一个位置。工作区是正在编辑的文件，git add 把选中的变化送到暂存区，暂存区决定本次提交包含什么。git commit 再把这批内容固化为本地仓库中的历史，只有 git push 和 git pull 才涉及远程仓库的同步。平时用 git status 看状态，用 git diff 看具体差异，用 git log 看历史。暂存区最重要的价值，是先选择这一次要提交什么，再生成一个清楚的检查点。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科研项目里的版本历史，应该帮助我们回答这次实验为什么与上一次不同。一个研究假设或修复可以对应一个短分支，在分支中同时修改代码和配置，验证后再合并。提交应能关联代码与配置变化、环境和数据获取说明，以及指标摘要或结果索引。源代码、配置、依赖、评估脚本和图表生成方法适合追踪；密钥、缓存、临时文件、大型原始数据和可重新生成的输出应忽略或交给专门机制管理。结果目录可以保留 README、指标摘要或索引，让提交真正指向实验记录。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日常操作不需要记住大量命令，只要坚持一条安全循环。开始前用 git pull 同步更新，完成一个边界清楚的小修改并测试，然后用 git status 和 git diff 检查范围。接着只用 git add 暂存当前任务相关文件，用提交信息说明为什么改变，最后 git push 到对应远程分支。右侧终端示例显示了一次可解释的小提交：配置和代码变化明确，提交信息也能说明原因。没有理解影响之前，不要使用会覆盖历史或丢失修改的强制命令。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科研通常不是从选定一篇论文到完成实现的直线。我们先遇到一个具体问题，再找方法、按原条件复现，最后才检验它是否适合自己的系统。只要输入条件不具备，或者最终指标没有改善，就需要回头检查问题定义、论文假设或实现细节。比如我们曾看到全局优化的某些残差下降，但基站定位误差并没有同步改善，这时不能只凭局部结果继续加约束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可以把一篇论文的观测模型、变量和前提整理成清单，再逐项核对项目是否真的有这些输入。对有希望的方法，先让它协助搭建最小复现实验，解释与原文不一致的地方，不要一开始就把项目改造混进去。随后再接入现有模块，并用同样的数据和指标与基线比较。整个过程要把代码、配置、结果和失败原因留下来；是否采纳方法仍由研究者判断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这里有两种不同层次的分支。Codex 的聊天分叉会保留分叉点之前的讨论历史，此后新旧聊天各自继续；Git 分支则记录某个起始提交之后各自的代码和文档变化。我们可以让聊天 A 对应原算法的 Git 分支，让聊天 B 对应改造算法的 Git 分支，但这个对应关系需要主动建立。聊天分叉不会自动创建或切换 Git 分支；即使讨论互不串扰，同一目录中的文件也不会因此自动隔离。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可以把一篇论文的观测模型、变量和前提整理成清单，再逐项核对项目是否真的有这些输入。对有希望的方法，先让它协助搭建最小复现实验，解释与原文不一致的地方，不要一开始就把项目改造混进去。随后再接入现有模块，并用同样的数据和指标与基线比较。整个过程要把代码、配置、结果和失败原因留下来；是否采纳方法仍由研究者判断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dex_git_semina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learn.chatgpt.com/docs/build-skills" TargetMode="External"/><Relationship Id="rId1" Type="http://schemas.openxmlformats.org/officeDocument/2006/relationships/hyperlink" Target="https://learn.chatgpt.com/docs/agent-configuration/agents-md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jishuzhan.net/article/2053301309797892098" TargetMode="External"/><Relationship Id="rId1" Type="http://schemas.openxmlformats.org/officeDocument/2006/relationships/hyperlink" Target="https://learn.chatgpt.com/docs/agent-configuration/agents-m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jishuzhan.net/article/2053301309797892098" TargetMode="Externa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jishuzhan.net/article/2053301309797892098" TargetMode="External"/><Relationship Id="rId1" Type="http://schemas.openxmlformats.org/officeDocument/2006/relationships/hyperlink" Target="https://learn.chatgpt.com/docs/build-skills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13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7.png"/><Relationship Id="rId21" Type="http://schemas.openxmlformats.org/officeDocument/2006/relationships/image" Target="../media/image4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codexguide.ai/start/13-ide-vscode.html" TargetMode="External"/><Relationship Id="rId4" Type="http://schemas.openxmlformats.org/officeDocument/2006/relationships/hyperlink" Target="https://learn.chatgpt.com/docs/codex/ide" TargetMode="Externa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hyperlink" Target="https://codexguide.ai/start/13-ide-vscode.html" TargetMode="External"/><Relationship Id="rId1" Type="http://schemas.openxmlformats.org/officeDocument/2006/relationships/hyperlink" Target="https://learn.chatgpt.com/docs/codex/ide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5" Type="http://schemas.openxmlformats.org/officeDocument/2006/relationships/notesSlide" Target="../notesSlides/notesSlide20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43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1" Type="http://schemas.openxmlformats.org/officeDocument/2006/relationships/notesSlide" Target="../notesSlides/notesSlide21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45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2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label"/>
          <p:cNvGrpSpPr/>
          <p:nvPr/>
        </p:nvGrpSpPr>
        <p:grpSpPr>
          <a:xfrm>
            <a:off x="831342" y="825818"/>
            <a:ext cx="10529316" cy="264033"/>
            <a:chOff x="831342" y="825818"/>
            <a:chExt cx="105293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831342" y="825818"/>
              <a:ext cx="170497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课题组</a:t>
              </a:r>
              <a:r>
                <a:rPr lang="en-US" alt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</a:t>
              </a:r>
              <a:r>
                <a:rPr alt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使用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方法交流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647255" y="825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2026.09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cover-title"/>
          <p:cNvGrpSpPr/>
          <p:nvPr/>
        </p:nvGrpSpPr>
        <p:grpSpPr>
          <a:xfrm>
            <a:off x="819150" y="2404110"/>
            <a:ext cx="6229140" cy="1682115"/>
            <a:chOff x="819150" y="2404110"/>
            <a:chExt cx="6229140" cy="1682115"/>
          </a:xfrm>
        </p:grpSpPr>
        <p:sp>
          <p:nvSpPr>
            <p:cNvPr id="5" name="TextBox 5"/>
            <p:cNvSpPr txBox="1"/>
            <p:nvPr/>
          </p:nvSpPr>
          <p:spPr>
            <a:xfrm>
              <a:off x="819150" y="2404110"/>
              <a:ext cx="6229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Codex、VS Code 与 Git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3217545"/>
              <a:ext cx="476326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在科研项目中的使用</a:t>
              </a:r>
              <a:endParaRPr lang="zh-CN" sz="39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4076700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1" name="cover-description"/>
          <p:cNvGrpSpPr/>
          <p:nvPr/>
        </p:nvGrpSpPr>
        <p:grpSpPr>
          <a:xfrm>
            <a:off x="828675" y="4807744"/>
            <a:ext cx="3562248" cy="994029"/>
            <a:chOff x="828675" y="4807744"/>
            <a:chExt cx="3562248" cy="994029"/>
          </a:xfrm>
        </p:grpSpPr>
        <p:sp>
          <p:nvSpPr>
            <p:cNvPr id="9" name="TextBox 9"/>
            <p:cNvSpPr txBox="1"/>
            <p:nvPr/>
          </p:nvSpPr>
          <p:spPr>
            <a:xfrm>
              <a:off x="828675" y="4807744"/>
              <a:ext cx="35622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465861"/>
                  </a:solidFill>
                  <a:latin typeface="+mn-lt"/>
                  <a:ea typeface="+mn-ea"/>
                  <a:cs typeface="+mn-cs"/>
                </a:rPr>
                <a:t>项目约定、任务执行与版本记录</a:t>
              </a:r>
              <a:endParaRPr lang="zh-CN" sz="1880" dirty="0">
                <a:solidFill>
                  <a:srgbClr val="4658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552307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结合科研代码的日常维护与实验复现</a:t>
              </a:r>
              <a:endPara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421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ChatGPT 与 Codex 的工作方式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22032"/>
              <a:ext cx="43108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以同一个 MATLAB 扩展卡尔曼滤波任务为例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chatgpt-column"/>
          <p:cNvGrpSpPr/>
          <p:nvPr/>
        </p:nvGrpSpPr>
        <p:grpSpPr>
          <a:xfrm>
            <a:off x="598932" y="1887855"/>
            <a:ext cx="4639818" cy="3444240"/>
            <a:chOff x="598932" y="1887855"/>
            <a:chExt cx="4639818" cy="3444240"/>
          </a:xfrm>
        </p:grpSpPr>
        <p:sp>
          <p:nvSpPr>
            <p:cNvPr id="6" name="TextBox 6"/>
            <p:cNvSpPr txBox="1"/>
            <p:nvPr/>
          </p:nvSpPr>
          <p:spPr>
            <a:xfrm>
              <a:off x="598932" y="1887855"/>
              <a:ext cx="2515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 ChatGPT 对话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3964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解释原理，给出参考代码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86075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0" y="0"/>
                  </a:moveTo>
                  <a:lnTo>
                    <a:pt x="46291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168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你可以这样问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3574732"/>
              <a:ext cx="30657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“请解释扩展卡尔曼滤波的原理，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并给一段 MATLAB 示例代码。”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4733925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得到原理说明和示例代码；</a:t>
              </a:r>
              <a:b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还需要自己放进项目并验证。</a:t>
              </a:r>
              <a:endParaRPr lang="zh-CN" sz="1500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codex-column"/>
          <p:cNvGrpSpPr/>
          <p:nvPr/>
        </p:nvGrpSpPr>
        <p:grpSpPr>
          <a:xfrm>
            <a:off x="6104382" y="1887855"/>
            <a:ext cx="5478018" cy="3444240"/>
            <a:chOff x="6104382" y="1887855"/>
            <a:chExt cx="5478018" cy="3444240"/>
          </a:xfrm>
        </p:grpSpPr>
        <p:sp>
          <p:nvSpPr>
            <p:cNvPr id="13" name="TextBox 13"/>
            <p:cNvSpPr txBox="1"/>
            <p:nvPr/>
          </p:nvSpPr>
          <p:spPr>
            <a:xfrm>
              <a:off x="6104382" y="18878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</a:t>
              </a:r>
              <a:endParaRPr lang="en-US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05906" y="23964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读取当前项目，修改并验证代码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6115050" y="2886075"/>
              <a:ext cx="5467350" cy="9525"/>
            </a:xfrm>
            <a:custGeom>
              <a:avLst/>
              <a:gdLst/>
              <a:ahLst/>
              <a:cxnLst/>
              <a:rect l="l" t="t" r="r" b="b"/>
              <a:pathLst>
                <a:path w="5467350" h="9525">
                  <a:moveTo>
                    <a:pt x="0" y="0"/>
                  </a:moveTo>
                  <a:lnTo>
                    <a:pt x="5467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08192" y="3168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你可以这样交代任务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6668" y="3574732"/>
              <a:ext cx="357911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“请找到定位模块的状态更新函数，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加入扩展卡尔曼滤波，保持接口不变，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补充测试并说明修改了哪些文件。”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07430" y="4733925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得到真实文件改动、测试结果</a:t>
              </a:r>
              <a:b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和可供审查的 Git 差异。</a:t>
              </a:r>
              <a:endParaRPr lang="zh-CN" sz="1500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2742" y="5829300"/>
            <a:ext cx="10984992" cy="463487"/>
            <a:chOff x="602742" y="5829300"/>
            <a:chExt cx="10984992" cy="463487"/>
          </a:xfrm>
        </p:grpSpPr>
        <p:sp>
          <p:nvSpPr>
            <p:cNvPr id="20" name="Line 20"/>
            <p:cNvSpPr/>
            <p:nvPr/>
          </p:nvSpPr>
          <p:spPr>
            <a:xfrm>
              <a:off x="609600" y="5829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742" y="6035992"/>
              <a:ext cx="68770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可以在授权项目内执行任务；最终改动仍需人工检查，不能完全相信</a:t>
              </a:r>
              <a:r>
                <a:rPr lang="en-US" alt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</a:t>
              </a:r>
              <a:r>
                <a:rPr alt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的输出结果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1580" y="6087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46405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处理任务的基本流程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4108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一次代码任务通常包括读取项目、修改文件、运行检查和审查差异。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50" name="execution-loop"/>
          <p:cNvGrpSpPr/>
          <p:nvPr/>
        </p:nvGrpSpPr>
        <p:grpSpPr>
          <a:xfrm>
            <a:off x="591439" y="2259806"/>
            <a:ext cx="7828661" cy="3302794"/>
            <a:chOff x="591439" y="2259806"/>
            <a:chExt cx="7828661" cy="3302794"/>
          </a:xfrm>
        </p:grpSpPr>
        <p:sp>
          <p:nvSpPr>
            <p:cNvPr id="6" name="Line 6"/>
            <p:cNvSpPr/>
            <p:nvPr/>
          </p:nvSpPr>
          <p:spPr>
            <a:xfrm>
              <a:off x="1009650" y="3238500"/>
              <a:ext cx="6896100" cy="1"/>
            </a:xfrm>
            <a:prstGeom prst="line">
              <a:avLst/>
            </a:prstGeom>
            <a:noFill/>
            <a:ln w="47625" cap="rnd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91439" y="2952750"/>
              <a:ext cx="7732522" cy="1178528"/>
              <a:chOff x="591439" y="2952750"/>
              <a:chExt cx="7732522" cy="1178528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91439" y="2952750"/>
                <a:ext cx="874522" cy="1178528"/>
                <a:chOff x="591439" y="2952750"/>
                <a:chExt cx="874522" cy="1178528"/>
              </a:xfrm>
            </p:grpSpPr>
            <p:sp>
              <p:nvSpPr>
                <p:cNvPr id="7" name="Ellipse 7"/>
                <p:cNvSpPr/>
                <p:nvPr/>
              </p:nvSpPr>
              <p:spPr>
                <a:xfrm>
                  <a:off x="742950" y="2952750"/>
                  <a:ext cx="571500" cy="571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969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  <a:endPara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677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明确目标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591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范围与标准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>
                <a:off x="1734439" y="2952750"/>
                <a:ext cx="874522" cy="1178528"/>
                <a:chOff x="1734439" y="2952750"/>
                <a:chExt cx="874522" cy="1178528"/>
              </a:xfrm>
            </p:grpSpPr>
            <p:sp>
              <p:nvSpPr>
                <p:cNvPr id="12" name="Ellipse 12"/>
                <p:cNvSpPr/>
                <p:nvPr/>
              </p:nvSpPr>
              <p:spPr>
                <a:xfrm>
                  <a:off x="1885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2112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820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读取项目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734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文件与规则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2877439" y="2952750"/>
                <a:ext cx="874522" cy="1178528"/>
                <a:chOff x="2877439" y="2952750"/>
                <a:chExt cx="874522" cy="1178528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3028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255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963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拆解计划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877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步骤与风险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4106596" y="2952750"/>
                <a:ext cx="702208" cy="1178528"/>
                <a:chOff x="4106596" y="2952750"/>
                <a:chExt cx="702208" cy="1178528"/>
              </a:xfrm>
            </p:grpSpPr>
            <p:sp>
              <p:nvSpPr>
                <p:cNvPr id="22" name="Ellipse 22"/>
                <p:cNvSpPr/>
                <p:nvPr/>
              </p:nvSpPr>
              <p:spPr>
                <a:xfrm>
                  <a:off x="4171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398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106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修改文件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106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最小变更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5163439" y="2952750"/>
                <a:ext cx="874522" cy="1178528"/>
                <a:chOff x="5163439" y="2952750"/>
                <a:chExt cx="874522" cy="1178528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5314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541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249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运行检查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163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测试与脚本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6361364" y="2952750"/>
                <a:ext cx="764672" cy="1178528"/>
                <a:chOff x="6361364" y="2952750"/>
                <a:chExt cx="764672" cy="1178528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6457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684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361364" y="3634264"/>
                  <a:ext cx="76467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审查 diff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392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核对范围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7449439" y="2952750"/>
                <a:ext cx="874522" cy="1178528"/>
                <a:chOff x="7449439" y="2952750"/>
                <a:chExt cx="874522" cy="1178528"/>
              </a:xfrm>
            </p:grpSpPr>
            <p:sp>
              <p:nvSpPr>
                <p:cNvPr id="37" name="Ellipse 37"/>
                <p:cNvSpPr/>
                <p:nvPr/>
              </p:nvSpPr>
              <p:spPr>
                <a:xfrm>
                  <a:off x="7600950" y="2952750"/>
                  <a:ext cx="571500" cy="571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827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7</a:t>
                  </a:r>
                  <a:endPara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535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汇报结果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449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证据与后续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43" name="Line 43"/>
            <p:cNvSpPr/>
            <p:nvPr/>
          </p:nvSpPr>
          <p:spPr>
            <a:xfrm>
              <a:off x="5600700" y="24955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285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457700" y="24955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4457700" y="2495550"/>
              <a:ext cx="1" cy="2857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45000" y="2259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验证失败就返回修改</a:t>
              </a:r>
              <a:endParaRPr lang="zh-CN" sz="112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9600" y="4762500"/>
              <a:ext cx="7810500" cy="800100"/>
            </a:xfrm>
            <a:prstGeom prst="roundRect">
              <a:avLst>
                <a:gd name="adj" fmla="val 4762"/>
              </a:avLst>
            </a:prstGeom>
            <a:solidFill>
              <a:srgbClr val="F2F5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1342" y="4950142"/>
              <a:ext cx="6858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人的职责</a:t>
              </a:r>
              <a:endParaRPr lang="zh-CN" sz="1350" b="1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1342" y="5235892"/>
              <a:ext cx="68580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在任务下发时，明确任务内容，怎么执行，任务完成后核对结果，以审查的态度对待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2" name="editor-status"/>
          <p:cNvGrpSpPr/>
          <p:nvPr/>
        </p:nvGrpSpPr>
        <p:grpSpPr>
          <a:xfrm>
            <a:off x="8763000" y="1809750"/>
            <a:ext cx="2819400" cy="3752850"/>
            <a:chOff x="8763000" y="1809750"/>
            <a:chExt cx="2819400" cy="3752850"/>
          </a:xfrm>
        </p:grpSpPr>
        <p:sp>
          <p:nvSpPr>
            <p:cNvPr id="51" name="Rectangle 51"/>
            <p:cNvSpPr/>
            <p:nvPr/>
          </p:nvSpPr>
          <p:spPr>
            <a:xfrm>
              <a:off x="8763000" y="1809750"/>
              <a:ext cx="2819400" cy="3752850"/>
            </a:xfrm>
            <a:prstGeom prst="roundRect">
              <a:avLst>
                <a:gd name="adj" fmla="val 135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63000" y="1809750"/>
              <a:ext cx="2819400" cy="419100"/>
            </a:xfrm>
            <a:prstGeom prst="roundRect">
              <a:avLst>
                <a:gd name="adj" fmla="val 9091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557766" y="1963102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task / verify</a:t>
              </a:r>
              <a:endParaRPr lang="en-US" sz="105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04554" y="248031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 run tests</a:t>
              </a:r>
              <a:endParaRPr lang="en-US" sz="1200" dirty="0">
                <a:solidFill>
                  <a:srgbClr val="9FB5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03792" y="28260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✓ 18 passed</a:t>
              </a:r>
              <a:endParaRPr lang="en-US" sz="1350" dirty="0">
                <a:solidFill>
                  <a:srgbClr val="A9C9BB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6" name="Line 56"/>
            <p:cNvSpPr/>
            <p:nvPr/>
          </p:nvSpPr>
          <p:spPr>
            <a:xfrm>
              <a:off x="9010650" y="321945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53626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004554" y="3489960"/>
              <a:ext cx="669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+mn-lt"/>
                  <a:ea typeface="+mn-ea"/>
                  <a:cs typeface="+mn-cs"/>
                </a:rPr>
                <a:t>CHANGES</a:t>
              </a:r>
              <a:endParaRPr lang="en-US" sz="1200" dirty="0">
                <a:solidFill>
                  <a:srgbClr val="9FB5D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04173" y="3824764"/>
              <a:ext cx="1346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 src/model.py</a:t>
              </a:r>
              <a:endPara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04173" y="4129564"/>
              <a:ext cx="200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tests/test_model.py</a:t>
              </a:r>
              <a:endPara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010650" y="4667250"/>
              <a:ext cx="2266950" cy="533400"/>
            </a:xfrm>
            <a:prstGeom prst="roundRect">
              <a:avLst>
                <a:gd name="adj" fmla="val 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87918" y="4854892"/>
              <a:ext cx="1912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 ready to review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609600" y="5962650"/>
            <a:ext cx="10978134" cy="368237"/>
            <a:chOff x="609600" y="5962650"/>
            <a:chExt cx="10978134" cy="368237"/>
          </a:xfrm>
        </p:grpSpPr>
        <p:sp>
          <p:nvSpPr>
            <p:cNvPr id="63" name="Line 63"/>
            <p:cNvSpPr/>
            <p:nvPr/>
          </p:nvSpPr>
          <p:spPr>
            <a:xfrm>
              <a:off x="609600" y="5962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421580" y="61255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435292"/>
            <a:ext cx="10987278" cy="1041083"/>
            <a:chOff x="595122" y="435292"/>
            <a:chExt cx="10987278" cy="10410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43529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科研代码项目的常见目录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规则、代码、测试与结果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0" name="project-tree"/>
          <p:cNvGrpSpPr/>
          <p:nvPr/>
        </p:nvGrpSpPr>
        <p:grpSpPr>
          <a:xfrm>
            <a:off x="609600" y="1733550"/>
            <a:ext cx="4762500" cy="4359275"/>
            <a:chOff x="609600" y="1733550"/>
            <a:chExt cx="4762500" cy="4034433"/>
          </a:xfrm>
        </p:grpSpPr>
        <p:sp>
          <p:nvSpPr>
            <p:cNvPr id="6" name="Rectangle 6"/>
            <p:cNvSpPr/>
            <p:nvPr/>
          </p:nvSpPr>
          <p:spPr>
            <a:xfrm>
              <a:off x="609600" y="1733550"/>
              <a:ext cx="4762500" cy="4034433"/>
            </a:xfrm>
            <a:prstGeom prst="roundRect">
              <a:avLst>
                <a:gd name="adj" fmla="val 9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33550"/>
              <a:ext cx="4762500" cy="457200"/>
            </a:xfrm>
            <a:prstGeom prst="roundRect">
              <a:avLst>
                <a:gd name="adj" fmla="val 8333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3035" y="1897856"/>
              <a:ext cx="2099655" cy="158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research-project / explorer</a:t>
              </a:r>
              <a:endParaRPr lang="en-US" sz="112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69442" y="2426018"/>
              <a:ext cx="1712957" cy="2828464"/>
              <a:chOff x="869442" y="2426018"/>
              <a:chExt cx="1712957" cy="2828464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9442" y="2426018"/>
                <a:ext cx="1712957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research-project/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36142" y="2671408"/>
                <a:ext cx="1264101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AGENTS.md</a:t>
                </a:r>
                <a:endParaRPr lang="en-US" sz="1350" dirty="0">
                  <a:solidFill>
                    <a:srgbClr val="AFC6C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1697" y="2930974"/>
                <a:ext cx="1264101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README.md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6777" y="3179273"/>
                <a:ext cx="713403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src/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6142" y="3442178"/>
                <a:ext cx="913314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tests/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1697" y="3725948"/>
                <a:ext cx="1113225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configs/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40587" y="3996811"/>
                <a:ext cx="813359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data/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40587" y="4267635"/>
                <a:ext cx="1113225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results/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6142" y="4520441"/>
                <a:ext cx="813359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docs/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40587" y="5062310"/>
                <a:ext cx="1313136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.gitignore</a:t>
                </a:r>
                <a:endPara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</p:grpSp>
      <p:grpSp>
        <p:nvGrpSpPr>
          <p:cNvPr id="37" name="file-responsibilities"/>
          <p:cNvGrpSpPr/>
          <p:nvPr/>
        </p:nvGrpSpPr>
        <p:grpSpPr>
          <a:xfrm>
            <a:off x="5706745" y="1878965"/>
            <a:ext cx="5875782" cy="3656747"/>
            <a:chOff x="5706618" y="1879282"/>
            <a:chExt cx="5875909" cy="3152872"/>
          </a:xfrm>
        </p:grpSpPr>
        <p:sp>
          <p:nvSpPr>
            <p:cNvPr id="21" name="TextBox 21"/>
            <p:cNvSpPr txBox="1"/>
            <p:nvPr/>
          </p:nvSpPr>
          <p:spPr>
            <a:xfrm>
              <a:off x="5706618" y="1879282"/>
              <a:ext cx="3126486" cy="2184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常见目录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划分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5706745" y="2305050"/>
              <a:ext cx="5875782" cy="2727104"/>
              <a:chOff x="5706745" y="2305050"/>
              <a:chExt cx="5875782" cy="2727104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0" y="2305050"/>
                <a:ext cx="5867400" cy="108077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5715000" y="23050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974086" y="2398697"/>
                <a:ext cx="1281458" cy="1987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r>
                  <a:rPr alt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专属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74461" y="2640714"/>
                <a:ext cx="3423920" cy="4861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indent="0" algn="l" fontAlgn="auto">
                  <a:lnSpc>
                    <a:spcPts val="2200"/>
                  </a:lnSpc>
                </a:pPr>
                <a:r>
                  <a:rPr lang="en-US" sz="1420" dirty="0">
                    <a:solidFill>
                      <a:srgbClr val="355F7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AGENTS.md</a:t>
                </a:r>
                <a:r>
                  <a:rPr lang="zh-CN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写</a:t>
                </a:r>
                <a:r>
                  <a:rPr lang="zh-CN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项目规则约束。</a:t>
                </a:r>
                <a:endParaRPr lang="zh-CN" sz="1420" dirty="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 fontAlgn="auto">
                  <a:lnSpc>
                    <a:spcPts val="2200"/>
                  </a:lnSpc>
                </a:pPr>
                <a:r>
                  <a:rPr lang="en-US" sz="1420" dirty="0">
                    <a:solidFill>
                      <a:schemeClr val="accent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.agents/skills/</a:t>
                </a:r>
                <a:r>
                  <a:rPr altLang="en-US" sz="142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写需重复进行的</a:t>
                </a:r>
                <a:r>
                  <a:rPr altLang="en-US" sz="142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操作。</a:t>
                </a:r>
                <a:r>
                  <a:rPr lang="en-US" sz="1420" dirty="0">
                    <a:solidFill>
                      <a:schemeClr val="bg2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  <a:sym typeface="+mn-ea"/>
                  </a:rPr>
                  <a:t>/</a:t>
                </a:r>
                <a:endPara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715000" y="3333805"/>
                <a:ext cx="5867527" cy="662477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715000" y="3333805"/>
                <a:ext cx="76837" cy="662477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974721" y="3414835"/>
                <a:ext cx="850918" cy="1987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r>
                  <a:rPr alt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专属</a:t>
                </a:r>
                <a:endParaRPr alt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974461" y="3670053"/>
                <a:ext cx="5138420" cy="187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.gitignore</a:t>
                </a:r>
                <a:r>
                  <a:rPr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：排除密钥、缓存、大型原始数据和可再生成文件。</a:t>
                </a:r>
                <a:endParaRPr lang="zh-CN" sz="1420" dirty="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715000" y="4265652"/>
                <a:ext cx="5867527" cy="766502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06745" y="4265652"/>
                <a:ext cx="76202" cy="766502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974086" y="4330257"/>
                <a:ext cx="972841" cy="1987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</a:t>
                </a:r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专属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73826" y="4601298"/>
                <a:ext cx="4853305" cy="3755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configs/</a:t>
                </a:r>
                <a:r>
                  <a:rPr alt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写配置，</a:t>
                </a:r>
                <a:r>
                  <a:rPr 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data/</a:t>
                </a:r>
                <a:r>
                  <a:rPr alt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放数据，</a:t>
                </a:r>
                <a:r>
                  <a:rPr 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results/</a:t>
                </a:r>
                <a:r>
                  <a:rPr alt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放结果，</a:t>
                </a:r>
                <a:r>
                  <a:rPr lang="en-US" altLang="zh-CN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src/</a:t>
                </a:r>
                <a:r>
                  <a:rPr alt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放代码，</a:t>
                </a:r>
                <a:r>
                  <a:rPr lang="en-US" altLang="zh-CN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tests/</a:t>
                </a:r>
                <a:r>
                  <a:rPr alt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放</a:t>
                </a:r>
                <a:r>
                  <a:rPr alt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测试。</a:t>
                </a:r>
                <a:endParaRPr altLang="en-US" sz="1420" dirty="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grpSp>
        <p:nvGrpSpPr>
          <p:cNvPr id="40" name="footer"/>
          <p:cNvGrpSpPr/>
          <p:nvPr/>
        </p:nvGrpSpPr>
        <p:grpSpPr>
          <a:xfrm>
            <a:off x="5715000" y="5896451"/>
            <a:ext cx="10983849" cy="220028"/>
            <a:chOff x="603885" y="6184106"/>
            <a:chExt cx="10983849" cy="220028"/>
          </a:xfrm>
        </p:grpSpPr>
        <p:sp>
          <p:nvSpPr>
            <p:cNvPr id="38" name="TextBox 38"/>
            <p:cNvSpPr txBox="1"/>
            <p:nvPr/>
          </p:nvSpPr>
          <p:spPr>
            <a:xfrm>
              <a:off x="603885" y="6184106"/>
              <a:ext cx="5512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目录不是为了“看起来专业”，而是为了让人和 Codex 都能定位规则、执行与验证。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3" name="TextBox 17"/>
          <p:cNvSpPr txBox="1"/>
          <p:nvPr/>
        </p:nvSpPr>
        <p:spPr>
          <a:xfrm>
            <a:off x="1140587" y="5037138"/>
            <a:ext cx="169164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├─ </a:t>
            </a:r>
            <a:r>
              <a:rPr lang="en-US" sz="1350" dirty="0">
                <a:solidFill>
                  <a:schemeClr val="bg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+mn-ea"/>
              </a:rPr>
              <a:t>.agents/skills/</a:t>
            </a:r>
            <a:endParaRPr lang="en-US" sz="1350" dirty="0">
              <a:solidFill>
                <a:schemeClr val="bg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项目规则与可复用技能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两类文件分别解决长期约定和特定任务的操作方法。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agents-column"/>
          <p:cNvGrpSpPr/>
          <p:nvPr/>
        </p:nvGrpSpPr>
        <p:grpSpPr>
          <a:xfrm>
            <a:off x="599313" y="1953101"/>
            <a:ext cx="5058537" cy="3535363"/>
            <a:chOff x="599313" y="1953101"/>
            <a:chExt cx="5058537" cy="3535363"/>
          </a:xfrm>
        </p:grpSpPr>
        <p:sp>
          <p:nvSpPr>
            <p:cNvPr id="6" name="TextBox 6"/>
            <p:cNvSpPr txBox="1"/>
            <p:nvPr/>
          </p:nvSpPr>
          <p:spPr>
            <a:xfrm>
              <a:off x="599313" y="1953101"/>
              <a:ext cx="142378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AGENTS.md</a:t>
              </a:r>
              <a:endParaRPr lang="en-US" sz="202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2428875"/>
              <a:ext cx="4762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项目内持续生效的工作约定，一般是不怎么进行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变化的。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073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通常包括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3484721"/>
              <a:ext cx="162306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项目背景与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科研场景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961" y="3903821"/>
              <a:ext cx="162306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文档生成格式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与检查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961" y="43229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数据、提交和删除的限制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961" y="47420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完成任务后的汇报要求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123" y="5291614"/>
              <a:ext cx="4524375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例如：修改前检查 Git 状态，完成后运行测试并完成代码</a:t>
              </a:r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提交。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skill-column"/>
          <p:cNvGrpSpPr/>
          <p:nvPr/>
        </p:nvGrpSpPr>
        <p:grpSpPr>
          <a:xfrm>
            <a:off x="6523863" y="1953101"/>
            <a:ext cx="5058537" cy="3664077"/>
            <a:chOff x="6523863" y="1953101"/>
            <a:chExt cx="5058537" cy="3664077"/>
          </a:xfrm>
        </p:grpSpPr>
        <p:sp>
          <p:nvSpPr>
            <p:cNvPr id="16" name="TextBox 16"/>
            <p:cNvSpPr txBox="1"/>
            <p:nvPr/>
          </p:nvSpPr>
          <p:spPr>
            <a:xfrm>
              <a:off x="6523863" y="1953101"/>
              <a:ext cx="77685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Skill</a:t>
              </a:r>
              <a:endParaRPr lang="en-US" sz="202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26530" y="2428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针对一类重复任务的操作手册。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53415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27292" y="3073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一个技能目录可以这样组织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755130" y="3476625"/>
              <a:ext cx="1903286" cy="1817370"/>
              <a:chOff x="6755130" y="3476625"/>
              <a:chExt cx="1903286" cy="18173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755130" y="3476625"/>
                <a:ext cx="19032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experiment-audit/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021830" y="3857625"/>
                <a:ext cx="12863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SKILL.md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21830" y="4238625"/>
                <a:ext cx="123691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scripts/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021830" y="4619625"/>
                <a:ext cx="15701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references/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21830" y="5000625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assets/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6527673" y="5367814"/>
              <a:ext cx="38297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其中 SKILL.md 必需，其余目录按任务需要添加。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8" name="Line 28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3885" y="6098381"/>
              <a:ext cx="2892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AGENTS.md 官方文档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Skills 官方文档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0274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52610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AGENTS.md：项目级工作约定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8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开始任务前读取这些文件，确定本次工作的约束。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scope"/>
          <p:cNvGrpSpPr/>
          <p:nvPr/>
        </p:nvGrpSpPr>
        <p:grpSpPr>
          <a:xfrm>
            <a:off x="601218" y="1936432"/>
            <a:ext cx="5247132" cy="2656491"/>
            <a:chOff x="601218" y="1936432"/>
            <a:chExt cx="5247132" cy="2656491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文件放在哪里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3388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规则从通用到具体，沿工作目录逐级生效。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7622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3123" y="30437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个人通用约定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69261" y="3027521"/>
              <a:ext cx="19564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~/.codex/AGENTS.md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340042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3123" y="36818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整个项目的约定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69261" y="3665696"/>
              <a:ext cx="18422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project/AGENTS.md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40386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9473" y="4343559"/>
              <a:ext cx="3473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进入更深目录时，Codex 会合并适用的规则。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content"/>
          <p:cNvGrpSpPr/>
          <p:nvPr/>
        </p:nvGrpSpPr>
        <p:grpSpPr>
          <a:xfrm>
            <a:off x="6487541" y="1936432"/>
            <a:ext cx="5231130" cy="3153919"/>
            <a:chOff x="6487541" y="1936432"/>
            <a:chExt cx="5231130" cy="3153919"/>
          </a:xfrm>
        </p:grpSpPr>
        <p:sp>
          <p:nvSpPr>
            <p:cNvPr id="20" name="TextBox 20"/>
            <p:cNvSpPr txBox="1"/>
            <p:nvPr/>
          </p:nvSpPr>
          <p:spPr>
            <a:xfrm>
              <a:off x="6487668" y="1936432"/>
              <a:ext cx="14668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文件生效的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范围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8811" y="2389346"/>
              <a:ext cx="5229860" cy="435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sz="142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个人通用约定：针对与全局，记录个人长期使用习惯，比如说代理</a:t>
              </a:r>
              <a:endParaRPr sz="142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l"/>
              <a:r>
                <a:rPr sz="142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的使用，当某个网址网络不通时，尝试使用代理进行</a:t>
              </a:r>
              <a:r>
                <a:rPr sz="142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访问；</a:t>
              </a:r>
              <a:endParaRPr sz="142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7541" y="3071971"/>
              <a:ext cx="5229860" cy="435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sz="1420" dirty="0">
                  <a:solidFill>
                    <a:schemeClr val="accent5"/>
                  </a:solidFill>
                  <a:sym typeface="+mn-ea"/>
                </a:rPr>
                <a:t>整个项目的约定：针对于当前项目，对当前项目特殊要求，比如每</a:t>
              </a:r>
              <a:endParaRPr sz="1420" dirty="0">
                <a:solidFill>
                  <a:schemeClr val="accent5"/>
                </a:solidFill>
                <a:sym typeface="+mn-ea"/>
              </a:endParaRPr>
            </a:p>
            <a:p>
              <a:pPr algn="l"/>
              <a:r>
                <a:rPr sz="1420" dirty="0">
                  <a:solidFill>
                    <a:schemeClr val="accent5"/>
                  </a:solidFill>
                  <a:sym typeface="+mn-ea"/>
                </a:rPr>
                <a:t>次修改都要提交</a:t>
              </a:r>
              <a:r>
                <a:rPr lang="en-US" altLang="zh-CN" sz="1420" dirty="0">
                  <a:solidFill>
                    <a:schemeClr val="accent5"/>
                  </a:solidFill>
                  <a:sym typeface="+mn-ea"/>
                </a:rPr>
                <a:t>git</a:t>
              </a:r>
              <a:r>
                <a:rPr altLang="en-US" sz="1420" dirty="0">
                  <a:solidFill>
                    <a:schemeClr val="accent5"/>
                  </a:solidFill>
                  <a:sym typeface="+mn-ea"/>
                </a:rPr>
                <a:t>仓库，并推送</a:t>
              </a:r>
              <a:r>
                <a:rPr altLang="en-US" sz="1420" dirty="0">
                  <a:solidFill>
                    <a:schemeClr val="accent5"/>
                  </a:solidFill>
                  <a:sym typeface="+mn-ea"/>
                </a:rPr>
                <a:t>远程分支；</a:t>
              </a:r>
              <a:endParaRPr altLang="en-US" sz="1420" dirty="0">
                <a:solidFill>
                  <a:schemeClr val="accent5"/>
                </a:solidFill>
                <a:sym typeface="+mn-ea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811" y="3675221"/>
              <a:ext cx="12700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496050" y="4171950"/>
              <a:ext cx="5086350" cy="9525"/>
            </a:xfrm>
            <a:custGeom>
              <a:avLst/>
              <a:gdLst/>
              <a:ahLst/>
              <a:cxnLst/>
              <a:rect l="l" t="t" r="r" b="b"/>
              <a:pathLst>
                <a:path w="5086350" h="9525">
                  <a:moveTo>
                    <a:pt x="0" y="0"/>
                  </a:moveTo>
                  <a:lnTo>
                    <a:pt x="5086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88430" y="4410075"/>
              <a:ext cx="15240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不建议写入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的规则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9192" y="48263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一次性任务、频繁变化的细节和敏感信息。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0" name="Line 30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885" y="6098381"/>
              <a:ext cx="31592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OpenAI AGENTS.md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参考教程第八节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writing-principles"/>
          <p:cNvGrpSpPr/>
          <p:nvPr/>
        </p:nvGrpSpPr>
        <p:grpSpPr>
          <a:xfrm>
            <a:off x="7620000" y="1619250"/>
            <a:ext cx="3962400" cy="4305300"/>
            <a:chOff x="7620000" y="1619250"/>
            <a:chExt cx="3962400" cy="4305300"/>
          </a:xfrm>
        </p:grpSpPr>
        <p:sp>
          <p:nvSpPr>
            <p:cNvPr id="24" name="Rectangle 24"/>
            <p:cNvSpPr/>
            <p:nvPr/>
          </p:nvSpPr>
          <p:spPr>
            <a:xfrm>
              <a:off x="7620000" y="1619250"/>
              <a:ext cx="3962400" cy="4305300"/>
            </a:xfrm>
            <a:prstGeom prst="roundRect">
              <a:avLst>
                <a:gd name="adj" fmla="val 9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78318" y="1822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三条写作原则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7878445" y="2258060"/>
              <a:ext cx="3500120" cy="3437890"/>
              <a:chOff x="7878445" y="2258060"/>
              <a:chExt cx="3500120" cy="343789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949565" y="2258060"/>
                <a:ext cx="3429000" cy="1421765"/>
              </a:xfrm>
              <a:prstGeom prst="roundRect">
                <a:avLst>
                  <a:gd name="adj" fmla="val 4878"/>
                </a:avLst>
              </a:prstGeom>
              <a:solidFill>
                <a:srgbClr val="F2F5F5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039100" y="2447925"/>
                <a:ext cx="419100" cy="419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2723" y="25622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02980" y="24098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具体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04250" y="2708910"/>
                <a:ext cx="2438400" cy="9277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写路径、命令与边界，不写空泛口号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差</a:t>
                </a: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：做好代码版本</a:t>
                </a: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管理；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好</a:t>
                </a: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：使用</a:t>
                </a:r>
                <a:r>
                  <a:rPr lang="en-US" alt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r>
                  <a:rPr alt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进行代码管理，每次</a:t>
                </a:r>
                <a:r>
                  <a:rPr alt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修改</a:t>
                </a:r>
                <a:endParaRPr alt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  <a:p>
                <a:pPr algn="l"/>
                <a:r>
                  <a:rPr alt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完成后提交到本地仓库然后推送</a:t>
                </a:r>
                <a:r>
                  <a:rPr alt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到</a:t>
                </a:r>
                <a:endParaRPr alt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  <a:p>
                <a:pPr algn="l"/>
                <a:r>
                  <a:rPr alt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远程</a:t>
                </a:r>
                <a:r>
                  <a:rPr alt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分支；</a:t>
                </a:r>
                <a:endParaRPr alt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917815" y="3885565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1F5F3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8039100" y="4010660"/>
                <a:ext cx="419100" cy="419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/>
              <a:p>
                <a:pPr algn="just">
                  <a:lnSpc>
                    <a:spcPct val="90000"/>
                  </a:lnSpc>
                </a:pPr>
                <a:r>
                  <a:rPr lang="en-US" altLang="zh-CN" sz="1500">
                    <a:solidFill>
                      <a:schemeClr val="bg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endParaRPr lang="en-US" altLang="zh-CN" sz="1500">
                  <a:solidFill>
                    <a:schemeClr val="bg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82723" y="34956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571865" y="398399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可执行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572119" y="4309110"/>
                <a:ext cx="1964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Codex 能据此采取明确动作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878445" y="491490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0F3F8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8039100" y="508254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p>
                <a:pPr>
                  <a:lnSpc>
                    <a:spcPct val="90000"/>
                  </a:lnSpc>
                </a:pPr>
                <a:r>
                  <a:rPr lang="en-US" altLang="zh-CN" sz="15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</a:t>
                </a:r>
                <a:endParaRPr lang="en-US" altLang="zh-CN" sz="1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82723" y="44291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571865" y="503682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可验证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604504" y="5365115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完成标准能通过测试或检查确认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51301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科研项目中的 AGENTS.md 示例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601980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下面是一份最小示例：描述了科研场景、工作规则，文档输出</a:t>
              </a:r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格式。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3" name="agents-example"/>
          <p:cNvGrpSpPr/>
          <p:nvPr/>
        </p:nvGrpSpPr>
        <p:grpSpPr>
          <a:xfrm>
            <a:off x="609600" y="1619250"/>
            <a:ext cx="6705600" cy="4305300"/>
            <a:chOff x="609600" y="1619250"/>
            <a:chExt cx="67056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67056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67056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1556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project/AGENTS.md</a:t>
              </a:r>
              <a:endParaRPr lang="en-US" sz="1200" dirty="0">
                <a:solidFill>
                  <a:srgbClr val="C3CDD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68680" y="2257425"/>
              <a:ext cx="5602224" cy="3131185"/>
              <a:chOff x="868680" y="2257425"/>
              <a:chExt cx="5602224" cy="3131185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8680" y="2257425"/>
                <a:ext cx="12887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 AGENTS.md</a:t>
                </a:r>
                <a:endParaRPr lang="en-US" sz="1500" b="1" dirty="0">
                  <a:solidFill>
                    <a:srgbClr val="AFC6C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204" y="2613660"/>
                <a:ext cx="150876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## </a:t>
                </a:r>
                <a:r>
                  <a:rPr lang="en-US" altLang="zh-CN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research target</a:t>
                </a:r>
                <a:endParaRPr lang="en-US" altLang="zh-CN" sz="120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60704" y="2880360"/>
                <a:ext cx="5410200" cy="553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</a:t>
                </a:r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面向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 </a:t>
                </a:r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3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D NLoS </a:t>
                </a:r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环境，构建多 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UAV </a:t>
                </a:r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协同的 **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ISAC-SLAM**（</a:t>
                </a:r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通感算一体化同</a:t>
                </a:r>
                <a:endParaRPr lang="zh-CN" altLang="en-US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  <a:p>
                <a:pPr algn="l"/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步定位与建图）系统：对非合作隐蔽基站盲定位，同步重建三维物理反射面</a:t>
                </a:r>
                <a:endParaRPr lang="zh-CN" altLang="en-US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  <a:p>
                <a:pPr algn="l"/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最终生成带有物理属性标签的 3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D </a:t>
                </a:r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数字孪生地图。</a:t>
                </a:r>
                <a:endParaRPr lang="zh-CN" altLang="en-US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204" y="3509010"/>
                <a:ext cx="18842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## Working agreements</a:t>
                </a:r>
                <a:endParaRPr lang="en-US" sz="120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60704" y="3775710"/>
                <a:ext cx="2136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修改前先检查 git status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0704" y="4042410"/>
                <a:ext cx="19668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只修改当前任务相关文件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0450" y="4309110"/>
                <a:ext cx="3364865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每次修改完成将所有修改提交并推送远程</a:t>
                </a:r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分支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0081" y="4671060"/>
                <a:ext cx="1926434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##</a:t>
                </a:r>
                <a:r>
                  <a:rPr lang="en-US" altLang="zh-CN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Document output format</a:t>
                </a:r>
                <a:endParaRPr lang="en-US" altLang="zh-CN" sz="120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56005" y="4937760"/>
                <a:ext cx="403987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输出文档在没有指定格式的情况下全部输出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md</a:t>
                </a:r>
                <a:r>
                  <a:rPr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文档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 </a:t>
                </a:r>
                <a:endParaRPr lang="en-US" alt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0704" y="5204460"/>
                <a:ext cx="321564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输出文档后要检查文档的可视化是否存在</a:t>
                </a:r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错误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sp>
          <p:nvSpPr>
            <p:cNvPr id="21" name="Rectangle 21"/>
            <p:cNvSpPr/>
            <p:nvPr/>
          </p:nvSpPr>
          <p:spPr>
            <a:xfrm>
              <a:off x="876300" y="5543550"/>
              <a:ext cx="6172200" cy="228600"/>
            </a:xfrm>
            <a:prstGeom prst="roundRect">
              <a:avLst>
                <a:gd name="adj" fmla="val 16667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3747" y="5600224"/>
              <a:ext cx="31621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EBBC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保存位置：项目根目录；团队成员与 Codex 共同遵守</a:t>
              </a:r>
              <a:endParaRPr lang="zh-CN" sz="980" dirty="0">
                <a:solidFill>
                  <a:srgbClr val="AEBBC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04266" y="6230302"/>
            <a:ext cx="10983468" cy="205359"/>
            <a:chOff x="604266" y="6230302"/>
            <a:chExt cx="10983468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604266" y="62303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示例思路参考：</a:t>
              </a:r>
              <a:r>
                <a:rPr lang="zh-CN" sz="105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1"/>
                </a:rPr>
                <a:t>教程第八节：项目指令配置</a:t>
              </a:r>
              <a:endParaRPr lang="zh-CN" sz="1050" u="sng" dirty="0">
                <a:solidFill>
                  <a:schemeClr val="accent2"/>
                </a:solidFill>
                <a:latin typeface="+mn-lt"/>
                <a:ea typeface="+mn-ea"/>
                <a:cs typeface="+mn-cs"/>
                <a:hlinkClick r:id="rId1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4995" y="511492"/>
            <a:ext cx="10972800" cy="563563"/>
            <a:chOff x="594995" y="511492"/>
            <a:chExt cx="10972800" cy="56356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40893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项目和全局AGENTS.md内容</a:t>
              </a:r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展示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594995" y="106553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11421745" y="6229985"/>
            <a:ext cx="16637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rPr>
              <a:t>07</a:t>
            </a:r>
            <a:endParaRPr lang="zh-CN" sz="1050" dirty="0">
              <a:solidFill>
                <a:srgbClr val="819096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25" y="1263015"/>
            <a:ext cx="5806440" cy="292671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065" y="1255395"/>
            <a:ext cx="5296535" cy="293433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429125"/>
            <a:ext cx="10134600" cy="1847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0353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的结构与调用方式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533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 为一类任务保存步骤说明，必要时附带脚本或参考资料。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directory"/>
          <p:cNvGrpSpPr/>
          <p:nvPr/>
        </p:nvGrpSpPr>
        <p:grpSpPr>
          <a:xfrm>
            <a:off x="601218" y="1917382"/>
            <a:ext cx="4770882" cy="3480721"/>
            <a:chOff x="601218" y="1917382"/>
            <a:chExt cx="4770882" cy="3480721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17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项目中的目录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281714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.agents/skills/experiment-audit/</a:t>
              </a:r>
              <a:endParaRPr lang="en-US" sz="128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47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99" y="3011329"/>
              <a:ext cx="2004743" cy="1984439"/>
              <a:chOff x="830199" y="3011329"/>
              <a:chExt cx="2004743" cy="198443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30199" y="3011329"/>
                <a:ext cx="20047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experiment-audit/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87374" y="3430429"/>
                <a:ext cx="13548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SKILL.md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87374" y="3849529"/>
                <a:ext cx="130283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scripts/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87374" y="4268629"/>
                <a:ext cx="165378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references/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87374" y="4687729"/>
                <a:ext cx="118585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assets/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31723" y="5148739"/>
              <a:ext cx="3431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SKILL.md 是必需文件，其余内容按需添加。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loading"/>
          <p:cNvGrpSpPr/>
          <p:nvPr/>
        </p:nvGrpSpPr>
        <p:grpSpPr>
          <a:xfrm>
            <a:off x="6030468" y="1917382"/>
            <a:ext cx="5551932" cy="2217516"/>
            <a:chOff x="6030468" y="1917382"/>
            <a:chExt cx="5551932" cy="2217516"/>
          </a:xfrm>
        </p:grpSpPr>
        <p:sp>
          <p:nvSpPr>
            <p:cNvPr id="17" name="TextBox 17"/>
            <p:cNvSpPr txBox="1"/>
            <p:nvPr/>
          </p:nvSpPr>
          <p:spPr>
            <a:xfrm>
              <a:off x="6030468" y="1917382"/>
              <a:ext cx="16246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怎样使用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038850" y="23431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1992" y="26069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先判断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6061" y="259889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读取名称与描述，确认任务是否匹配。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6038850" y="297180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1992" y="32356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再加载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46061" y="3227546"/>
              <a:ext cx="2468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匹配后读取完整 SKILL.md。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6038850" y="36004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1992" y="38642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最后执行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46061" y="385619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按步骤工作，并检查结果。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invocation"/>
          <p:cNvGrpSpPr/>
          <p:nvPr/>
        </p:nvGrpSpPr>
        <p:grpSpPr>
          <a:xfrm>
            <a:off x="6030468" y="4679632"/>
            <a:ext cx="4198346" cy="1020319"/>
            <a:chOff x="6030468" y="4679632"/>
            <a:chExt cx="4198346" cy="1020319"/>
          </a:xfrm>
        </p:grpSpPr>
        <p:sp>
          <p:nvSpPr>
            <p:cNvPr id="28" name="TextBox 28"/>
            <p:cNvSpPr txBox="1"/>
            <p:nvPr/>
          </p:nvSpPr>
          <p:spPr>
            <a:xfrm>
              <a:off x="6030468" y="4679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调用方式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1992" y="5093018"/>
              <a:ext cx="225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显式：</a:t>
              </a:r>
              <a:r>
                <a:rPr lang="en-US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$experiment-audit</a:t>
              </a:r>
              <a:endParaRPr lang="en-US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31992" y="5435918"/>
              <a:ext cx="4196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任务描述与 Skill 用途吻合时由 Codex 选择。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2" name="Line 32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3885" y="6098381"/>
              <a:ext cx="2736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OpenAI Skills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参考教程第九节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101465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示例：实验结果</a:t>
              </a:r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对比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适合反复复现实验、核对指标和生成可追溯摘要的科研任务。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skill-example"/>
          <p:cNvGrpSpPr/>
          <p:nvPr/>
        </p:nvGrpSpPr>
        <p:grpSpPr>
          <a:xfrm>
            <a:off x="609600" y="1619250"/>
            <a:ext cx="5791200" cy="4305300"/>
            <a:chOff x="609600" y="1619250"/>
            <a:chExt cx="57912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7912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7912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3595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.agents/skills/experiment-audit/SKILL.md</a:t>
              </a:r>
              <a:endParaRPr lang="en-US" sz="1200" dirty="0">
                <a:solidFill>
                  <a:srgbClr val="C3CDD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70585" y="2278856"/>
              <a:ext cx="3200309" cy="3287078"/>
              <a:chOff x="870585" y="2278856"/>
              <a:chExt cx="3200309" cy="328707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70585" y="22788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---</a:t>
                </a:r>
                <a:endParaRPr lang="zh-CN" sz="1120" dirty="0">
                  <a:solidFill>
                    <a:srgbClr val="AEBBC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585" y="2545556"/>
                <a:ext cx="18358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name:</a:t>
                </a:r>
                <a:r>
                  <a:rPr lang="en-US" sz="1120" dirty="0">
                    <a:solidFill>
                      <a:srgbClr val="E8EEF8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experiment-audit</a:t>
                </a:r>
                <a:endParaRPr lang="en-US" sz="1120" dirty="0">
                  <a:solidFill>
                    <a:srgbClr val="E8EE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70585" y="2812256"/>
                <a:ext cx="32003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description:</a:t>
                </a:r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 当任务涉及实验复跑、指标对比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70585" y="3040856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或结果复核时使用。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585" y="33075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---</a:t>
                </a:r>
                <a:endParaRPr lang="zh-CN" sz="1120" dirty="0">
                  <a:solidFill>
                    <a:srgbClr val="AEBBC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0585" y="3650456"/>
                <a:ext cx="8465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 Workflow</a:t>
                </a:r>
                <a:endParaRPr lang="en-US" sz="112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1085" y="39362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1. 读取实验配置与数据说明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1085" y="4202906"/>
                <a:ext cx="219040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2. 记录当前 Git 提交号与环境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61085" y="4469606"/>
                <a:ext cx="14664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3. 运行最小复现实验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1085" y="4736306"/>
                <a:ext cx="20695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4. 与基线指标比较并标记异常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1085" y="5003006"/>
                <a:ext cx="2083435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5. 生成对比结果</a:t>
                </a:r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并输出到文档</a:t>
                </a:r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中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0585" y="5345906"/>
                <a:ext cx="25745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FFB86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禁止：覆盖原始数据；隐藏失败结果。</a:t>
                </a:r>
                <a:endParaRPr lang="zh-CN" sz="1120" b="1" dirty="0">
                  <a:solidFill>
                    <a:srgbClr val="FFB8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50" name="audit-flow"/>
          <p:cNvGrpSpPr/>
          <p:nvPr/>
        </p:nvGrpSpPr>
        <p:grpSpPr>
          <a:xfrm>
            <a:off x="6705600" y="1619250"/>
            <a:ext cx="4876800" cy="4305300"/>
            <a:chOff x="6705600" y="1619250"/>
            <a:chExt cx="4876800" cy="4305300"/>
          </a:xfrm>
        </p:grpSpPr>
        <p:sp>
          <p:nvSpPr>
            <p:cNvPr id="23" name="Rectangle 23"/>
            <p:cNvSpPr/>
            <p:nvPr/>
          </p:nvSpPr>
          <p:spPr>
            <a:xfrm>
              <a:off x="6705600" y="1619250"/>
              <a:ext cx="4876800" cy="4305300"/>
            </a:xfrm>
            <a:prstGeom prst="roundRect">
              <a:avLst>
                <a:gd name="adj" fmla="val 88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63918" y="1822132"/>
              <a:ext cx="125730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文档输出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6204" y="21564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每一步都对应一个可检查的证据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7296150" y="2686050"/>
              <a:ext cx="1" cy="234315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124700" y="2502218"/>
              <a:ext cx="2611857" cy="2911316"/>
              <a:chOff x="7124700" y="2502218"/>
              <a:chExt cx="2611857" cy="291131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124700" y="25146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246899" y="26217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13142" y="25022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输入可追溯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14285" y="275510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配置文件、数据版本与入口命令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124700" y="31242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46899" y="32313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13142" y="31118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环境可定位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614285" y="3364706"/>
                <a:ext cx="19311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Git 提交号、依赖与运行参数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124700" y="37338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46899" y="38409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13142" y="37214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结果可比较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14285" y="39743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基线、当前指标与允许误差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124700" y="43434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246899" y="44505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13142" y="43310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异常不被掩盖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14285" y="45839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失败步骤、偏差与可能原因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7124700" y="49530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246899" y="50601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13142" y="49406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摘要可以交接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14285" y="5193506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结论、证据路径与下一步建议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6972300" y="5524500"/>
              <a:ext cx="4343400" cy="247650"/>
            </a:xfrm>
            <a:prstGeom prst="roundRect">
              <a:avLst>
                <a:gd name="adj" fmla="val 15385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35244" y="5582602"/>
              <a:ext cx="2617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同一个 Skill，可在不同实验目录重复使用</a:t>
              </a:r>
              <a:endParaRPr lang="zh-CN" sz="105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885" y="6222206"/>
            <a:ext cx="10983849" cy="213455"/>
            <a:chOff x="603885" y="6222206"/>
            <a:chExt cx="10983849" cy="213455"/>
          </a:xfrm>
        </p:grpSpPr>
        <p:sp>
          <p:nvSpPr>
            <p:cNvPr id="51" name="TextBox 51"/>
            <p:cNvSpPr txBox="1"/>
            <p:nvPr/>
          </p:nvSpPr>
          <p:spPr>
            <a:xfrm>
              <a:off x="603885" y="6222206"/>
              <a:ext cx="625919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调用示例：</a:t>
              </a:r>
              <a:r>
                <a:rPr lang="zh-CN" sz="1120" dirty="0">
                  <a:solidFill>
                    <a:schemeClr val="accent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$experiment-audit 对比一下 results/exp_07</a:t>
              </a:r>
              <a:r>
                <a:rPr lang="en-US" altLang="zh-CN" sz="1120" dirty="0">
                  <a:solidFill>
                    <a:schemeClr val="accent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</a:t>
              </a:r>
              <a:r>
                <a:rPr lang="zh-CN" sz="1120" dirty="0">
                  <a:solidFill>
                    <a:schemeClr val="accent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与 </a:t>
              </a:r>
              <a:r>
                <a:rPr sz="1120" dirty="0">
                  <a:solidFill>
                    <a:schemeClr val="accent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  <a:sym typeface="+mn-ea"/>
                </a:rPr>
                <a:t>results/exp_0</a:t>
              </a:r>
              <a:r>
                <a:rPr lang="en-US" altLang="zh-CN" sz="1120" dirty="0">
                  <a:solidFill>
                    <a:schemeClr val="accent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  <a:sym typeface="+mn-ea"/>
                </a:rPr>
                <a:t>6</a:t>
              </a:r>
              <a:r>
                <a:rPr lang="zh-CN" sz="1120" dirty="0">
                  <a:solidFill>
                    <a:schemeClr val="accent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的</a:t>
              </a:r>
              <a:r>
                <a:rPr lang="zh-CN" sz="1120" dirty="0">
                  <a:solidFill>
                    <a:schemeClr val="accent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实验结果。</a:t>
              </a:r>
              <a:endParaRPr lang="zh-CN" sz="1120" dirty="0">
                <a:solidFill>
                  <a:schemeClr val="accent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09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4995" y="511492"/>
            <a:ext cx="10972800" cy="578803"/>
            <a:chOff x="594995" y="511492"/>
            <a:chExt cx="10972800" cy="57880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14478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实例</a:t>
              </a:r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展示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594995" y="108077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421745" y="6229985"/>
            <a:ext cx="16637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rPr>
              <a:t>09</a:t>
            </a:r>
            <a:endParaRPr lang="zh-CN" sz="1050" dirty="0">
              <a:solidFill>
                <a:srgbClr val="819096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995" y="3851275"/>
            <a:ext cx="2573655" cy="2785745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445" y="1059180"/>
            <a:ext cx="4577715" cy="5732780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95" y="1090295"/>
            <a:ext cx="6292215" cy="2698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85597" y="568642"/>
            <a:ext cx="10996803" cy="907733"/>
            <a:chOff x="585597" y="568642"/>
            <a:chExt cx="10996803" cy="907733"/>
          </a:xfrm>
        </p:grpSpPr>
        <p:sp>
          <p:nvSpPr>
            <p:cNvPr id="2" name="TextBox 2"/>
            <p:cNvSpPr/>
            <p:nvPr/>
          </p:nvSpPr>
          <p:spPr>
            <a:xfrm>
              <a:off x="585597" y="568642"/>
              <a:ext cx="5462905" cy="557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alt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codex</a:t>
              </a:r>
              <a:r>
                <a:rPr altLang="en-US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记忆：</a:t>
              </a:r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长对话的上下文边界</a:t>
              </a:r>
              <a:endParaRPr lang="zh-CN" sz="28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/>
            <p:nvPr/>
          </p:nvSpPr>
          <p:spPr>
            <a:xfrm>
              <a:off x="592455" y="106680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科研讨论</a:t>
              </a:r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会持续很久，不能只依赖最初的聊天内容。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0075" y="14668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8" name="footer"/>
          <p:cNvGrpSpPr/>
          <p:nvPr/>
        </p:nvGrpSpPr>
        <p:grpSpPr>
          <a:xfrm>
            <a:off x="593979" y="6176010"/>
            <a:ext cx="10993755" cy="234696"/>
            <a:chOff x="593979" y="6176010"/>
            <a:chExt cx="10993755" cy="234696"/>
          </a:xfrm>
        </p:grpSpPr>
        <p:sp>
          <p:nvSpPr>
            <p:cNvPr id="6" name="TextBox 6"/>
            <p:cNvSpPr/>
            <p:nvPr/>
          </p:nvSpPr>
          <p:spPr>
            <a:xfrm>
              <a:off x="593979" y="61760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长聊天不是唯一科研档案。</a:t>
              </a:r>
              <a:endParaRPr lang="zh-CN" sz="12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/>
            <p:nvPr/>
          </p:nvSpPr>
          <p:spPr>
            <a:xfrm>
              <a:off x="11419808" y="6192202"/>
              <a:ext cx="1679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05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</a:t>
              </a:r>
              <a:endParaRPr lang="en-US" sz="105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9" name="research-path"/>
          <p:cNvGrpSpPr/>
          <p:nvPr/>
        </p:nvGrpSpPr>
        <p:grpSpPr>
          <a:xfrm>
            <a:off x="580263" y="1902142"/>
            <a:ext cx="10278237" cy="2588801"/>
            <a:chOff x="580263" y="1902142"/>
            <a:chExt cx="10278237" cy="2588801"/>
          </a:xfrm>
        </p:grpSpPr>
        <p:grpSp>
          <p:nvGrpSpPr>
            <p:cNvPr id="13" name="stage-01"/>
            <p:cNvGrpSpPr/>
            <p:nvPr/>
          </p:nvGrpSpPr>
          <p:grpSpPr>
            <a:xfrm>
              <a:off x="580263" y="1902142"/>
              <a:ext cx="2145316" cy="1398176"/>
              <a:chOff x="580263" y="1902142"/>
              <a:chExt cx="2145316" cy="1398176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583692" y="1902142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45677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350" b="1" dirty="0">
                  <a:solidFill>
                    <a:srgbClr val="456779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/>
              <p:nvPr/>
            </p:nvSpPr>
            <p:spPr>
              <a:xfrm>
                <a:off x="580263" y="2219801"/>
                <a:ext cx="1108329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-5" rIns="0" bIns="0" anchor="t" anchorCtr="0">
                <a:noAutofit/>
              </a:bodyPr>
              <a:lstStyle/>
              <a:p>
                <a:pPr algn="l"/>
                <a:r>
                  <a:rPr lang="zh-CN" sz="202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论文讨论</a:t>
                </a:r>
                <a:endPara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/>
              <p:nvPr/>
            </p:nvSpPr>
            <p:spPr>
              <a:xfrm>
                <a:off x="582549" y="2677954"/>
                <a:ext cx="17176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明确问题与假设；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/>
              <p:nvPr/>
            </p:nvSpPr>
            <p:spPr>
              <a:xfrm>
                <a:off x="582549" y="2992279"/>
                <a:ext cx="214303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记录关键前提。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8" name="stage-02"/>
            <p:cNvGrpSpPr/>
            <p:nvPr/>
          </p:nvGrpSpPr>
          <p:grpSpPr>
            <a:xfrm>
              <a:off x="3332988" y="1902142"/>
              <a:ext cx="1932622" cy="1398176"/>
              <a:chOff x="3332988" y="1902142"/>
              <a:chExt cx="1932622" cy="1398176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336417" y="1902142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45677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350" b="1" dirty="0">
                  <a:solidFill>
                    <a:srgbClr val="456779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/>
              <p:nvPr/>
            </p:nvSpPr>
            <p:spPr>
              <a:xfrm>
                <a:off x="3332988" y="2219801"/>
                <a:ext cx="1108329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-5" rIns="0" bIns="0" anchor="t" anchorCtr="0">
                <a:noAutofit/>
              </a:bodyPr>
              <a:lstStyle/>
              <a:p>
                <a:pPr algn="l"/>
                <a:r>
                  <a:rPr lang="zh-CN" sz="202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算法推导</a:t>
                </a:r>
                <a:endPara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/>
              <p:nvPr/>
            </p:nvSpPr>
            <p:spPr>
              <a:xfrm>
                <a:off x="3335274" y="2677954"/>
                <a:ext cx="193033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厘清符号与公式，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/>
              <p:nvPr/>
            </p:nvSpPr>
            <p:spPr>
              <a:xfrm>
                <a:off x="3335274" y="2992279"/>
                <a:ext cx="17176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得到阶段性结论。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stage-03"/>
            <p:cNvGrpSpPr/>
            <p:nvPr/>
          </p:nvGrpSpPr>
          <p:grpSpPr>
            <a:xfrm>
              <a:off x="6085713" y="1902142"/>
              <a:ext cx="2145316" cy="1398176"/>
              <a:chOff x="6085713" y="1902142"/>
              <a:chExt cx="2145316" cy="1398176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089142" y="1902142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45677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350" b="1" dirty="0">
                  <a:solidFill>
                    <a:srgbClr val="456779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/>
              <p:nvPr/>
            </p:nvSpPr>
            <p:spPr>
              <a:xfrm>
                <a:off x="6085713" y="2219801"/>
                <a:ext cx="1108329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-5" rIns="0" bIns="0" anchor="t" anchorCtr="0">
                <a:noAutofit/>
              </a:bodyPr>
              <a:lstStyle/>
              <a:p>
                <a:pPr algn="l"/>
                <a:r>
                  <a:rPr lang="zh-CN" sz="202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代码实验</a:t>
                </a:r>
                <a:endPara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/>
              <p:nvPr/>
            </p:nvSpPr>
            <p:spPr>
              <a:xfrm>
                <a:off x="6087999" y="2677954"/>
                <a:ext cx="214303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实现方法并记录配置，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/>
              <p:nvPr/>
            </p:nvSpPr>
            <p:spPr>
              <a:xfrm>
                <a:off x="6087999" y="2992279"/>
                <a:ext cx="193033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比较结果与基线。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8" name="stage-04"/>
            <p:cNvGrpSpPr/>
            <p:nvPr/>
          </p:nvGrpSpPr>
          <p:grpSpPr>
            <a:xfrm>
              <a:off x="8838438" y="1902142"/>
              <a:ext cx="1932622" cy="1398176"/>
              <a:chOff x="8838438" y="1902142"/>
              <a:chExt cx="1932622" cy="1398176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8841867" y="1902142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45677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350" b="1" dirty="0">
                  <a:solidFill>
                    <a:srgbClr val="456779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/>
              <p:nvPr/>
            </p:nvSpPr>
            <p:spPr>
              <a:xfrm>
                <a:off x="8838438" y="2219801"/>
                <a:ext cx="1108329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-5" rIns="0" bIns="0" anchor="t" anchorCtr="0">
                <a:noAutofit/>
              </a:bodyPr>
              <a:lstStyle/>
              <a:p>
                <a:pPr algn="l"/>
                <a:r>
                  <a:rPr lang="zh-CN" sz="202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再次讨论</a:t>
                </a:r>
                <a:endPara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/>
              <p:nvPr/>
            </p:nvSpPr>
            <p:spPr>
              <a:xfrm>
                <a:off x="8840724" y="2677954"/>
                <a:ext cx="193033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过段时间继续讨论，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/>
              <p:nvPr/>
            </p:nvSpPr>
            <p:spPr>
              <a:xfrm>
                <a:off x="8840724" y="2992279"/>
                <a:ext cx="193033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细节可能没有带入。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762000" y="3524250"/>
              <a:ext cx="10048875" cy="9525"/>
            </a:xfrm>
            <a:custGeom>
              <a:avLst/>
              <a:gdLst/>
              <a:ahLst/>
              <a:cxnLst/>
              <a:rect l="l" t="t" r="r" b="b"/>
              <a:pathLst>
                <a:path w="10048875" h="9525">
                  <a:moveTo>
                    <a:pt x="0" y="0"/>
                  </a:moveTo>
                  <a:lnTo>
                    <a:pt x="10048875" y="0"/>
                  </a:lnTo>
                </a:path>
              </a:pathLst>
            </a:custGeom>
            <a:noFill/>
            <a:ln w="19050">
              <a:solidFill>
                <a:srgbClr val="456779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14375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467100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219825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8972550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763250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0810875" y="35242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19050">
              <a:solidFill>
                <a:srgbClr val="648681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009650" y="4019550"/>
              <a:ext cx="9801225" cy="9525"/>
            </a:xfrm>
            <a:custGeom>
              <a:avLst/>
              <a:gdLst/>
              <a:ahLst/>
              <a:cxnLst/>
              <a:rect l="l" t="t" r="r" b="b"/>
              <a:pathLst>
                <a:path w="9801225" h="9525">
                  <a:moveTo>
                    <a:pt x="98012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648681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1009650" y="3962400"/>
              <a:ext cx="123825" cy="114300"/>
            </a:xfrm>
            <a:custGeom>
              <a:avLst/>
              <a:gdLst/>
              <a:ahLst/>
              <a:cxnLst/>
              <a:rect l="l" t="t" r="r" b="b"/>
              <a:pathLst>
                <a:path w="123825" h="114300">
                  <a:moveTo>
                    <a:pt x="0" y="57150"/>
                  </a:moveTo>
                  <a:lnTo>
                    <a:pt x="123825" y="0"/>
                  </a:lnTo>
                  <a:lnTo>
                    <a:pt x="123825" y="114300"/>
                  </a:lnTo>
                  <a:close/>
                </a:path>
              </a:pathLst>
            </a:custGeom>
            <a:solidFill>
              <a:srgbClr val="648681"/>
            </a:solidFill>
            <a:ln>
              <a:noFill/>
            </a:ln>
          </p:spPr>
        </p:sp>
        <p:sp>
          <p:nvSpPr>
            <p:cNvPr id="38" name="TextBox 38"/>
            <p:cNvSpPr/>
            <p:nvPr/>
          </p:nvSpPr>
          <p:spPr>
            <a:xfrm>
              <a:off x="1344549" y="4182904"/>
              <a:ext cx="55462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580" dirty="0">
                  <a:solidFill>
                    <a:srgbClr val="64868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压缩保留关键状态，但不会逐字保留早期全部讨论。</a:t>
              </a:r>
              <a:endParaRPr lang="zh-CN" sz="1580" dirty="0">
                <a:solidFill>
                  <a:srgbClr val="64868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project-case"/>
          <p:cNvGrpSpPr/>
          <p:nvPr/>
        </p:nvGrpSpPr>
        <p:grpSpPr>
          <a:xfrm>
            <a:off x="591312" y="4762500"/>
            <a:ext cx="10991088" cy="938118"/>
            <a:chOff x="591312" y="4762500"/>
            <a:chExt cx="10991088" cy="938118"/>
          </a:xfrm>
        </p:grpSpPr>
        <p:sp>
          <p:nvSpPr>
            <p:cNvPr id="40" name="Line 40"/>
            <p:cNvSpPr/>
            <p:nvPr/>
          </p:nvSpPr>
          <p:spPr>
            <a:xfrm>
              <a:off x="600075" y="476250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  <p:sp>
          <p:nvSpPr>
            <p:cNvPr id="41" name="TextBox 41"/>
            <p:cNvSpPr/>
            <p:nvPr/>
          </p:nvSpPr>
          <p:spPr>
            <a:xfrm>
              <a:off x="591312" y="4985861"/>
              <a:ext cx="186985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容易遗漏的细节</a:t>
              </a:r>
              <a:endParaRPr lang="zh-CN" sz="17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/>
            <p:nvPr/>
          </p:nvSpPr>
          <p:spPr>
            <a:xfrm>
              <a:off x="592074" y="5392579"/>
              <a:ext cx="83113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推导前提、实验设置和否定某路线的理由，都应能从文档中重新找回。</a:t>
              </a:r>
              <a:endParaRPr lang="zh-CN" sz="158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85597" y="568642"/>
            <a:ext cx="10996803" cy="907733"/>
            <a:chOff x="585597" y="568642"/>
            <a:chExt cx="10996803" cy="907733"/>
          </a:xfrm>
        </p:grpSpPr>
        <p:sp>
          <p:nvSpPr>
            <p:cNvPr id="2" name="TextBox 2"/>
            <p:cNvSpPr/>
            <p:nvPr/>
          </p:nvSpPr>
          <p:spPr>
            <a:xfrm>
              <a:off x="585597" y="568642"/>
              <a:ext cx="51592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科研结论要写进文档</a:t>
              </a:r>
              <a:endParaRPr lang="zh-CN" sz="28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/>
            <p:nvPr/>
          </p:nvSpPr>
          <p:spPr>
            <a:xfrm>
              <a:off x="592455" y="10668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每一条重要结论，都应留下可核查的依据。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0075" y="14668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13" name="codex-task-01"/>
          <p:cNvGrpSpPr/>
          <p:nvPr>
            <p:custDataLst>
              <p:tags r:id="rId1"/>
            </p:custDataLst>
          </p:nvPr>
        </p:nvGrpSpPr>
        <p:grpSpPr>
          <a:xfrm>
            <a:off x="588264" y="1579086"/>
            <a:ext cx="10994390" cy="593725"/>
            <a:chOff x="588264" y="2063591"/>
            <a:chExt cx="10994390" cy="593725"/>
          </a:xfrm>
        </p:grpSpPr>
        <p:sp>
          <p:nvSpPr>
            <p:cNvPr id="9" name="TextBox 9"/>
            <p:cNvSpPr txBox="1"/>
            <p:nvPr>
              <p:custDataLst>
                <p:tags r:id="rId2"/>
              </p:custDataLst>
            </p:nvPr>
          </p:nvSpPr>
          <p:spPr>
            <a:xfrm>
              <a:off x="588264" y="2063591"/>
              <a:ext cx="37104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lang="en-US" sz="232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/>
            <p:nvPr>
              <p:custDataLst>
                <p:tags r:id="rId3"/>
              </p:custDataLst>
            </p:nvPr>
          </p:nvSpPr>
          <p:spPr>
            <a:xfrm>
              <a:off x="1447038" y="2095976"/>
              <a:ext cx="13802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算法推导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/>
            <p:nvPr>
              <p:custDataLst>
                <p:tags r:id="rId4"/>
              </p:custDataLst>
            </p:nvPr>
          </p:nvSpPr>
          <p:spPr>
            <a:xfrm>
              <a:off x="3991737" y="2128361"/>
              <a:ext cx="534304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记录问题、符号、模型假设、关键推导与适用条件。</a:t>
              </a:r>
              <a:endParaRPr lang="zh-CN" sz="172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>
              <p:custDataLst>
                <p:tags r:id="rId5"/>
              </p:custDataLst>
            </p:nvPr>
          </p:nvSpPr>
          <p:spPr>
            <a:xfrm>
              <a:off x="600329" y="2482691"/>
              <a:ext cx="10982325" cy="1746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18" name="codex-task-02"/>
          <p:cNvGrpSpPr/>
          <p:nvPr>
            <p:custDataLst>
              <p:tags r:id="rId6"/>
            </p:custDataLst>
          </p:nvPr>
        </p:nvGrpSpPr>
        <p:grpSpPr>
          <a:xfrm>
            <a:off x="585724" y="2100421"/>
            <a:ext cx="10996676" cy="454724"/>
            <a:chOff x="588264" y="2958941"/>
            <a:chExt cx="10996676" cy="454724"/>
          </a:xfrm>
        </p:grpSpPr>
        <p:sp>
          <p:nvSpPr>
            <p:cNvPr id="14" name="TextBox 14"/>
            <p:cNvSpPr txBox="1"/>
            <p:nvPr>
              <p:custDataLst>
                <p:tags r:id="rId7"/>
              </p:custDataLst>
            </p:nvPr>
          </p:nvSpPr>
          <p:spPr>
            <a:xfrm>
              <a:off x="588264" y="2958941"/>
              <a:ext cx="37104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</a:t>
              </a:r>
              <a:endParaRPr lang="en-US" sz="232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/>
            <p:nvPr>
              <p:custDataLst>
                <p:tags r:id="rId8"/>
              </p:custDataLst>
            </p:nvPr>
          </p:nvSpPr>
          <p:spPr>
            <a:xfrm>
              <a:off x="1447038" y="2991326"/>
              <a:ext cx="13802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实验记录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/>
            <p:nvPr>
              <p:custDataLst>
                <p:tags r:id="rId9"/>
              </p:custDataLst>
            </p:nvPr>
          </p:nvSpPr>
          <p:spPr>
            <a:xfrm>
              <a:off x="3991737" y="3023711"/>
              <a:ext cx="488003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记录数据、配置、指标、结果。</a:t>
              </a:r>
              <a:endParaRPr lang="zh-CN" sz="172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Line 17"/>
            <p:cNvSpPr/>
            <p:nvPr>
              <p:custDataLst>
                <p:tags r:id="rId10"/>
              </p:custDataLst>
            </p:nvPr>
          </p:nvSpPr>
          <p:spPr>
            <a:xfrm>
              <a:off x="602615" y="3394075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3" name="codex-task-03"/>
          <p:cNvGrpSpPr/>
          <p:nvPr>
            <p:custDataLst>
              <p:tags r:id="rId11"/>
            </p:custDataLst>
          </p:nvPr>
        </p:nvGrpSpPr>
        <p:grpSpPr>
          <a:xfrm>
            <a:off x="556514" y="2697956"/>
            <a:ext cx="11011281" cy="454724"/>
            <a:chOff x="588264" y="3854291"/>
            <a:chExt cx="11011281" cy="454724"/>
          </a:xfrm>
        </p:grpSpPr>
        <p:sp>
          <p:nvSpPr>
            <p:cNvPr id="19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588264" y="3854291"/>
              <a:ext cx="37104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endParaRPr lang="en-US" sz="232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/>
            <p:nvPr>
              <p:custDataLst>
                <p:tags r:id="rId13"/>
              </p:custDataLst>
            </p:nvPr>
          </p:nvSpPr>
          <p:spPr>
            <a:xfrm>
              <a:off x="1447038" y="3886676"/>
              <a:ext cx="13802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研究判断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/>
            <p:nvPr>
              <p:custDataLst>
                <p:tags r:id="rId14"/>
              </p:custDataLst>
            </p:nvPr>
          </p:nvSpPr>
          <p:spPr>
            <a:xfrm>
              <a:off x="3991737" y="3919061"/>
              <a:ext cx="511159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区分已证实结论与猜想，写明采纳或暂缓的理由。</a:t>
              </a:r>
              <a:endParaRPr lang="zh-CN" sz="172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Line 22"/>
            <p:cNvSpPr/>
            <p:nvPr>
              <p:custDataLst>
                <p:tags r:id="rId15"/>
              </p:custDataLst>
            </p:nvPr>
          </p:nvSpPr>
          <p:spPr>
            <a:xfrm>
              <a:off x="617220" y="4281805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4" name="codex-task-03"/>
          <p:cNvGrpSpPr/>
          <p:nvPr>
            <p:custDataLst>
              <p:tags r:id="rId16"/>
            </p:custDataLst>
          </p:nvPr>
        </p:nvGrpSpPr>
        <p:grpSpPr>
          <a:xfrm>
            <a:off x="588264" y="3295491"/>
            <a:ext cx="10999216" cy="428435"/>
            <a:chOff x="588264" y="3854291"/>
            <a:chExt cx="10999216" cy="428435"/>
          </a:xfrm>
        </p:grpSpPr>
        <p:sp>
          <p:nvSpPr>
            <p:cNvPr id="35" name="TextBox 19"/>
            <p:cNvSpPr txBox="1"/>
            <p:nvPr>
              <p:custDataLst>
                <p:tags r:id="rId17"/>
              </p:custDataLst>
            </p:nvPr>
          </p:nvSpPr>
          <p:spPr>
            <a:xfrm>
              <a:off x="588264" y="3854291"/>
              <a:ext cx="327660" cy="3562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04</a:t>
              </a:r>
              <a:endParaRPr lang="en-US" sz="232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6" name="TextBox 20"/>
            <p:cNvSpPr/>
            <p:nvPr>
              <p:custDataLst>
                <p:tags r:id="rId18"/>
              </p:custDataLst>
            </p:nvPr>
          </p:nvSpPr>
          <p:spPr>
            <a:xfrm>
              <a:off x="1447038" y="3886676"/>
              <a:ext cx="13802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更新</a:t>
              </a:r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进展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21"/>
            <p:cNvSpPr/>
            <p:nvPr>
              <p:custDataLst>
                <p:tags r:id="rId19"/>
              </p:custDataLst>
            </p:nvPr>
          </p:nvSpPr>
          <p:spPr>
            <a:xfrm>
              <a:off x="3991864" y="3919061"/>
              <a:ext cx="6318885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可以将进展更新到</a:t>
              </a:r>
              <a:r>
                <a:rPr lang="en-US" alt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AGENTS.md</a:t>
              </a:r>
              <a:r>
                <a:rPr altLang="en-US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，让</a:t>
              </a:r>
              <a:r>
                <a:rPr lang="en-US" alt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</a:t>
              </a:r>
              <a:r>
                <a:rPr altLang="en-US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理解当前进度，维持主线</a:t>
              </a:r>
              <a:r>
                <a:rPr altLang="en-US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。</a:t>
              </a:r>
              <a:endParaRPr lang="en-US" altLang="zh-CN" sz="172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Line 22"/>
            <p:cNvSpPr/>
            <p:nvPr>
              <p:custDataLst>
                <p:tags r:id="rId20"/>
              </p:custDataLst>
            </p:nvPr>
          </p:nvSpPr>
          <p:spPr>
            <a:xfrm>
              <a:off x="605155" y="4248785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pic>
        <p:nvPicPr>
          <p:cNvPr id="54" name="图片 5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5470" y="3816985"/>
            <a:ext cx="2573655" cy="278574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59860" y="3816985"/>
            <a:ext cx="2863850" cy="2787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/>
            <p:nvPr/>
          </p:nvSpPr>
          <p:spPr>
            <a:xfrm>
              <a:off x="595122" y="511492"/>
              <a:ext cx="34124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新聊天接续研究</a:t>
              </a:r>
              <a:endParaRPr lang="zh-CN" sz="28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/>
            <p:nvPr/>
          </p:nvSpPr>
          <p:spPr>
            <a:xfrm>
              <a:off x="601599" y="1030129"/>
              <a:ext cx="53335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58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先重读算法文档实验</a:t>
              </a:r>
              <a:r>
                <a:rPr lang="zh-CN" sz="158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记录，再核对当前代码和实验状态。</a:t>
              </a:r>
              <a:endParaRPr lang="zh-CN" sz="158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1" name="git-four-zones"/>
          <p:cNvGrpSpPr/>
          <p:nvPr/>
        </p:nvGrpSpPr>
        <p:grpSpPr>
          <a:xfrm>
            <a:off x="609600" y="2018030"/>
            <a:ext cx="10972800" cy="2876550"/>
            <a:chOff x="609600" y="2438400"/>
            <a:chExt cx="10972800" cy="2876550"/>
          </a:xfrm>
        </p:grpSpPr>
        <p:sp>
          <p:nvSpPr>
            <p:cNvPr id="6" name="Line 6"/>
            <p:cNvSpPr/>
            <p:nvPr/>
          </p:nvSpPr>
          <p:spPr>
            <a:xfrm>
              <a:off x="27241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567690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86296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>
              <a:off x="8629650" y="3790950"/>
              <a:ext cx="8382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TextBox 10"/>
            <p:cNvSpPr/>
            <p:nvPr/>
          </p:nvSpPr>
          <p:spPr>
            <a:xfrm>
              <a:off x="2786539" y="2730818"/>
              <a:ext cx="713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355F7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核对</a:t>
              </a:r>
              <a:endParaRPr lang="zh-CN" sz="1350" b="1" dirty="0">
                <a:solidFill>
                  <a:srgbClr val="355F7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/>
            <p:nvPr/>
          </p:nvSpPr>
          <p:spPr>
            <a:xfrm>
              <a:off x="5589365" y="27308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355F7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辨别</a:t>
              </a:r>
              <a:endParaRPr lang="zh-CN" sz="1350" b="1" dirty="0">
                <a:solidFill>
                  <a:srgbClr val="355F7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/>
            <p:nvPr/>
          </p:nvSpPr>
          <p:spPr>
            <a:xfrm>
              <a:off x="8642032" y="2730818"/>
              <a:ext cx="813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527A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推进</a:t>
              </a:r>
              <a:endParaRPr lang="zh-CN" sz="1350" b="1" dirty="0">
                <a:solidFill>
                  <a:srgbClr val="527A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/>
            <p:nvPr/>
          </p:nvSpPr>
          <p:spPr>
            <a:xfrm>
              <a:off x="8642032" y="3969068"/>
              <a:ext cx="813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527A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再读取</a:t>
              </a:r>
              <a:endParaRPr lang="zh-CN" sz="1350" b="1" dirty="0">
                <a:solidFill>
                  <a:srgbClr val="527A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09600" y="2438400"/>
              <a:ext cx="10972800" cy="1809750"/>
              <a:chOff x="609600" y="2438400"/>
              <a:chExt cx="10972800" cy="1809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317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/>
              <p:nvPr/>
            </p:nvSpPr>
            <p:spPr>
              <a:xfrm>
                <a:off x="828675" y="2997994"/>
                <a:ext cx="778288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zh-CN" sz="188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读文档</a:t>
                </a:r>
                <a:endParaRPr lang="zh-CN" sz="188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/>
              <p:nvPr/>
            </p:nvSpPr>
            <p:spPr>
              <a:xfrm>
                <a:off x="831723" y="3348514"/>
                <a:ext cx="110966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en-US" sz="1280" dirty="0">
                    <a:solidFill>
                      <a:srgbClr val="607078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Docs</a:t>
                </a:r>
                <a:endParaRPr lang="en-US" sz="128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/>
              <p:nvPr/>
            </p:nvSpPr>
            <p:spPr>
              <a:xfrm>
                <a:off x="831342" y="37785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明确文件路径</a:t>
                </a:r>
                <a:endParaRPr lang="zh-CN" sz="13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5623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844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/>
              <p:nvPr/>
            </p:nvSpPr>
            <p:spPr>
              <a:xfrm>
                <a:off x="3781425" y="2997994"/>
                <a:ext cx="778288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zh-CN" sz="188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核对</a:t>
                </a:r>
                <a:endParaRPr lang="zh-CN" sz="188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/>
              <p:nvPr/>
            </p:nvSpPr>
            <p:spPr>
              <a:xfrm>
                <a:off x="3784473" y="3348514"/>
                <a:ext cx="107489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en-US" sz="1280" dirty="0">
                    <a:solidFill>
                      <a:srgbClr val="607078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Code / Data</a:t>
                </a:r>
                <a:endParaRPr lang="en-US" sz="128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/>
              <p:nvPr/>
            </p:nvSpPr>
            <p:spPr>
              <a:xfrm>
                <a:off x="3784092" y="36833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查代码与配置</a:t>
                </a:r>
                <a:endParaRPr lang="zh-CN" sz="13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/>
              <p:nvPr/>
            </p:nvSpPr>
            <p:spPr>
              <a:xfrm>
                <a:off x="3784092" y="3930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记下提交号</a:t>
                </a:r>
                <a:endParaRPr lang="zh-CN" sz="13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5151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7372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/>
              <p:nvPr/>
            </p:nvSpPr>
            <p:spPr>
              <a:xfrm>
                <a:off x="6734175" y="2997994"/>
                <a:ext cx="103136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zh-CN" sz="188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辨别结论</a:t>
                </a:r>
                <a:endParaRPr lang="zh-CN" sz="188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/>
              <p:nvPr/>
            </p:nvSpPr>
            <p:spPr>
              <a:xfrm>
                <a:off x="6737223" y="3348514"/>
                <a:ext cx="14105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en-US" sz="1280" dirty="0">
                    <a:solidFill>
                      <a:srgbClr val="607078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Verified vs Open</a:t>
                </a:r>
                <a:endParaRPr lang="en-US" sz="128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/>
              <p:nvPr/>
            </p:nvSpPr>
            <p:spPr>
              <a:xfrm>
                <a:off x="6736842" y="36833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区分已证实结论</a:t>
                </a:r>
                <a:endParaRPr lang="zh-CN" sz="13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/>
              <p:nvPr/>
            </p:nvSpPr>
            <p:spPr>
              <a:xfrm>
                <a:off x="673684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待证实项</a:t>
                </a:r>
                <a:endParaRPr lang="zh-CN" sz="13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4678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899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A9C9BB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endParaRPr lang="zh-CN" sz="1280" b="1" dirty="0">
                  <a:solidFill>
                    <a:srgbClr val="A9C9BB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/>
              <p:nvPr/>
            </p:nvSpPr>
            <p:spPr>
              <a:xfrm>
                <a:off x="9686925" y="2997994"/>
                <a:ext cx="103136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zh-CN" sz="188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继续更新</a:t>
                </a:r>
                <a:endParaRPr lang="zh-CN" sz="188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/>
              <p:nvPr/>
            </p:nvSpPr>
            <p:spPr>
              <a:xfrm>
                <a:off x="9689973" y="3348514"/>
                <a:ext cx="15834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5" rIns="0" bIns="0" anchor="t" anchorCtr="0">
                <a:noAutofit/>
              </a:bodyPr>
              <a:lstStyle/>
              <a:p>
                <a:pPr algn="l"/>
                <a:r>
                  <a:rPr lang="en-US" sz="1280" dirty="0">
                    <a:solidFill>
                      <a:srgbClr val="C3CDD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Work &amp; Record</a:t>
                </a:r>
                <a:endParaRPr lang="en-US" sz="1280" dirty="0">
                  <a:solidFill>
                    <a:srgbClr val="C3CDD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/>
              <p:nvPr/>
            </p:nvSpPr>
            <p:spPr>
              <a:xfrm>
                <a:off x="9689592" y="36833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推进实验，</a:t>
                </a:r>
                <a:endPara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/>
              <p:nvPr/>
            </p:nvSpPr>
            <p:spPr>
              <a:xfrm>
                <a:off x="968959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更新文档</a:t>
                </a:r>
                <a:endPara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8" name="Rectangle 38"/>
            <p:cNvSpPr/>
            <p:nvPr/>
          </p:nvSpPr>
          <p:spPr>
            <a:xfrm>
              <a:off x="609600" y="4629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/>
            <p:nvPr/>
          </p:nvSpPr>
          <p:spPr>
            <a:xfrm>
              <a:off x="831723" y="4777264"/>
              <a:ext cx="7021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重新读取</a:t>
              </a:r>
              <a:endParaRPr lang="zh-CN" sz="128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/>
            <p:nvPr/>
          </p:nvSpPr>
          <p:spPr>
            <a:xfrm>
              <a:off x="831850" y="5043805"/>
              <a:ext cx="8032115" cy="249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355F7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文档要做好归档，规划好存储目录，可以将其写入到</a:t>
              </a:r>
              <a:r>
                <a:rPr lang="en-US" altLang="zh-CN" sz="1280" dirty="0">
                  <a:solidFill>
                    <a:srgbClr val="355F7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AGENTS.md</a:t>
              </a:r>
              <a:r>
                <a:rPr lang="zh-CN" sz="1280" dirty="0">
                  <a:solidFill>
                    <a:srgbClr val="355F7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r>
                <a:rPr altLang="en-US" sz="1280" dirty="0">
                  <a:solidFill>
                    <a:srgbClr val="355F7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；</a:t>
              </a:r>
              <a:endParaRPr altLang="en-US" sz="1280" dirty="0">
                <a:solidFill>
                  <a:srgbClr val="355F7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716407" y="5452427"/>
            <a:ext cx="10871327" cy="1021334"/>
            <a:chOff x="716407" y="5452427"/>
            <a:chExt cx="10871327" cy="1021334"/>
          </a:xfrm>
        </p:grpSpPr>
        <p:sp>
          <p:nvSpPr>
            <p:cNvPr id="42" name="TextBox 42"/>
            <p:cNvSpPr/>
            <p:nvPr/>
          </p:nvSpPr>
          <p:spPr>
            <a:xfrm>
              <a:off x="716407" y="5452427"/>
              <a:ext cx="4575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文档让研究可接续；</a:t>
              </a:r>
              <a:r>
                <a:rPr lang="zh-CN" sz="13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代码和实验结果负责验证。</a:t>
              </a:r>
              <a:endPara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215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12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5460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VS Code 中使用 Codex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一次任务按安装、提供上下文、检查结果三个环节完成。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setup"/>
          <p:cNvGrpSpPr/>
          <p:nvPr/>
        </p:nvGrpSpPr>
        <p:grpSpPr>
          <a:xfrm>
            <a:off x="601218" y="1936432"/>
            <a:ext cx="3342132" cy="3715893"/>
            <a:chOff x="601218" y="1936432"/>
            <a:chExt cx="3342132" cy="371589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6060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安装并登录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3030394"/>
              <a:ext cx="3333750" cy="1292511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02742" y="5093018"/>
              <a:ext cx="2573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在扩展市场安装或启用 Codex，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53882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登录后打开实际项目文件夹。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task"/>
          <p:cNvGrpSpPr/>
          <p:nvPr/>
        </p:nvGrpSpPr>
        <p:grpSpPr>
          <a:xfrm>
            <a:off x="4277868" y="1936432"/>
            <a:ext cx="3342132" cy="3715893"/>
            <a:chOff x="4277868" y="1936432"/>
            <a:chExt cx="3342132" cy="3715893"/>
          </a:xfrm>
        </p:grpSpPr>
        <p:sp>
          <p:nvSpPr>
            <p:cNvPr id="12" name="TextBox 12"/>
            <p:cNvSpPr txBox="1"/>
            <p:nvPr/>
          </p:nvSpPr>
          <p:spPr>
            <a:xfrm>
              <a:off x="4277868" y="1936432"/>
              <a:ext cx="13839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说明任务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428625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9365" y="2533650"/>
              <a:ext cx="2807521" cy="22860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4541647" y="5093018"/>
              <a:ext cx="25717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在聊天框中交代目标和任务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28312" y="53882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同时写明完成标准。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review"/>
          <p:cNvGrpSpPr/>
          <p:nvPr/>
        </p:nvGrpSpPr>
        <p:grpSpPr>
          <a:xfrm>
            <a:off x="7954518" y="1936432"/>
            <a:ext cx="3627882" cy="3715893"/>
            <a:chOff x="7954518" y="1936432"/>
            <a:chExt cx="3627882" cy="3715893"/>
          </a:xfrm>
        </p:grpSpPr>
        <p:sp>
          <p:nvSpPr>
            <p:cNvPr id="18" name="TextBox 18"/>
            <p:cNvSpPr txBox="1"/>
            <p:nvPr/>
          </p:nvSpPr>
          <p:spPr>
            <a:xfrm>
              <a:off x="7954518" y="1936432"/>
              <a:ext cx="22724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补充上下文并审查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7962900" y="23431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3463" y="2533650"/>
              <a:ext cx="2898375" cy="22860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8333867" y="5093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引用相关文件、选区或报错，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38312" y="5388292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结束后检查 diff 与测试结果。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4" name="Line 24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885" y="6098381"/>
              <a:ext cx="3795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4"/>
                </a:rPr>
                <a:t>OpenAI Codex IDE 扩展文档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5"/>
                </a:rPr>
                <a:t>VS Code 使用参考教程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5"/>
              </a:endParaRPr>
            </a:p>
          </p:txBody>
        </p:sp>
        <p:sp>
          <p:nvSpPr>
            <p:cNvPr id="26" name="TextBox 26"/>
            <p:cNvSpPr/>
            <p:nvPr/>
          </p:nvSpPr>
          <p:spPr>
            <a:xfrm>
              <a:off x="11421618" y="6106478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050" dirty="0">
                  <a:solidFill>
                    <a:srgbClr val="81909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13</a:t>
              </a:r>
              <a:endParaRPr lang="en-US" sz="1050" dirty="0">
                <a:solidFill>
                  <a:srgbClr val="81909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00202" y="530542"/>
            <a:ext cx="10987278" cy="576263"/>
            <a:chOff x="595122" y="530542"/>
            <a:chExt cx="10987278" cy="57626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363982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Codex的聊天分支</a:t>
              </a:r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09728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7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4" name="Line 24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885" y="6098381"/>
              <a:ext cx="3795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OpenAI Codex IDE 扩展文档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VS Code 使用参考教程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26" name="TextBox 26"/>
            <p:cNvSpPr/>
            <p:nvPr/>
          </p:nvSpPr>
          <p:spPr>
            <a:xfrm>
              <a:off x="11421618" y="6106478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050" dirty="0">
                  <a:solidFill>
                    <a:srgbClr val="81909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13</a:t>
              </a:r>
              <a:endParaRPr lang="en-US" sz="1050" dirty="0">
                <a:solidFill>
                  <a:srgbClr val="81909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" y="1356995"/>
            <a:ext cx="4902200" cy="368935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6019165" y="1097280"/>
            <a:ext cx="5469255" cy="1108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  <a:p>
            <a:r>
              <a:rPr lang="zh-CN" altLang="en-US" b="1">
                <a:solidFill>
                  <a:schemeClr val="accent2"/>
                </a:solidFill>
              </a:rPr>
              <a:t>分支记忆隔离：</a:t>
            </a:r>
            <a:endParaRPr lang="zh-CN" altLang="en-US" b="1">
              <a:solidFill>
                <a:schemeClr val="accent2"/>
              </a:solidFill>
            </a:endParaRPr>
          </a:p>
          <a:p>
            <a:r>
              <a:rPr lang="zh-CN" altLang="en-US"/>
              <a:t>新的分支会继承原先分支的记忆，并与原先的分支记忆隔离，之间相互</a:t>
            </a:r>
            <a:r>
              <a:rPr lang="zh-CN" altLang="en-US"/>
              <a:t>不影响；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096000" y="2785110"/>
            <a:ext cx="59696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/>
                </a:solidFill>
              </a:rPr>
              <a:t>适用示例：</a:t>
            </a:r>
            <a:endParaRPr lang="zh-CN" altLang="en-US" b="1">
              <a:solidFill>
                <a:schemeClr val="accent2"/>
              </a:solidFill>
            </a:endParaRPr>
          </a:p>
          <a:p>
            <a:r>
              <a:rPr lang="zh-CN" altLang="en-US"/>
              <a:t>共同起点：研究</a:t>
            </a:r>
            <a:r>
              <a:rPr lang="zh-CN" altLang="en-US"/>
              <a:t>方向论文复现</a:t>
            </a:r>
            <a:r>
              <a:rPr lang="zh-CN" altLang="en-US"/>
              <a:t>完成</a:t>
            </a:r>
            <a:endParaRPr lang="zh-CN" altLang="en-US"/>
          </a:p>
          <a:p>
            <a:r>
              <a:rPr lang="zh-CN" altLang="en-US"/>
              <a:t>             ├─ 分支 </a:t>
            </a:r>
            <a:r>
              <a:rPr lang="en-US" altLang="zh-CN"/>
              <a:t>A：</a:t>
            </a:r>
            <a:r>
              <a:rPr altLang="en-US"/>
              <a:t>调整假设，往方向</a:t>
            </a:r>
            <a:r>
              <a:rPr lang="en-US" altLang="zh-CN"/>
              <a:t>A</a:t>
            </a:r>
            <a:r>
              <a:rPr altLang="en-US"/>
              <a:t>探索改进方案；</a:t>
            </a:r>
            <a:endParaRPr lang="zh-CN" altLang="en-US"/>
          </a:p>
          <a:p>
            <a:r>
              <a:rPr lang="zh-CN" altLang="en-US"/>
              <a:t>             └─ 分支 </a:t>
            </a:r>
            <a:r>
              <a:rPr lang="en-US" altLang="zh-CN"/>
              <a:t>B：</a:t>
            </a:r>
            <a:r>
              <a:rPr lang="zh-CN" altLang="en-US"/>
              <a:t>调整假设，</a:t>
            </a:r>
            <a:r>
              <a:rPr altLang="en-US">
                <a:sym typeface="+mn-ea"/>
              </a:rPr>
              <a:t>往方向</a:t>
            </a:r>
            <a:r>
              <a:rPr lang="en-US" altLang="zh-CN">
                <a:sym typeface="+mn-ea"/>
              </a:rPr>
              <a:t>B</a:t>
            </a:r>
            <a:r>
              <a:rPr lang="zh-CN" altLang="en-US"/>
              <a:t>探索改进方案；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2412365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的版本</a:t>
              </a:r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99948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sz="1580" dirty="0">
                  <a:solidFill>
                    <a:schemeClr val="accent5"/>
                  </a:solidFill>
                  <a:sym typeface="+mn-ea"/>
                </a:rPr>
                <a:t>Git 管理版本与历史；GitHub、GitLab 等平台负责远程托管与协作。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1" name="git-four-zones"/>
          <p:cNvGrpSpPr/>
          <p:nvPr/>
        </p:nvGrpSpPr>
        <p:grpSpPr>
          <a:xfrm>
            <a:off x="594995" y="3291840"/>
            <a:ext cx="10972800" cy="2876550"/>
            <a:chOff x="609600" y="2438400"/>
            <a:chExt cx="10972800" cy="2876550"/>
          </a:xfrm>
        </p:grpSpPr>
        <p:sp>
          <p:nvSpPr>
            <p:cNvPr id="6" name="Line 6"/>
            <p:cNvSpPr/>
            <p:nvPr/>
          </p:nvSpPr>
          <p:spPr>
            <a:xfrm>
              <a:off x="27241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567690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86296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>
              <a:off x="8629650" y="3790950"/>
              <a:ext cx="8382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86548" y="2730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add</a:t>
              </a:r>
              <a:endParaRPr lang="en-US" sz="1350" b="1" dirty="0">
                <a:solidFill>
                  <a:srgbClr val="355F7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9365" y="27308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commit</a:t>
              </a:r>
              <a:endParaRPr lang="en-US" sz="1350" b="1" dirty="0">
                <a:solidFill>
                  <a:srgbClr val="355F7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2071" y="27308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push</a:t>
              </a:r>
              <a:endParaRPr lang="en-US" sz="1350" b="1" dirty="0">
                <a:solidFill>
                  <a:srgbClr val="527A7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2071" y="39690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pull</a:t>
              </a:r>
              <a:endParaRPr lang="en-US" sz="1350" b="1" dirty="0">
                <a:solidFill>
                  <a:srgbClr val="527A7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09600" y="2438400"/>
              <a:ext cx="10972800" cy="1809750"/>
              <a:chOff x="609600" y="2438400"/>
              <a:chExt cx="10972800" cy="1809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317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867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工作区</a:t>
                </a:r>
                <a:endPara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1723" y="3348514"/>
                <a:ext cx="11097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Working Tree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1342" y="37785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正在编辑的文件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562350" y="2438400"/>
                <a:ext cx="192659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844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78142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暂存区</a:t>
                </a:r>
                <a:endPara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784473" y="3348514"/>
                <a:ext cx="10748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Staging Area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784092" y="36833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本次提交准备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84092" y="3930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包含的内容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672580" y="2438400"/>
                <a:ext cx="1840865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7372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73417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本地仓库</a:t>
                </a:r>
                <a:endPara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37223" y="3348514"/>
                <a:ext cx="141054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Local Repository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736842" y="36833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已固化、可恢复的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3684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提交历史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4678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899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A9C9BB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endParaRPr lang="zh-CN" sz="1280" b="1" dirty="0">
                  <a:solidFill>
                    <a:srgbClr val="A9C9BB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68692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远程仓库</a:t>
                </a:r>
                <a:endPara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89973" y="3348514"/>
                <a:ext cx="15834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C3CDD2"/>
                    </a:solidFill>
                    <a:latin typeface="+mn-lt"/>
                    <a:ea typeface="+mn-ea"/>
                    <a:cs typeface="+mn-cs"/>
                  </a:rPr>
                  <a:t>Remote Repository</a:t>
                </a:r>
                <a:endParaRPr lang="en-US" sz="1280" dirty="0">
                  <a:solidFill>
                    <a:srgbClr val="C3CDD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89592" y="36833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团队同步与远程</a:t>
                </a:r>
                <a:endPara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68959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备份协作</a:t>
                </a:r>
                <a:endPara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8" name="Rectangle 38"/>
            <p:cNvSpPr/>
            <p:nvPr/>
          </p:nvSpPr>
          <p:spPr>
            <a:xfrm>
              <a:off x="609600" y="4629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17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观察状态</a:t>
              </a:r>
              <a:endParaRPr lang="zh-CN" sz="12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723" y="5043964"/>
              <a:ext cx="4966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status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看位置　·　</a:t>
              </a:r>
              <a:r>
                <a:rPr lang="en-US" sz="1280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diff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看差异　·　</a:t>
              </a:r>
              <a:r>
                <a:rPr lang="en-US" sz="1280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log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看历史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it-definition"/>
          <p:cNvGrpSpPr/>
          <p:nvPr/>
        </p:nvGrpSpPr>
        <p:grpSpPr>
          <a:xfrm>
            <a:off x="597535" y="1569085"/>
            <a:ext cx="10333990" cy="1170042"/>
            <a:chOff x="597408" y="2064068"/>
            <a:chExt cx="5481979" cy="1169962"/>
          </a:xfrm>
        </p:grpSpPr>
        <p:sp>
          <p:nvSpPr>
            <p:cNvPr id="46" name="TextBox 6"/>
            <p:cNvSpPr txBox="1"/>
            <p:nvPr/>
          </p:nvSpPr>
          <p:spPr>
            <a:xfrm>
              <a:off x="602742" y="2064068"/>
              <a:ext cx="2876794" cy="2076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DISTRIBUTED VERSION CONTROL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7"/>
            <p:cNvSpPr txBox="1"/>
            <p:nvPr/>
          </p:nvSpPr>
          <p:spPr>
            <a:xfrm>
              <a:off x="597408" y="2465070"/>
              <a:ext cx="2286000" cy="3689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每个本地仓库，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8"/>
            <p:cNvSpPr txBox="1"/>
            <p:nvPr/>
          </p:nvSpPr>
          <p:spPr>
            <a:xfrm>
              <a:off x="597408" y="2865120"/>
              <a:ext cx="2609088" cy="3689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都拥有完整历史。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10"/>
            <p:cNvSpPr txBox="1"/>
            <p:nvPr/>
          </p:nvSpPr>
          <p:spPr>
            <a:xfrm>
              <a:off x="2430899" y="2540325"/>
              <a:ext cx="1159709" cy="2177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≠ GitHub</a:t>
              </a:r>
              <a:endParaRPr lang="en-US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11"/>
            <p:cNvSpPr txBox="1"/>
            <p:nvPr/>
          </p:nvSpPr>
          <p:spPr>
            <a:xfrm>
              <a:off x="2430931" y="2914189"/>
              <a:ext cx="3648456" cy="2076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前者是版本控制工具，后者是远程协作平台，</a:t>
              </a:r>
              <a:r>
                <a:rPr lang="en-US" alt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</a:t>
              </a:r>
              <a:r>
                <a:rPr alt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在本地进行操作，</a:t>
              </a:r>
              <a:r>
                <a:rPr lang="en-US" alt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</a:t>
              </a:r>
              <a:r>
                <a:rPr lang="en-US" alt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Hub</a:t>
              </a:r>
              <a:r>
                <a:rPr alt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可以做远程仓库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3028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Git 管理科研实验版本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把研究假设、代码、配置、验证结果与提交历史连在一起。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3" name="experiment-branches"/>
          <p:cNvGrpSpPr/>
          <p:nvPr/>
        </p:nvGrpSpPr>
        <p:grpSpPr>
          <a:xfrm>
            <a:off x="724791" y="2474119"/>
            <a:ext cx="7124190" cy="2573464"/>
            <a:chOff x="742571" y="2015014"/>
            <a:chExt cx="7124190" cy="2573464"/>
          </a:xfrm>
        </p:grpSpPr>
        <p:sp>
          <p:nvSpPr>
            <p:cNvPr id="6" name="Line 6"/>
            <p:cNvSpPr/>
            <p:nvPr/>
          </p:nvSpPr>
          <p:spPr>
            <a:xfrm>
              <a:off x="914400" y="4095750"/>
              <a:ext cx="6762750" cy="1"/>
            </a:xfrm>
            <a:prstGeom prst="line">
              <a:avLst/>
            </a:prstGeom>
            <a:noFill/>
            <a:ln w="57150" cap="rnd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1809750" y="2857500"/>
              <a:ext cx="571500" cy="1238250"/>
            </a:xfrm>
            <a:custGeom>
              <a:avLst/>
              <a:gdLst/>
              <a:ahLst/>
              <a:cxnLst/>
              <a:rect l="l" t="t" r="r" b="b"/>
              <a:pathLst>
                <a:path w="571500" h="1238250">
                  <a:moveTo>
                    <a:pt x="0" y="123825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381250" y="2857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95750" y="2857500"/>
              <a:ext cx="666750" cy="1238250"/>
            </a:xfrm>
            <a:custGeom>
              <a:avLst/>
              <a:gdLst/>
              <a:ahLst/>
              <a:cxnLst/>
              <a:rect l="l" t="t" r="r" b="b"/>
              <a:pathLst>
                <a:path w="666750" h="1238250">
                  <a:moveTo>
                    <a:pt x="0" y="0"/>
                  </a:moveTo>
                  <a:lnTo>
                    <a:pt x="666750" y="12382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42900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7620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095750" y="33337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81025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7620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048250" y="2381250"/>
              <a:ext cx="666750" cy="1714500"/>
            </a:xfrm>
            <a:custGeom>
              <a:avLst/>
              <a:gdLst/>
              <a:ahLst/>
              <a:cxnLst/>
              <a:rect l="l" t="t" r="r" b="b"/>
              <a:pathLst>
                <a:path w="666750" h="1714500">
                  <a:moveTo>
                    <a:pt x="0" y="17145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15000" y="2381250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124700" y="2381250"/>
              <a:ext cx="400050" cy="1714500"/>
            </a:xfrm>
            <a:custGeom>
              <a:avLst/>
              <a:gdLst/>
              <a:ahLst/>
              <a:cxnLst/>
              <a:rect l="l" t="t" r="r" b="b"/>
              <a:pathLst>
                <a:path w="400050" h="1714500">
                  <a:moveTo>
                    <a:pt x="0" y="0"/>
                  </a:moveTo>
                  <a:lnTo>
                    <a:pt x="400050" y="171450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42950" y="2247900"/>
              <a:ext cx="7105650" cy="2019300"/>
              <a:chOff x="742950" y="2247900"/>
              <a:chExt cx="7105650" cy="20193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4295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7145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33375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9530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750570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105150" y="272415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4819650" y="32004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343650" y="22479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rgbClr val="6C8D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42571" y="4339114"/>
              <a:ext cx="800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基线</a:t>
              </a:r>
              <a:endParaRPr lang="zh-CN" sz="12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99415" y="249126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实验 A · config-a</a:t>
              </a:r>
              <a:endParaRPr lang="zh-CN" sz="1280" b="1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13915" y="30437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实验 B · config-b</a:t>
              </a:r>
              <a:endParaRPr lang="zh-CN" sz="128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37915" y="20150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4C68CC"/>
                  </a:solidFill>
                  <a:latin typeface="+mn-lt"/>
                  <a:ea typeface="+mn-ea"/>
                  <a:cs typeface="+mn-cs"/>
                </a:rPr>
                <a:t>实验 C · config-c</a:t>
              </a:r>
              <a:endParaRPr lang="zh-CN" sz="1280" b="1" dirty="0">
                <a:solidFill>
                  <a:srgbClr val="4C68C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2239" y="43391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验证后合并</a:t>
              </a:r>
              <a:endParaRPr lang="zh-CN" sz="128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track-ignore"/>
          <p:cNvGrpSpPr/>
          <p:nvPr/>
        </p:nvGrpSpPr>
        <p:grpSpPr>
          <a:xfrm>
            <a:off x="8153400" y="1714500"/>
            <a:ext cx="3429000" cy="4114800"/>
            <a:chOff x="8153400" y="1714500"/>
            <a:chExt cx="3429000" cy="4114800"/>
          </a:xfrm>
        </p:grpSpPr>
        <p:sp>
          <p:nvSpPr>
            <p:cNvPr id="34" name="Rectangle 34"/>
            <p:cNvSpPr/>
            <p:nvPr/>
          </p:nvSpPr>
          <p:spPr>
            <a:xfrm>
              <a:off x="8153400" y="1714500"/>
              <a:ext cx="3429000" cy="1924050"/>
            </a:xfrm>
            <a:prstGeom prst="roundRect">
              <a:avLst>
                <a:gd name="adj" fmla="val 1980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736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应该追踪</a:t>
              </a:r>
              <a:endParaRPr lang="zh-CN" sz="165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5142" y="2311718"/>
              <a:ext cx="151701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源代码和文档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5142" y="2635568"/>
              <a:ext cx="1431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配置与环境依赖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53400" y="3829050"/>
              <a:ext cx="3429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73618" y="40319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应该忽略或外部管理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5142" y="4426268"/>
              <a:ext cx="1976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密钥、缓存与临时文件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5142" y="47501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大型原始数据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5142" y="5073968"/>
              <a:ext cx="179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可由脚本重建的输出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47" name="TextBox 47"/>
            <p:cNvSpPr txBox="1"/>
            <p:nvPr/>
          </p:nvSpPr>
          <p:spPr>
            <a:xfrm>
              <a:off x="603885" y="61841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分支不是越多越好：一个研究假设或修复，对应一个短而清楚的分支。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/>
            <p:nvPr/>
          </p:nvSpPr>
          <p:spPr>
            <a:xfrm>
              <a:off x="11421618" y="619220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050" dirty="0">
                  <a:solidFill>
                    <a:srgbClr val="81909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17</a:t>
              </a:r>
              <a:endParaRPr lang="en-US" sz="1050" dirty="0">
                <a:solidFill>
                  <a:srgbClr val="81909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412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的日常操作顺序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先看状态和差异，再精确暂存；验证通过后提交，最后推送。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2" name="safe-loop"/>
          <p:cNvGrpSpPr/>
          <p:nvPr/>
        </p:nvGrpSpPr>
        <p:grpSpPr>
          <a:xfrm>
            <a:off x="742950" y="1903571"/>
            <a:ext cx="2949392" cy="3456432"/>
            <a:chOff x="742950" y="1903571"/>
            <a:chExt cx="2949392" cy="3456432"/>
          </a:xfrm>
        </p:grpSpPr>
        <p:sp>
          <p:nvSpPr>
            <p:cNvPr id="6" name="Line 6"/>
            <p:cNvSpPr/>
            <p:nvPr/>
          </p:nvSpPr>
          <p:spPr>
            <a:xfrm>
              <a:off x="914400" y="2114550"/>
              <a:ext cx="1" cy="289560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42950" y="1903571"/>
              <a:ext cx="2949392" cy="3456432"/>
              <a:chOff x="742950" y="1903571"/>
              <a:chExt cx="2949392" cy="3456432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42950" y="19431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58167" y="20340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31011" y="190357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pull</a:t>
                </a:r>
                <a:endParaRPr lang="en-US" sz="142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1773" y="21578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开始前同步远程更新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742950" y="25336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58167" y="26246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1011" y="2494121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修改并测试</a:t>
                </a:r>
                <a:endPara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1773" y="2748439"/>
                <a:ext cx="20807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完成一个边界清楚的小任务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42950" y="31242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58167" y="32151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1011" y="3084671"/>
                <a:ext cx="2222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status / git diff</a:t>
                </a:r>
                <a:endParaRPr lang="en-US" sz="142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1773" y="33389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确认变更范围与内容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42950" y="37147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58167" y="38057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1011" y="3675221"/>
                <a:ext cx="159155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add &lt;files&gt;</a:t>
                </a:r>
                <a:endParaRPr lang="en-US" sz="142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1773" y="39295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只暂存当前任务文件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742950" y="4305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8167" y="43962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31011" y="4265771"/>
                <a:ext cx="246133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527A75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git commit -m "说明原因"</a:t>
                </a:r>
                <a:endParaRPr lang="zh-CN" sz="1420" b="1" dirty="0">
                  <a:solidFill>
                    <a:srgbClr val="527A7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1773" y="45200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让历史回答为什么改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42950" y="48958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58167" y="49868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31011" y="485632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push</a:t>
                </a:r>
                <a:endParaRPr lang="en-US" sz="14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31773" y="51106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同步到对应远程分支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" name="terminal-example"/>
          <p:cNvGrpSpPr/>
          <p:nvPr/>
        </p:nvGrpSpPr>
        <p:grpSpPr>
          <a:xfrm>
            <a:off x="6343650" y="1695450"/>
            <a:ext cx="5238750" cy="3619500"/>
            <a:chOff x="6343650" y="1695450"/>
            <a:chExt cx="5238750" cy="3619500"/>
          </a:xfrm>
        </p:grpSpPr>
        <p:sp>
          <p:nvSpPr>
            <p:cNvPr id="33" name="Rectangle 33"/>
            <p:cNvSpPr/>
            <p:nvPr/>
          </p:nvSpPr>
          <p:spPr>
            <a:xfrm>
              <a:off x="6343650" y="1695450"/>
              <a:ext cx="5238750" cy="3619500"/>
            </a:xfrm>
            <a:prstGeom prst="roundRect">
              <a:avLst>
                <a:gd name="adj" fmla="val 105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43650" y="1695450"/>
              <a:ext cx="5238750" cy="438150"/>
            </a:xfrm>
            <a:prstGeom prst="roundRect">
              <a:avLst>
                <a:gd name="adj" fmla="val 8696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76135" y="1850231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terminal · experiment-fix</a:t>
              </a:r>
              <a:endParaRPr lang="en-US" sz="112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641592" y="2426018"/>
              <a:ext cx="4419295" cy="2321433"/>
              <a:chOff x="6641592" y="2426018"/>
              <a:chExt cx="4419295" cy="232143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6641592" y="2426018"/>
                <a:ext cx="12131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status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641592" y="2768918"/>
                <a:ext cx="31123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modified: configs/baseline.yaml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41592" y="31118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diff --stat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641592" y="3454718"/>
                <a:ext cx="33122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2 files changed, 18 insertions(+)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41592" y="3797618"/>
                <a:ext cx="4111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add configs/baseline.yaml src/run.m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41592" y="4140518"/>
                <a:ext cx="44192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commit -m "Fix baseline seed handling"</a:t>
                </a:r>
                <a:endPara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41592" y="4483418"/>
                <a:ext cx="34121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[experiment-fix 6f2a1c9] committed</a:t>
                </a:r>
                <a:endPara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6642354" y="49377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3CDD2"/>
                  </a:solidFill>
                  <a:latin typeface="+mn-lt"/>
                  <a:ea typeface="+mn-ea"/>
                  <a:cs typeface="+mn-cs"/>
                </a:rPr>
                <a:t>一次提交只讲一件事，审查与回退都会更容易。</a:t>
              </a:r>
              <a:endParaRPr lang="zh-CN" sz="1200" dirty="0">
                <a:solidFill>
                  <a:srgbClr val="C3CDD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risk-warning"/>
          <p:cNvGrpSpPr/>
          <p:nvPr/>
        </p:nvGrpSpPr>
        <p:grpSpPr>
          <a:xfrm>
            <a:off x="831342" y="5816918"/>
            <a:ext cx="10756392" cy="694943"/>
            <a:chOff x="831342" y="5816918"/>
            <a:chExt cx="10756392" cy="694943"/>
          </a:xfrm>
        </p:grpSpPr>
        <p:sp>
          <p:nvSpPr>
            <p:cNvPr id="46" name="TextBox 46"/>
            <p:cNvSpPr txBox="1"/>
            <p:nvPr/>
          </p:nvSpPr>
          <p:spPr>
            <a:xfrm>
              <a:off x="831342" y="58169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风险提示：</a:t>
              </a:r>
              <a:r>
                <a:rPr lang="zh-CN" sz="1350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未理解影响前，不使用会覆盖历史或丢失修改的强制命令。</a:t>
              </a:r>
              <a:endParaRPr lang="zh-CN" sz="1350" dirty="0">
                <a:solidFill>
                  <a:srgbClr val="8A4B0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/>
            <p:nvPr/>
          </p:nvSpPr>
          <p:spPr>
            <a:xfrm>
              <a:off x="11421618" y="6306502"/>
              <a:ext cx="166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050" dirty="0">
                  <a:solidFill>
                    <a:srgbClr val="81909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16</a:t>
              </a:r>
              <a:endParaRPr lang="en-US" sz="1050" dirty="0">
                <a:solidFill>
                  <a:srgbClr val="81909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85597" y="568642"/>
            <a:ext cx="10996803" cy="907733"/>
            <a:chOff x="585597" y="568642"/>
            <a:chExt cx="10996803" cy="907733"/>
          </a:xfrm>
        </p:grpSpPr>
        <p:sp>
          <p:nvSpPr>
            <p:cNvPr id="2" name="TextBox 2"/>
            <p:cNvSpPr txBox="1"/>
            <p:nvPr/>
          </p:nvSpPr>
          <p:spPr>
            <a:xfrm>
              <a:off x="585597" y="568642"/>
              <a:ext cx="21717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科研推进</a:t>
              </a:r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过程</a:t>
              </a:r>
              <a:endParaRPr lang="zh-CN" sz="28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455" y="106680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从遇到问题到采用算法，中间要反复检查条件和结果。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0075" y="14668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39" name="research-path"/>
          <p:cNvGrpSpPr/>
          <p:nvPr>
            <p:custDataLst>
              <p:tags r:id="rId1"/>
            </p:custDataLst>
          </p:nvPr>
        </p:nvGrpSpPr>
        <p:grpSpPr>
          <a:xfrm>
            <a:off x="580263" y="1902142"/>
            <a:ext cx="10278237" cy="2523332"/>
            <a:chOff x="580263" y="1902142"/>
            <a:chExt cx="10278237" cy="2523332"/>
          </a:xfrm>
        </p:grpSpPr>
        <p:grpSp>
          <p:nvGrpSpPr>
            <p:cNvPr id="13" name="stage-01"/>
            <p:cNvGrpSpPr/>
            <p:nvPr/>
          </p:nvGrpSpPr>
          <p:grpSpPr>
            <a:xfrm>
              <a:off x="580263" y="1902142"/>
              <a:ext cx="2145284" cy="1398176"/>
              <a:chOff x="580263" y="1902142"/>
              <a:chExt cx="2145284" cy="1398176"/>
            </a:xfrm>
          </p:grpSpPr>
          <p:sp>
            <p:nvSpPr>
              <p:cNvPr id="9" name="TextBox 9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83692" y="1902142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45677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350" b="1" dirty="0">
                  <a:solidFill>
                    <a:srgbClr val="456779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80263" y="2219801"/>
                <a:ext cx="1108304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遇到问题</a:t>
                </a:r>
                <a:endPara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82549" y="2677954"/>
                <a:ext cx="2006600" cy="2425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比如反射面数量未知；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549" y="2992279"/>
                <a:ext cx="21429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分组或定位结果不稳。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8" name="stage-02"/>
            <p:cNvGrpSpPr/>
            <p:nvPr/>
          </p:nvGrpSpPr>
          <p:grpSpPr>
            <a:xfrm>
              <a:off x="3332988" y="1902142"/>
              <a:ext cx="1932584" cy="1332707"/>
              <a:chOff x="3332988" y="1902142"/>
              <a:chExt cx="1932584" cy="1332707"/>
            </a:xfrm>
          </p:grpSpPr>
          <p:sp>
            <p:nvSpPr>
              <p:cNvPr id="14" name="TextBox 14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36417" y="1902142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45677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350" b="1" dirty="0">
                  <a:solidFill>
                    <a:srgbClr val="456779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332988" y="2219801"/>
                <a:ext cx="1108304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寻找方法</a:t>
                </a:r>
                <a:endPara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335274" y="2677954"/>
                <a:ext cx="19302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读论文，辨清模型、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335274" y="2992279"/>
                <a:ext cx="1805940" cy="2425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确定是否需要</a:t>
                </a:r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尝试。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stage-03"/>
            <p:cNvGrpSpPr/>
            <p:nvPr/>
          </p:nvGrpSpPr>
          <p:grpSpPr>
            <a:xfrm>
              <a:off x="6085713" y="1902142"/>
              <a:ext cx="1406906" cy="1332707"/>
              <a:chOff x="6085713" y="1902142"/>
              <a:chExt cx="1406906" cy="1332707"/>
            </a:xfrm>
          </p:grpSpPr>
          <p:sp>
            <p:nvSpPr>
              <p:cNvPr id="19" name="TextBox 19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089142" y="1902142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45677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350" b="1" dirty="0">
                  <a:solidFill>
                    <a:srgbClr val="456779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085713" y="2219801"/>
                <a:ext cx="1108304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独立复现</a:t>
                </a:r>
                <a:endPara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6087999" y="2677954"/>
                <a:ext cx="1003300" cy="2425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论文复现，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087999" y="2992279"/>
                <a:ext cx="1404620" cy="2425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确认是否</a:t>
                </a:r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可行。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8" name="stage-04"/>
            <p:cNvGrpSpPr/>
            <p:nvPr/>
          </p:nvGrpSpPr>
          <p:grpSpPr>
            <a:xfrm>
              <a:off x="8838438" y="1902142"/>
              <a:ext cx="1932584" cy="1398176"/>
              <a:chOff x="8838438" y="1902142"/>
              <a:chExt cx="1932584" cy="1398176"/>
            </a:xfrm>
          </p:grpSpPr>
          <p:sp>
            <p:nvSpPr>
              <p:cNvPr id="24" name="TextBox 24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8841867" y="1902142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45677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350" b="1" dirty="0">
                  <a:solidFill>
                    <a:srgbClr val="456779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8838438" y="2219801"/>
                <a:ext cx="1026160" cy="309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验证算法</a:t>
                </a:r>
                <a:endPara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8840724" y="2677954"/>
                <a:ext cx="1605280" cy="2425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应用到当前</a:t>
                </a:r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问题，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8840724" y="2992279"/>
                <a:ext cx="19302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最终指标是否改善。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9" name="Line 29"/>
            <p:cNvSpPr/>
            <p:nvPr>
              <p:custDataLst>
                <p:tags r:id="rId18"/>
              </p:custDataLst>
            </p:nvPr>
          </p:nvSpPr>
          <p:spPr>
            <a:xfrm>
              <a:off x="762000" y="3524250"/>
              <a:ext cx="10048875" cy="9525"/>
            </a:xfrm>
            <a:custGeom>
              <a:avLst/>
              <a:gdLst/>
              <a:ahLst/>
              <a:cxnLst/>
              <a:rect l="l" t="t" r="r" b="b"/>
              <a:pathLst>
                <a:path w="10048875" h="9525">
                  <a:moveTo>
                    <a:pt x="0" y="0"/>
                  </a:moveTo>
                  <a:lnTo>
                    <a:pt x="10048875" y="0"/>
                  </a:lnTo>
                </a:path>
              </a:pathLst>
            </a:custGeom>
            <a:noFill/>
            <a:ln w="19050">
              <a:solidFill>
                <a:srgbClr val="456779"/>
              </a:solidFill>
            </a:ln>
          </p:spPr>
        </p:sp>
        <p:sp>
          <p:nvSpPr>
            <p:cNvPr id="30" name="Ellipse 30"/>
            <p:cNvSpPr/>
            <p:nvPr>
              <p:custDataLst>
                <p:tags r:id="rId19"/>
              </p:custDataLst>
            </p:nvPr>
          </p:nvSpPr>
          <p:spPr>
            <a:xfrm>
              <a:off x="714375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1" name="Ellipse 31"/>
            <p:cNvSpPr/>
            <p:nvPr>
              <p:custDataLst>
                <p:tags r:id="rId20"/>
              </p:custDataLst>
            </p:nvPr>
          </p:nvSpPr>
          <p:spPr>
            <a:xfrm>
              <a:off x="3467100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2" name="Ellipse 32"/>
            <p:cNvSpPr/>
            <p:nvPr>
              <p:custDataLst>
                <p:tags r:id="rId21"/>
              </p:custDataLst>
            </p:nvPr>
          </p:nvSpPr>
          <p:spPr>
            <a:xfrm>
              <a:off x="6219825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3" name="Ellipse 33"/>
            <p:cNvSpPr/>
            <p:nvPr>
              <p:custDataLst>
                <p:tags r:id="rId22"/>
              </p:custDataLst>
            </p:nvPr>
          </p:nvSpPr>
          <p:spPr>
            <a:xfrm>
              <a:off x="8972550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4" name="Ellipse 34"/>
            <p:cNvSpPr/>
            <p:nvPr>
              <p:custDataLst>
                <p:tags r:id="rId23"/>
              </p:custDataLst>
            </p:nvPr>
          </p:nvSpPr>
          <p:spPr>
            <a:xfrm>
              <a:off x="10763250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0810875" y="35242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19050">
              <a:solidFill>
                <a:srgbClr val="648681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009650" y="4019550"/>
              <a:ext cx="9801225" cy="9525"/>
            </a:xfrm>
            <a:custGeom>
              <a:avLst/>
              <a:gdLst/>
              <a:ahLst/>
              <a:cxnLst/>
              <a:rect l="l" t="t" r="r" b="b"/>
              <a:pathLst>
                <a:path w="9801225" h="9525">
                  <a:moveTo>
                    <a:pt x="98012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648681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1009650" y="3962400"/>
              <a:ext cx="123825" cy="114300"/>
            </a:xfrm>
            <a:custGeom>
              <a:avLst/>
              <a:gdLst/>
              <a:ahLst/>
              <a:cxnLst/>
              <a:rect l="l" t="t" r="r" b="b"/>
              <a:pathLst>
                <a:path w="123825" h="114300">
                  <a:moveTo>
                    <a:pt x="0" y="57150"/>
                  </a:moveTo>
                  <a:lnTo>
                    <a:pt x="123825" y="0"/>
                  </a:lnTo>
                  <a:lnTo>
                    <a:pt x="123825" y="114300"/>
                  </a:lnTo>
                  <a:close/>
                </a:path>
              </a:pathLst>
            </a:custGeom>
            <a:solidFill>
              <a:srgbClr val="64868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344549" y="4182904"/>
              <a:ext cx="581914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4868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条件不满足或结果无改善，就回头检查问题、继续尝试</a:t>
              </a:r>
              <a:r>
                <a:rPr lang="zh-CN" sz="1580" dirty="0">
                  <a:solidFill>
                    <a:srgbClr val="64868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其他方法。</a:t>
              </a:r>
              <a:endParaRPr lang="zh-CN" sz="1580" dirty="0">
                <a:solidFill>
                  <a:srgbClr val="64868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0" name="Line 40"/>
          <p:cNvSpPr/>
          <p:nvPr/>
        </p:nvSpPr>
        <p:spPr>
          <a:xfrm>
            <a:off x="600075" y="4762500"/>
            <a:ext cx="10982325" cy="9525"/>
          </a:xfrm>
          <a:custGeom>
            <a:avLst/>
            <a:gdLst/>
            <a:ahLst/>
            <a:cxnLst/>
            <a:rect l="l" t="t" r="r" b="b"/>
            <a:pathLst>
              <a:path w="10982325" h="9525">
                <a:moveTo>
                  <a:pt x="0" y="0"/>
                </a:moveTo>
                <a:lnTo>
                  <a:pt x="10982325" y="0"/>
                </a:lnTo>
              </a:path>
            </a:pathLst>
          </a:custGeom>
          <a:noFill/>
          <a:ln w="12382">
            <a:solidFill>
              <a:srgbClr val="D8DEE0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85597" y="568642"/>
            <a:ext cx="10996803" cy="907733"/>
            <a:chOff x="585597" y="568642"/>
            <a:chExt cx="10996803" cy="907733"/>
          </a:xfrm>
        </p:grpSpPr>
        <p:sp>
          <p:nvSpPr>
            <p:cNvPr id="2" name="TextBox 2"/>
            <p:cNvSpPr txBox="1"/>
            <p:nvPr/>
          </p:nvSpPr>
          <p:spPr>
            <a:xfrm>
              <a:off x="585597" y="568642"/>
              <a:ext cx="26543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Codex </a:t>
              </a:r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协助科研</a:t>
              </a:r>
              <a:endParaRPr lang="zh-CN" sz="28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455" y="1066800"/>
              <a:ext cx="38100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从论文方法到项目实验，辅助完成算法</a:t>
              </a:r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实验。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0075" y="14668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8" name="footer"/>
          <p:cNvGrpSpPr/>
          <p:nvPr/>
        </p:nvGrpSpPr>
        <p:grpSpPr>
          <a:xfrm>
            <a:off x="540004" y="5861685"/>
            <a:ext cx="10993755" cy="234696"/>
            <a:chOff x="593979" y="6176010"/>
            <a:chExt cx="10993755" cy="234696"/>
          </a:xfrm>
        </p:grpSpPr>
        <p:sp>
          <p:nvSpPr>
            <p:cNvPr id="6" name="TextBox 6"/>
            <p:cNvSpPr txBox="1"/>
            <p:nvPr/>
          </p:nvSpPr>
          <p:spPr>
            <a:xfrm>
              <a:off x="593979" y="6176010"/>
              <a:ext cx="48915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Codex 协助落实与整理；方法是否可用，仍由研究者依据证据判断。</a:t>
              </a:r>
              <a:endParaRPr lang="zh-CN" sz="12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/>
            <p:nvPr/>
          </p:nvSpPr>
          <p:spPr>
            <a:xfrm>
              <a:off x="11419808" y="6192202"/>
              <a:ext cx="1679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05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</a:t>
              </a:r>
              <a:endParaRPr lang="en-US" sz="105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3" name="codex-task-01"/>
          <p:cNvGrpSpPr/>
          <p:nvPr>
            <p:custDataLst>
              <p:tags r:id="rId1"/>
            </p:custDataLst>
          </p:nvPr>
        </p:nvGrpSpPr>
        <p:grpSpPr>
          <a:xfrm>
            <a:off x="588264" y="2063591"/>
            <a:ext cx="10994136" cy="593884"/>
            <a:chOff x="588264" y="2063591"/>
            <a:chExt cx="10994136" cy="593884"/>
          </a:xfrm>
        </p:grpSpPr>
        <p:sp>
          <p:nvSpPr>
            <p:cNvPr id="9" name="TextBox 9"/>
            <p:cNvSpPr txBox="1"/>
            <p:nvPr>
              <p:custDataLst>
                <p:tags r:id="rId2"/>
              </p:custDataLst>
            </p:nvPr>
          </p:nvSpPr>
          <p:spPr>
            <a:xfrm>
              <a:off x="588264" y="2063591"/>
              <a:ext cx="37104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lang="en-US" sz="232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3"/>
              </p:custDataLst>
            </p:nvPr>
          </p:nvSpPr>
          <p:spPr>
            <a:xfrm>
              <a:off x="1447038" y="2095976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拆论文条件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4"/>
              </p:custDataLst>
            </p:nvPr>
          </p:nvSpPr>
          <p:spPr>
            <a:xfrm>
              <a:off x="3991737" y="2128361"/>
              <a:ext cx="534309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列出观测、变量、假设和所需输入，形成适配清单。</a:t>
              </a:r>
              <a:endParaRPr lang="zh-CN" sz="172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>
              <p:custDataLst>
                <p:tags r:id="rId5"/>
              </p:custDataLst>
            </p:nvPr>
          </p:nvSpPr>
          <p:spPr>
            <a:xfrm>
              <a:off x="600075" y="26479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18" name="codex-task-02"/>
          <p:cNvGrpSpPr/>
          <p:nvPr>
            <p:custDataLst>
              <p:tags r:id="rId6"/>
            </p:custDataLst>
          </p:nvPr>
        </p:nvGrpSpPr>
        <p:grpSpPr>
          <a:xfrm>
            <a:off x="588264" y="2958941"/>
            <a:ext cx="10994136" cy="593884"/>
            <a:chOff x="588264" y="2958941"/>
            <a:chExt cx="10994136" cy="593884"/>
          </a:xfrm>
        </p:grpSpPr>
        <p:sp>
          <p:nvSpPr>
            <p:cNvPr id="14" name="TextBox 14"/>
            <p:cNvSpPr txBox="1"/>
            <p:nvPr>
              <p:custDataLst>
                <p:tags r:id="rId7"/>
              </p:custDataLst>
            </p:nvPr>
          </p:nvSpPr>
          <p:spPr>
            <a:xfrm>
              <a:off x="588264" y="2958941"/>
              <a:ext cx="37104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</a:t>
              </a:r>
              <a:endParaRPr lang="en-US" sz="232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8"/>
              </p:custDataLst>
            </p:nvPr>
          </p:nvSpPr>
          <p:spPr>
            <a:xfrm>
              <a:off x="1447038" y="2991326"/>
              <a:ext cx="1539240" cy="309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论文</a:t>
              </a:r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算法复现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9"/>
              </p:custDataLst>
            </p:nvPr>
          </p:nvSpPr>
          <p:spPr>
            <a:xfrm>
              <a:off x="3991737" y="3023711"/>
              <a:ext cx="6553200" cy="264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按论文条件</a:t>
              </a:r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复现，确认论文算法是否可行，</a:t>
              </a:r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可行则接入到当前</a:t>
              </a:r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研究。</a:t>
              </a:r>
              <a:endParaRPr lang="zh-CN" sz="172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Line 17"/>
            <p:cNvSpPr/>
            <p:nvPr>
              <p:custDataLst>
                <p:tags r:id="rId10"/>
              </p:custDataLst>
            </p:nvPr>
          </p:nvSpPr>
          <p:spPr>
            <a:xfrm>
              <a:off x="600075" y="354330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23" name="codex-task-03"/>
          <p:cNvGrpSpPr/>
          <p:nvPr>
            <p:custDataLst>
              <p:tags r:id="rId11"/>
            </p:custDataLst>
          </p:nvPr>
        </p:nvGrpSpPr>
        <p:grpSpPr>
          <a:xfrm>
            <a:off x="588264" y="3854291"/>
            <a:ext cx="10994136" cy="593884"/>
            <a:chOff x="588264" y="3854291"/>
            <a:chExt cx="10994136" cy="593884"/>
          </a:xfrm>
        </p:grpSpPr>
        <p:sp>
          <p:nvSpPr>
            <p:cNvPr id="19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588264" y="3854291"/>
              <a:ext cx="37104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endParaRPr lang="en-US" sz="232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>
              <p:custDataLst>
                <p:tags r:id="rId13"/>
              </p:custDataLst>
            </p:nvPr>
          </p:nvSpPr>
          <p:spPr>
            <a:xfrm>
              <a:off x="1447038" y="3886676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接入并对照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4"/>
              </p:custDataLst>
            </p:nvPr>
          </p:nvSpPr>
          <p:spPr>
            <a:xfrm>
              <a:off x="3991737" y="3919061"/>
              <a:ext cx="5242560" cy="264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映射现有模块，用当前</a:t>
              </a:r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研究数据和指标比较改造前后。</a:t>
              </a:r>
              <a:endParaRPr lang="zh-CN" sz="172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Line 22"/>
            <p:cNvSpPr/>
            <p:nvPr>
              <p:custDataLst>
                <p:tags r:id="rId15"/>
              </p:custDataLst>
            </p:nvPr>
          </p:nvSpPr>
          <p:spPr>
            <a:xfrm>
              <a:off x="600075" y="44386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28" name="codex-task-04"/>
          <p:cNvGrpSpPr/>
          <p:nvPr>
            <p:custDataLst>
              <p:tags r:id="rId16"/>
            </p:custDataLst>
          </p:nvPr>
        </p:nvGrpSpPr>
        <p:grpSpPr>
          <a:xfrm>
            <a:off x="588264" y="4749641"/>
            <a:ext cx="10994136" cy="593884"/>
            <a:chOff x="588264" y="4749641"/>
            <a:chExt cx="10994136" cy="593884"/>
          </a:xfrm>
        </p:grpSpPr>
        <p:sp>
          <p:nvSpPr>
            <p:cNvPr id="24" name="TextBox 24"/>
            <p:cNvSpPr txBox="1"/>
            <p:nvPr>
              <p:custDataLst>
                <p:tags r:id="rId17"/>
              </p:custDataLst>
            </p:nvPr>
          </p:nvSpPr>
          <p:spPr>
            <a:xfrm>
              <a:off x="588264" y="4749641"/>
              <a:ext cx="37104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04</a:t>
              </a:r>
              <a:endParaRPr lang="en-US" sz="232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>
              <p:custDataLst>
                <p:tags r:id="rId18"/>
              </p:custDataLst>
            </p:nvPr>
          </p:nvSpPr>
          <p:spPr>
            <a:xfrm>
              <a:off x="1447038" y="4782026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沉淀实验依据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>
              <p:custDataLst>
                <p:tags r:id="rId19"/>
              </p:custDataLst>
            </p:nvPr>
          </p:nvSpPr>
          <p:spPr>
            <a:xfrm>
              <a:off x="3991737" y="4814411"/>
              <a:ext cx="48800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保存代码、配置、结果、失败原因与版本标识。</a:t>
              </a:r>
              <a:endParaRPr lang="zh-CN" sz="172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600075" y="533400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85597" y="568642"/>
            <a:ext cx="10996803" cy="907733"/>
            <a:chOff x="585597" y="568642"/>
            <a:chExt cx="10996803" cy="907733"/>
          </a:xfrm>
        </p:grpSpPr>
        <p:sp>
          <p:nvSpPr>
            <p:cNvPr id="2" name="TextBox 2"/>
            <p:cNvSpPr txBox="1"/>
            <p:nvPr/>
          </p:nvSpPr>
          <p:spPr>
            <a:xfrm>
              <a:off x="585597" y="568642"/>
              <a:ext cx="500634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codex</a:t>
              </a:r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聊天分支与 Git 分支</a:t>
              </a:r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协作</a:t>
              </a:r>
              <a:endParaRPr lang="zh-CN" sz="28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455" y="1066800"/>
              <a:ext cx="45758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聊天保留讨论思路；Git 保存实际代码和实验版本。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0075" y="14668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8" name="footer"/>
          <p:cNvGrpSpPr/>
          <p:nvPr/>
        </p:nvGrpSpPr>
        <p:grpSpPr>
          <a:xfrm>
            <a:off x="593979" y="6176010"/>
            <a:ext cx="10993755" cy="234696"/>
            <a:chOff x="593979" y="6176010"/>
            <a:chExt cx="10993755" cy="234696"/>
          </a:xfrm>
        </p:grpSpPr>
        <p:sp>
          <p:nvSpPr>
            <p:cNvPr id="6" name="TextBox 6"/>
            <p:cNvSpPr txBox="1"/>
            <p:nvPr/>
          </p:nvSpPr>
          <p:spPr>
            <a:xfrm>
              <a:off x="593979" y="617601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分叉点之前的讨论相同；之后的讨论分别继续。</a:t>
              </a:r>
              <a:endParaRPr lang="zh-CN" sz="12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/>
            <p:nvPr/>
          </p:nvSpPr>
          <p:spPr>
            <a:xfrm>
              <a:off x="11419808" y="6192202"/>
              <a:ext cx="1679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05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20</a:t>
              </a:r>
              <a:endParaRPr lang="en-US" sz="105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" name="common-start"/>
          <p:cNvGrpSpPr/>
          <p:nvPr/>
        </p:nvGrpSpPr>
        <p:grpSpPr>
          <a:xfrm>
            <a:off x="590169" y="1943100"/>
            <a:ext cx="10992231" cy="609600"/>
            <a:chOff x="590169" y="1943100"/>
            <a:chExt cx="10992231" cy="609600"/>
          </a:xfrm>
        </p:grpSpPr>
        <p:sp>
          <p:nvSpPr>
            <p:cNvPr id="9" name="TextBox 9"/>
            <p:cNvSpPr txBox="1"/>
            <p:nvPr/>
          </p:nvSpPr>
          <p:spPr>
            <a:xfrm>
              <a:off x="592455" y="19431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共同起点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169" y="2227898"/>
              <a:ext cx="6713220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针对于复现完成的一篇</a:t>
              </a:r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论文 ＋ </a:t>
              </a:r>
              <a:r>
                <a:rPr lang="en-US" alt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git</a:t>
              </a:r>
              <a:r>
                <a:rPr altLang="en-US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</a:t>
              </a:r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main</a:t>
              </a:r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分支的一次稳定提交</a:t>
              </a:r>
              <a:endParaRPr 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600075" y="2543175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20" name="route-a"/>
          <p:cNvGrpSpPr/>
          <p:nvPr>
            <p:custDataLst>
              <p:tags r:id="rId1"/>
            </p:custDataLst>
          </p:nvPr>
        </p:nvGrpSpPr>
        <p:grpSpPr>
          <a:xfrm>
            <a:off x="590169" y="2799398"/>
            <a:ext cx="10992231" cy="915352"/>
            <a:chOff x="590169" y="2799398"/>
            <a:chExt cx="10992231" cy="915352"/>
          </a:xfrm>
        </p:grpSpPr>
        <p:sp>
          <p:nvSpPr>
            <p:cNvPr id="13" name="TextBox 13"/>
            <p:cNvSpPr txBox="1"/>
            <p:nvPr>
              <p:custDataLst>
                <p:tags r:id="rId2"/>
              </p:custDataLst>
            </p:nvPr>
          </p:nvSpPr>
          <p:spPr>
            <a:xfrm>
              <a:off x="590169" y="2799398"/>
              <a:ext cx="3200400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创建聊天分支 A 沿</a:t>
              </a:r>
              <a:r>
                <a:rPr lang="en-US" alt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</a:t>
              </a:r>
              <a:r>
                <a:rPr altLang="en-US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方向</a:t>
              </a:r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进行</a:t>
              </a:r>
              <a:endParaRPr 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3"/>
              </p:custDataLst>
            </p:nvPr>
          </p:nvSpPr>
          <p:spPr>
            <a:xfrm>
              <a:off x="592074" y="3192304"/>
              <a:ext cx="38445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保留此前背景，只讨论原算法的适用性。</a:t>
              </a:r>
              <a:endParaRPr lang="zh-CN" sz="158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Line 15"/>
            <p:cNvSpPr/>
            <p:nvPr>
              <p:custDataLst>
                <p:tags r:id="rId4"/>
              </p:custDataLst>
            </p:nvPr>
          </p:nvSpPr>
          <p:spPr>
            <a:xfrm>
              <a:off x="5314950" y="314325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19050">
              <a:solidFill>
                <a:srgbClr val="456779"/>
              </a:solidFill>
            </a:ln>
          </p:spPr>
        </p:sp>
        <p:sp>
          <p:nvSpPr>
            <p:cNvPr id="16" name="Polygon 16"/>
            <p:cNvSpPr/>
            <p:nvPr>
              <p:custDataLst>
                <p:tags r:id="rId5"/>
              </p:custDataLst>
            </p:nvPr>
          </p:nvSpPr>
          <p:spPr>
            <a:xfrm>
              <a:off x="6010275" y="30861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56779"/>
            </a:solidFill>
            <a:ln>
              <a:noFill/>
            </a:ln>
          </p:spPr>
        </p:sp>
        <p:sp>
          <p:nvSpPr>
            <p:cNvPr id="17" name="TextBox 17"/>
            <p:cNvSpPr txBox="1"/>
            <p:nvPr>
              <p:custDataLst>
                <p:tags r:id="rId6"/>
              </p:custDataLst>
            </p:nvPr>
          </p:nvSpPr>
          <p:spPr>
            <a:xfrm>
              <a:off x="6467094" y="2799398"/>
              <a:ext cx="3364865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创建Git 分支 A 对应聊天分支</a:t>
              </a:r>
              <a:r>
                <a:rPr lang="en-US" alt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</a:t>
              </a:r>
              <a:endParaRPr lang="en-US" alt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7"/>
              </p:custDataLst>
            </p:nvPr>
          </p:nvSpPr>
          <p:spPr>
            <a:xfrm>
              <a:off x="6468999" y="3192304"/>
              <a:ext cx="421386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复现、接入与实验，各自提交并进行结果</a:t>
              </a:r>
              <a:r>
                <a: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评估。</a:t>
              </a:r>
              <a:endParaRPr lang="zh-CN" sz="158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>
              <p:custDataLst>
                <p:tags r:id="rId8"/>
              </p:custDataLst>
            </p:nvPr>
          </p:nvSpPr>
          <p:spPr>
            <a:xfrm>
              <a:off x="600075" y="3705225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28" name="route-b"/>
          <p:cNvGrpSpPr/>
          <p:nvPr>
            <p:custDataLst>
              <p:tags r:id="rId9"/>
            </p:custDataLst>
          </p:nvPr>
        </p:nvGrpSpPr>
        <p:grpSpPr>
          <a:xfrm>
            <a:off x="590169" y="3961448"/>
            <a:ext cx="10992231" cy="915352"/>
            <a:chOff x="590169" y="3961448"/>
            <a:chExt cx="10992231" cy="915352"/>
          </a:xfrm>
        </p:grpSpPr>
        <p:sp>
          <p:nvSpPr>
            <p:cNvPr id="21" name="TextBox 21"/>
            <p:cNvSpPr txBox="1"/>
            <p:nvPr>
              <p:custDataLst>
                <p:tags r:id="rId10"/>
              </p:custDataLst>
            </p:nvPr>
          </p:nvSpPr>
          <p:spPr>
            <a:xfrm>
              <a:off x="590169" y="3961448"/>
              <a:ext cx="3219450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创建聊天分支</a:t>
              </a:r>
              <a:r>
                <a:rPr lang="en-US" alt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 沿</a:t>
              </a:r>
              <a:r>
                <a:rPr lang="en-US" alt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</a:t>
              </a:r>
              <a:r>
                <a:rPr altLang="en-US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方向</a:t>
              </a:r>
              <a:r>
                <a:rPr altLang="en-US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进行</a:t>
              </a:r>
              <a:endParaRPr altLang="en-US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1"/>
              </p:custDataLst>
            </p:nvPr>
          </p:nvSpPr>
          <p:spPr>
            <a:xfrm>
              <a:off x="592074" y="4354354"/>
              <a:ext cx="3631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从同一讨论点出发，探索另一种方案。</a:t>
              </a:r>
              <a:endParaRPr lang="zh-CN" sz="158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Line 23"/>
            <p:cNvSpPr/>
            <p:nvPr>
              <p:custDataLst>
                <p:tags r:id="rId12"/>
              </p:custDataLst>
            </p:nvPr>
          </p:nvSpPr>
          <p:spPr>
            <a:xfrm>
              <a:off x="5314950" y="43053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19050">
              <a:solidFill>
                <a:srgbClr val="456779"/>
              </a:solidFill>
            </a:ln>
          </p:spPr>
        </p:sp>
        <p:sp>
          <p:nvSpPr>
            <p:cNvPr id="24" name="Polygon 24"/>
            <p:cNvSpPr/>
            <p:nvPr>
              <p:custDataLst>
                <p:tags r:id="rId13"/>
              </p:custDataLst>
            </p:nvPr>
          </p:nvSpPr>
          <p:spPr>
            <a:xfrm>
              <a:off x="6010275" y="4248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56779"/>
            </a:solidFill>
            <a:ln>
              <a:noFill/>
            </a:ln>
          </p:spPr>
        </p:sp>
        <p:sp>
          <p:nvSpPr>
            <p:cNvPr id="25" name="TextBox 25"/>
            <p:cNvSpPr txBox="1"/>
            <p:nvPr>
              <p:custDataLst>
                <p:tags r:id="rId14"/>
              </p:custDataLst>
            </p:nvPr>
          </p:nvSpPr>
          <p:spPr>
            <a:xfrm>
              <a:off x="6467094" y="3961448"/>
              <a:ext cx="3383915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创建Git 分支 B </a:t>
              </a:r>
              <a:r>
                <a:rPr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对应聊天分支</a:t>
              </a:r>
              <a:r>
                <a:rPr lang="en-US" alt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B</a:t>
              </a:r>
              <a:endParaRPr lang="en-US" alt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endParaRPr>
            </a:p>
          </p:txBody>
        </p:sp>
        <p:sp>
          <p:nvSpPr>
            <p:cNvPr id="26" name="TextBox 26"/>
            <p:cNvSpPr txBox="1"/>
            <p:nvPr>
              <p:custDataLst>
                <p:tags r:id="rId15"/>
              </p:custDataLst>
            </p:nvPr>
          </p:nvSpPr>
          <p:spPr>
            <a:xfrm>
              <a:off x="6468999" y="4354354"/>
              <a:ext cx="421386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复现、接入与实验，各自提交并进行结果评估。</a:t>
              </a:r>
              <a:endParaRPr lang="zh-CN" sz="158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600075" y="4867275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32" name="branch-boundary"/>
          <p:cNvGrpSpPr/>
          <p:nvPr/>
        </p:nvGrpSpPr>
        <p:grpSpPr>
          <a:xfrm>
            <a:off x="600075" y="5133975"/>
            <a:ext cx="10982325" cy="741045"/>
            <a:chOff x="600075" y="5133975"/>
            <a:chExt cx="10982325" cy="741045"/>
          </a:xfrm>
        </p:grpSpPr>
        <p:sp>
          <p:nvSpPr>
            <p:cNvPr id="29" name="Rectangle 29"/>
            <p:cNvSpPr/>
            <p:nvPr/>
          </p:nvSpPr>
          <p:spPr>
            <a:xfrm>
              <a:off x="600075" y="5133975"/>
              <a:ext cx="10982325" cy="723900"/>
            </a:xfrm>
            <a:prstGeom prst="rect">
              <a:avLst/>
            </a:prstGeom>
            <a:solidFill>
              <a:srgbClr val="F3F6F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2668" y="5260658"/>
              <a:ext cx="467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重要：聊天分叉不会自动创建或切换 Git 分支。</a:t>
              </a:r>
              <a:endPara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3430" y="5581650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讨论相互独立，不代表同一目录中的文件自动隔离；操作前要核对当前分支。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85597" y="568642"/>
            <a:ext cx="11001883" cy="728663"/>
            <a:chOff x="585597" y="568642"/>
            <a:chExt cx="11001883" cy="728663"/>
          </a:xfrm>
        </p:grpSpPr>
        <p:sp>
          <p:nvSpPr>
            <p:cNvPr id="2" name="TextBox 2"/>
            <p:cNvSpPr txBox="1"/>
            <p:nvPr/>
          </p:nvSpPr>
          <p:spPr>
            <a:xfrm>
              <a:off x="585597" y="568642"/>
              <a:ext cx="43434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怎么验证</a:t>
              </a:r>
              <a:r>
                <a:rPr lang="en-US" alt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</a:t>
              </a:r>
              <a:r>
                <a:rPr altLang="en-US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结果的</a:t>
              </a:r>
              <a:r>
                <a:rPr altLang="en-US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准确性？</a:t>
              </a:r>
              <a:endParaRPr altLang="en-US" sz="28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455" y="1066800"/>
              <a:ext cx="1270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5155" y="1129665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sp>
        <p:nvSpPr>
          <p:cNvPr id="7" name="TextBox 7"/>
          <p:cNvSpPr/>
          <p:nvPr/>
        </p:nvSpPr>
        <p:spPr>
          <a:xfrm>
            <a:off x="11419840" y="6191885"/>
            <a:ext cx="16764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</a:t>
            </a:r>
            <a:endParaRPr lang="en-US" sz="1050" dirty="0">
              <a:solidFill>
                <a:srgbClr val="6070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05155" y="1390650"/>
            <a:ext cx="109696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altLang="en-US"/>
              <a:t>理论方面：</a:t>
            </a:r>
            <a:endParaRPr altLang="en-US"/>
          </a:p>
          <a:p>
            <a:pPr indent="457200"/>
            <a:r>
              <a:rPr lang="en-US" altLang="zh-CN"/>
              <a:t>1.</a:t>
            </a:r>
            <a:r>
              <a:rPr altLang="en-US"/>
              <a:t>总体理论是否可行，处理逻辑是否合理，</a:t>
            </a:r>
            <a:r>
              <a:rPr altLang="en-US">
                <a:highlight>
                  <a:srgbClr val="FFFF00"/>
                </a:highlight>
              </a:rPr>
              <a:t>要尽可能对</a:t>
            </a:r>
            <a:r>
              <a:rPr lang="en-US" altLang="zh-CN">
                <a:highlight>
                  <a:srgbClr val="FFFF00"/>
                </a:highlight>
              </a:rPr>
              <a:t>AI</a:t>
            </a:r>
            <a:r>
              <a:rPr altLang="en-US">
                <a:highlight>
                  <a:srgbClr val="FFFF00"/>
                </a:highlight>
              </a:rPr>
              <a:t>进行提问</a:t>
            </a:r>
            <a:r>
              <a:rPr altLang="en-US"/>
              <a:t>，保证每一个点应该都能</a:t>
            </a:r>
            <a:r>
              <a:rPr altLang="en-US"/>
              <a:t>落到实处，至少要保证从自己的视角来看，你完全理解了</a:t>
            </a:r>
            <a:r>
              <a:rPr altLang="en-US"/>
              <a:t>这套理论；</a:t>
            </a:r>
            <a:endParaRPr altLang="en-US"/>
          </a:p>
          <a:p>
            <a:pPr indent="457200"/>
            <a:r>
              <a:rPr lang="en-US" altLang="zh-CN"/>
              <a:t>2.</a:t>
            </a:r>
            <a:r>
              <a:rPr altLang="en-US"/>
              <a:t>公式推导方面需要手动验证，不能完全相信</a:t>
            </a:r>
            <a:r>
              <a:rPr lang="en-US" altLang="zh-CN"/>
              <a:t>AI</a:t>
            </a:r>
            <a:r>
              <a:rPr altLang="en-US"/>
              <a:t>的算法推导过程，以保持怀疑的态度进行验证，</a:t>
            </a:r>
            <a:r>
              <a:rPr altLang="en-US">
                <a:highlight>
                  <a:srgbClr val="FFFF00"/>
                </a:highlight>
              </a:rPr>
              <a:t>并且遇到存在疑问的点，让</a:t>
            </a:r>
            <a:r>
              <a:rPr lang="en-US" altLang="zh-CN">
                <a:highlight>
                  <a:srgbClr val="FFFF00"/>
                </a:highlight>
              </a:rPr>
              <a:t>AI</a:t>
            </a:r>
            <a:r>
              <a:rPr altLang="en-US">
                <a:highlight>
                  <a:srgbClr val="FFFF00"/>
                </a:highlight>
              </a:rPr>
              <a:t>进行详细解释</a:t>
            </a:r>
            <a:r>
              <a:rPr altLang="en-US"/>
              <a:t>，并补充推导细节，从而保证每一步都能够衔接起来。</a:t>
            </a:r>
            <a:endParaRPr altLang="en-US"/>
          </a:p>
          <a:p>
            <a:pPr indent="457200"/>
            <a:endParaRPr altLang="en-US"/>
          </a:p>
          <a:p>
            <a:r>
              <a:rPr altLang="en-US"/>
              <a:t>代码实现</a:t>
            </a:r>
            <a:r>
              <a:rPr altLang="en-US"/>
              <a:t>方面：</a:t>
            </a:r>
            <a:endParaRPr altLang="en-US"/>
          </a:p>
          <a:p>
            <a:pPr indent="457200"/>
            <a:r>
              <a:rPr lang="en-US" altLang="zh-CN"/>
              <a:t>1.code review</a:t>
            </a:r>
            <a:r>
              <a:rPr altLang="en-US"/>
              <a:t>是必要的，尽可能的要确保代码实现的准确性，需要自己进行人工审核，审核的同时来丰富自己的代码</a:t>
            </a:r>
            <a:r>
              <a:rPr altLang="en-US"/>
              <a:t>能力；</a:t>
            </a:r>
            <a:endParaRPr altLang="en-US"/>
          </a:p>
          <a:p>
            <a:pPr indent="457200"/>
            <a:r>
              <a:rPr lang="en-US" altLang="zh-CN"/>
              <a:t>2.</a:t>
            </a:r>
            <a:r>
              <a:rPr altLang="en-US"/>
              <a:t>人工审核完成后，也可以采用不同模型来评测代码的实现，比如</a:t>
            </a:r>
            <a:r>
              <a:rPr lang="en-US" altLang="zh-CN"/>
              <a:t>deepseek</a:t>
            </a:r>
            <a:r>
              <a:rPr altLang="en-US"/>
              <a:t>写的代码，使用</a:t>
            </a:r>
            <a:r>
              <a:rPr lang="en-US" altLang="zh-CN"/>
              <a:t>chatgpt</a:t>
            </a:r>
            <a:r>
              <a:rPr altLang="en-US"/>
              <a:t>来进行审核，低智商模型写，高智商模型</a:t>
            </a:r>
            <a:r>
              <a:rPr altLang="en-US"/>
              <a:t>审。</a:t>
            </a:r>
            <a:endParaRPr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2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3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4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5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6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7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8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9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10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11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12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13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14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15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16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17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18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19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20.xml><?xml version="1.0" encoding="utf-8"?>
<p:tagLst xmlns:p="http://schemas.openxmlformats.org/presentationml/2006/main">
  <p:tag name="KSO_WM_DIAGRAM_VIRTUALLY_FRAME" val="{&quot;height&quot;:296.4125196850394,&quot;left&quot;:43.81999999999998,&quot;top&quot;:124.33748031496063,&quot;width&quot;:869.1299999999999}"/>
</p:tagLst>
</file>

<file path=ppt/tags/tag21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22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23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24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25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26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27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28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29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30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31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32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33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34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35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36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37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38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39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40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41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42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43.xml><?xml version="1.0" encoding="utf-8"?>
<p:tagLst xmlns:p="http://schemas.openxmlformats.org/presentationml/2006/main">
  <p:tag name="KSO_WM_DIAGRAM_VIRTUALLY_FRAME" val="{&quot;height&quot;:198.68755905511813,&quot;left&quot;:45.69000000000001,&quot;top&quot;:149.77496062992122,&quot;width&quot;:809.3100000000001}"/>
</p:tagLst>
</file>

<file path=ppt/tags/tag44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45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46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47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48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49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50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51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52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53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54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55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56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57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58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59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60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61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62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63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64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65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66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67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68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69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70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71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72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73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74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75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76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ags/tag77.xml><?xml version="1.0" encoding="utf-8"?>
<p:tagLst xmlns:p="http://schemas.openxmlformats.org/presentationml/2006/main">
  <p:tag name="KSO_WM_DIAGRAM_VIRTUALLY_FRAME" val="{&quot;height&quot;:163.57496062992126,&quot;left&quot;:46.47,&quot;top&quot;:220.42503937007874,&quot;width&quot;:865.53}"/>
</p:tagLst>
</file>

<file path=ppt/theme/theme1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5816</Words>
  <Application>WPS 演示</Application>
  <PresentationFormat>On-screen Show (16:9)</PresentationFormat>
  <Paragraphs>861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Arial</vt:lpstr>
      <vt:lpstr>Consolas</vt:lpstr>
      <vt:lpstr>微软雅黑</vt:lpstr>
      <vt:lpstr>Arial Unicode MS</vt:lpstr>
      <vt:lpstr>codex_git_seminar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qzuser</cp:lastModifiedBy>
  <cp:revision>83</cp:revision>
  <dcterms:created xsi:type="dcterms:W3CDTF">2026-09-21T08:53:00Z</dcterms:created>
  <dcterms:modified xsi:type="dcterms:W3CDTF">2026-09-22T13:17:12Z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6EA167287BA3436D93BF945440D39D92_12</vt:lpwstr>
  </property>
  <property fmtid="{D5CDD505-2E9C-101B-9397-08002B2CF9AE}" pid="3" name="KSOProductBuildVer">
    <vt:lpwstr>2052-12.1.0.26895</vt:lpwstr>
  </property>
</Properties>
</file>