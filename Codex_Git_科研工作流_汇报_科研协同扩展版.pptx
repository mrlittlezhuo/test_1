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这次汇报不把 Codex、VS Code 和 Git 当作三个零散工具，而是把它们串成一条从想法到可复现结果的工作路径。Codex 负责理解任务并执行修改，VS Code 提供观察代码、终端和差异的工作区，Git 负责记录、比较与恢复。我们会先讲 Codex，再讲 Git，最后把两者组合成科研工作流。衡量这套工具链的标准不是代码产生得多快，而是研究结果是否更可靠、更容易复查。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用同一个 MATLAB 任务看，两者的差别会更直观。如果我在普通 ChatGPT 对话中问“扩展卡尔曼滤波是什么，给一段示例代码”，通常得到的是原理说明和参考代码。接下来还要由我判断代码能否用于当前项目，把它放到合适的位置并运行验证。交给 Codex 的任务可以更具体：请它读当前工程，找到定位模块里的状态更新函数，在保持输入输出接口不变的前提下修改文件、补充测试，再说明修改了哪些文件以及测试结果。Codex 能进入授权范围内的真实项目执行这些步骤，也能查看 Git 差异。但这不等于改动自动正确，最后仍要由人检查代码和验证结果。这里的表述依据《Codex 是什么与基本使用教程》第一部分第 1、2 小节。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Codex 的价值不只是补出一段代码，而是围绕任务完成一个可验证的闭环。它从明确目标开始，读取项目和规则，拆解计划，修改文件，运行测试或检查，再审查差异并汇报结果。如果验证失败，就回到修改环节，而不是把未验证的代码直接交付。右侧的状态窗口强调了最终应看到的证据：测试通过、变更文件清楚，而且差异已经准备好供人审查。人在入口确认范围，在出口核对风险、证据和完成标准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Codex 项目没有一种神秘或唯一的目录格式，关键是让人和工具都能迅速定位规则、实现与验证。项目根目录里，AGENTS.md 说明执行约束，README.md 提供入口，src 放实现，tests 放可重复检查。configs、data、results 和 docs 分别管理参数、数据约定、输出与方法记录。依赖文件用于锁定环境，.gitignore 则排除密钥、缓存、大型原始数据和可以重新生成的文件。目录结构的目的不是显得专业，而是让规则是什么、代码在哪、怎样运行、如何验证和结果放哪都能被快速回答。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当项目规则稳定后，不必在每次对话里重新解释。AGENTS.md 适合记录测试命令、目录约定、提交规则、禁止事项和必要的领域背景，它回答的是这个项目始终应该怎么做。Skill 则把边界清楚、会重复出现的多步骤方法封装起来，核心是 SKILL.md，也可以配套脚本、参考资料和资源。Codex 执行任务时，一边遵守项目规则，一边在适用时调用可复用流程。接下来分别展开这两种机制，并给出可以直接迁移到科研项目中的示例。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AGENTS.md 可以理解为项目内长期有效的“协作说明书”，Codex 会在开始工作前读取它。全局文件适合放个人通用习惯，仓库根目录适合放整个项目的规则，更深目录中的文件则补充局部约束；从项目根目录到当前工作目录的规则会依次合并，位置越近的说明越具体。内容应优先写成可以执行和检查的规则，例如入口命令、测试方式、禁止修改的目录以及交付要求。临时任务、一次性背景和密钥不适合放进长期规则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这份示例把科研项目中容易口头遗漏的约定写成了明确规则。它先说明 MATLAB 版本和程序入口，再要求修改前检查 Git 状态、只处理当前任务文件、不要改动原始数据，最后规定必须运行的测试和汇报内容。好的 AGENTS.md 不追求面面俱到，而是做到具体、可执行、可验证。项目成员和 Codex 因而能用同一套标准判断任务是否真正完成。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Skill 是针对某一类任务的可复用工作手册，一个技能目录至少包含 SKILL.md，也可以配套脚本、参考资料和素材。Codex 通常先看到技能的名称和描述，判断任务匹配后再加载完整说明，这样既能复用专业流程，又不会把所有细节一次性塞进上下文。项目级技能可以放在 .agents/skills 下，通过美元符号加技能名显式调用，也可以依靠描述自动匹配。AGENTS.md 管整个项目的长期规则，Skill 则服务于边界清楚、会反复出现的具体任务。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这里把“实验结果复核”封装成一个最小技能。SKILL.md 用名称和描述说明什么时候使用，再规定读取配置、记录 Git 提交号、最小复现实验、比较指标和生成摘要的顺序，并明确禁止覆盖原始数据或跳过失败结果。使用时可以显式输入技能名和实验目录，也可以让 Codex 根据任务描述自动匹配。这样，同一套复核步骤能在不同实验和不同成员之间重复执行，输出也更容易比较。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第一次在 VS Code 中使用 Codex，可以沿着三步完成。先安装或启用扩展、登录账号，并打开真实项目；然后打开 Codex 侧边栏，用目标、范围和完成标准描述任务；最后引用相关文件、选区或报错，让上下文足够精确。任务完成后，不只看一段摘要，还要检查差异和测试结果。对于真实科研项目，建议在任务前后建立 Git 检查点，这样每一次 AI 修改都有基线、有证据，也能够恢复。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理解 Git 的关键，是知道文件当前位于哪一个位置。工作区是正在编辑的文件，git add 把选中的变化送到暂存区，暂存区决定本次提交包含什么。git commit 再把这批内容固化为本地仓库中的历史，只有 git push 和 git pull 才涉及远程仓库的同步。平时用 git status 看状态，用 git diff 看具体差异，用 git log 看历史。暂存区最重要的价值，是先选择这一次要提交什么，再生成一个清楚的检查点。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日常操作不需要记住大量命令，只要坚持一条安全循环。开始前用 git pull 同步更新，完成一个边界清楚的小修改并测试，然后用 git status 和 git diff 检查范围。接着只用 git add 暂存当前任务相关文件，用提交信息说明为什么改变，最后 git push 到对应远程分支。右侧终端示例显示了一次可解释的小提交：配置和代码变化明确，提交信息也能说明原因。没有理解影响之前，不要使用会覆盖历史或丢失修改的强制命令。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科研项目里的版本历史，应该帮助我们回答这次实验为什么与上一次不同。一个研究假设或修复可以对应一个短分支，在分支中同时修改代码和配置，验证后再合并。提交应能关联代码与配置变化、环境和数据获取说明，以及指标摘要或结果索引。源代码、配置、依赖、评估脚本和图表生成方法适合追踪；密钥、缓存、临时文件、大型原始数据和可重新生成的输出应忽略或交给专门机制管理。结果目录可以保留 README、指标摘要或索引，让提交真正指向实验记录。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科研通常不是从选定一篇论文到完成实现的直线。我们先遇到一个具体问题，再找方法、按原条件复现，最后才检验它是否适合自己的系统。只要输入条件不具备，或者最终指标没有改善，就需要回头检查问题定义、论文假设或实现细节。比如我们曾看到全局优化的某些残差下降，但基站定位误差并没有同步改善，这时不能只凭局部结果继续加约束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Codex 可以把一篇论文的观测模型、变量和前提整理成清单，再逐项核对项目是否真的有这些输入。对有希望的方法，先让它协助搭建最小复现实验，解释与原文不一致的地方，不要一开始就把项目改造混进去。随后再接入现有模块，并用同样的数据和指标与基线比较。整个过程要把代码、配置、结果和失败原因留下来；是否采纳方法仍由研究者判断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这里有两种不同层次的分支。Codex 的聊天分叉会保留分叉点之前的讨论历史，此后新旧聊天各自继续；Git 分支则记录某个起始提交之后各自的代码和文档变化。我们可以让聊天 A 对应原算法的 Git 分支，让聊天 B 对应改造算法的 Git 分支，但这个对应关系需要主动建立。聊天分叉不会自动创建或切换 Git 分支；即使讨论互不串扰，同一目录中的文件也不会因此自动隔离。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如果只使用一个项目目录，两条路线就按顺序推进。先把可靠基线提交到 main，再建立分支 A，完成修改、验证和提交。确认没有未提交的修改后，回到相同的 main 起点建立分支 B，也完成验证和提交。之后用相同数据、随机种子和指标比较两条路线；每次回到某个聊天继续工作，都先核对实际所在的 Git 分支。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多反射面估计给我们一个具体例子：完整区间搜索可以作为基础方法，粗糙度引导的受限搜索是一条降低计算量的候选路线。新路线是否值得采用，不能只看速度，也要在同样数据、随机种子和指标下检查最终估计精度。如果收益可靠，就把它合并到主线；如果不可靠，就留下实验配置、结果和原因，继续修改或停止。聊天解释尝试的理由，Git 指向实际运行的版本，实验记录把两者和结果连起来。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dex_git_semina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2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learn.chatgpt.com/docs/build-skills" TargetMode="External"/><Relationship Id="rId1" Type="http://schemas.openxmlformats.org/officeDocument/2006/relationships/hyperlink" Target="https://learn.chatgpt.com/docs/agent-configuration/agents-md" TargetMode="Externa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jishuzhan.net/article/2053301309797892098" TargetMode="External"/><Relationship Id="rId1" Type="http://schemas.openxmlformats.org/officeDocument/2006/relationships/hyperlink" Target="https://learn.chatgpt.com/docs/agent-configuration/agents-m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jishuzhan.net/article/2053301309797892098" TargetMode="Externa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jishuzhan.net/article/2053301309797892098" TargetMode="External"/><Relationship Id="rId1" Type="http://schemas.openxmlformats.org/officeDocument/2006/relationships/hyperlink" Target="https://learn.chatgpt.com/docs/build-skills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hyperlink" Target="https://codexguide.ai/start/13-ide-vscode.html" TargetMode="External"/><Relationship Id="rId4" Type="http://schemas.openxmlformats.org/officeDocument/2006/relationships/hyperlink" Target="https://learn.chatgpt.com/docs/codex/ide" TargetMode="Externa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notesSlide" Target="../notesSlides/notesSlide15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over-label"/>
          <p:cNvGrpSpPr/>
          <p:nvPr/>
        </p:nvGrpSpPr>
        <p:grpSpPr>
          <a:xfrm>
            <a:off x="831342" y="825818"/>
            <a:ext cx="10529316" cy="264033"/>
            <a:chOff x="831342" y="825818"/>
            <a:chExt cx="105293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831342" y="825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课题组方法交流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647255" y="82581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2026.09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cover-title"/>
          <p:cNvGrpSpPr/>
          <p:nvPr/>
        </p:nvGrpSpPr>
        <p:grpSpPr>
          <a:xfrm>
            <a:off x="819150" y="2404110"/>
            <a:ext cx="6229140" cy="1682115"/>
            <a:chOff x="819150" y="2404110"/>
            <a:chExt cx="6229140" cy="1682115"/>
          </a:xfrm>
        </p:grpSpPr>
        <p:sp>
          <p:nvSpPr>
            <p:cNvPr id="5" name="TextBox 5"/>
            <p:cNvSpPr txBox="1"/>
            <p:nvPr/>
          </p:nvSpPr>
          <p:spPr>
            <a:xfrm>
              <a:off x="819150" y="2404110"/>
              <a:ext cx="622914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Codex、VS Code 与 Git</a:t>
              </a:r>
              <a:endPara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19150" y="3217545"/>
              <a:ext cx="476326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在科研项目中的使用</a:t>
              </a:r>
              <a:endParaRPr lang="zh-CN" sz="39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838200" y="4076700"/>
              <a:ext cx="1495425" cy="9525"/>
            </a:xfrm>
            <a:custGeom>
              <a:avLst/>
              <a:gdLst/>
              <a:ahLst/>
              <a:cxnLst/>
              <a:rect l="l" t="t" r="r" b="b"/>
              <a:pathLst>
                <a:path w="1495425" h="9525">
                  <a:moveTo>
                    <a:pt x="0" y="0"/>
                  </a:moveTo>
                  <a:lnTo>
                    <a:pt x="1495425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11" name="cover-description"/>
          <p:cNvGrpSpPr/>
          <p:nvPr/>
        </p:nvGrpSpPr>
        <p:grpSpPr>
          <a:xfrm>
            <a:off x="828675" y="4807744"/>
            <a:ext cx="3562248" cy="994029"/>
            <a:chOff x="828675" y="4807744"/>
            <a:chExt cx="3562248" cy="994029"/>
          </a:xfrm>
        </p:grpSpPr>
        <p:sp>
          <p:nvSpPr>
            <p:cNvPr id="9" name="TextBox 9"/>
            <p:cNvSpPr txBox="1"/>
            <p:nvPr/>
          </p:nvSpPr>
          <p:spPr>
            <a:xfrm>
              <a:off x="828675" y="4807744"/>
              <a:ext cx="356224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465861"/>
                  </a:solidFill>
                  <a:latin typeface="+mn-lt"/>
                  <a:ea typeface="+mn-ea"/>
                  <a:cs typeface="+mn-cs"/>
                </a:rPr>
                <a:t>项目约定、任务执行与版本记录</a:t>
              </a:r>
              <a:endParaRPr lang="zh-CN" sz="1880" dirty="0">
                <a:solidFill>
                  <a:srgbClr val="4658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961" y="552307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结合科研代码的日常维护与实验复现</a:t>
              </a:r>
              <a:endPara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54216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ChatGPT 与 Codex 的工作方式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022032"/>
              <a:ext cx="43108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以同一个 MATLAB 扩展卡尔曼滤波任务为例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2" name="chatgpt-column"/>
          <p:cNvGrpSpPr/>
          <p:nvPr/>
        </p:nvGrpSpPr>
        <p:grpSpPr>
          <a:xfrm>
            <a:off x="598932" y="1887855"/>
            <a:ext cx="4639818" cy="3444240"/>
            <a:chOff x="598932" y="1887855"/>
            <a:chExt cx="4639818" cy="3444240"/>
          </a:xfrm>
        </p:grpSpPr>
        <p:sp>
          <p:nvSpPr>
            <p:cNvPr id="6" name="TextBox 6"/>
            <p:cNvSpPr txBox="1"/>
            <p:nvPr/>
          </p:nvSpPr>
          <p:spPr>
            <a:xfrm>
              <a:off x="598932" y="1887855"/>
              <a:ext cx="25157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普通 ChatGPT 对话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23964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解释原理，给出参考代码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886075"/>
              <a:ext cx="4629150" cy="9525"/>
            </a:xfrm>
            <a:custGeom>
              <a:avLst/>
              <a:gdLst/>
              <a:ahLst/>
              <a:cxnLst/>
              <a:rect l="l" t="t" r="r" b="b"/>
              <a:pathLst>
                <a:path w="4629150" h="9525">
                  <a:moveTo>
                    <a:pt x="0" y="0"/>
                  </a:moveTo>
                  <a:lnTo>
                    <a:pt x="46291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2742" y="31689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你可以这样问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218" y="3574732"/>
              <a:ext cx="306571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“请解释扩展卡尔曼滤波的原理，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并给一段 MATLAB 示例代码。”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980" y="4733925"/>
              <a:ext cx="2491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得到原理说明和示例代码；</a:t>
              </a:r>
              <a:b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还需要自己放进项目并验证。</a:t>
              </a:r>
              <a:endParaRPr lang="zh-CN" sz="1500" dirty="0">
                <a:solidFill>
                  <a:srgbClr val="355F70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codex-column"/>
          <p:cNvGrpSpPr/>
          <p:nvPr/>
        </p:nvGrpSpPr>
        <p:grpSpPr>
          <a:xfrm>
            <a:off x="6104382" y="1887855"/>
            <a:ext cx="5478018" cy="3444240"/>
            <a:chOff x="6104382" y="1887855"/>
            <a:chExt cx="5478018" cy="3444240"/>
          </a:xfrm>
        </p:grpSpPr>
        <p:sp>
          <p:nvSpPr>
            <p:cNvPr id="13" name="TextBox 13"/>
            <p:cNvSpPr txBox="1"/>
            <p:nvPr/>
          </p:nvSpPr>
          <p:spPr>
            <a:xfrm>
              <a:off x="6104382" y="1887855"/>
              <a:ext cx="8468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</a:t>
              </a:r>
              <a:endParaRPr lang="en-US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105906" y="23964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读取当前项目，修改并验证代码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6115050" y="2886075"/>
              <a:ext cx="5467350" cy="9525"/>
            </a:xfrm>
            <a:custGeom>
              <a:avLst/>
              <a:gdLst/>
              <a:ahLst/>
              <a:cxnLst/>
              <a:rect l="l" t="t" r="r" b="b"/>
              <a:pathLst>
                <a:path w="5467350" h="9525">
                  <a:moveTo>
                    <a:pt x="0" y="0"/>
                  </a:moveTo>
                  <a:lnTo>
                    <a:pt x="54673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08192" y="3168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你可以这样交代任务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06668" y="3574732"/>
              <a:ext cx="357911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“请找到定位模块的状态更新函数，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加入扩展卡尔曼滤波，保持接口不变，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补充测试并说明修改了哪些文件。”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07430" y="4733925"/>
              <a:ext cx="2491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得到真实文件改动、测试结果</a:t>
              </a:r>
              <a:b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和可供审查的 Git 差异。</a:t>
              </a:r>
              <a:endParaRPr lang="zh-CN" sz="1500" dirty="0">
                <a:solidFill>
                  <a:srgbClr val="355F70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602742" y="5829300"/>
            <a:ext cx="10984992" cy="470725"/>
            <a:chOff x="602742" y="5829300"/>
            <a:chExt cx="10984992" cy="470725"/>
          </a:xfrm>
        </p:grpSpPr>
        <p:sp>
          <p:nvSpPr>
            <p:cNvPr id="20" name="Line 20"/>
            <p:cNvSpPr/>
            <p:nvPr/>
          </p:nvSpPr>
          <p:spPr>
            <a:xfrm>
              <a:off x="609600" y="5829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2742" y="6035992"/>
              <a:ext cx="4935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Codex 可以在授权项目内执行任务；最终改动仍需人工检查。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21580" y="6087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549189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 处理代码任务的基本流程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041082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一次代码任务通常包括读取项目、修改文件、运行检查和审查差异。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50" name="execution-loop"/>
          <p:cNvGrpSpPr/>
          <p:nvPr/>
        </p:nvGrpSpPr>
        <p:grpSpPr>
          <a:xfrm>
            <a:off x="591439" y="2259806"/>
            <a:ext cx="7828661" cy="3302794"/>
            <a:chOff x="591439" y="2259806"/>
            <a:chExt cx="7828661" cy="3302794"/>
          </a:xfrm>
        </p:grpSpPr>
        <p:sp>
          <p:nvSpPr>
            <p:cNvPr id="6" name="Line 6"/>
            <p:cNvSpPr/>
            <p:nvPr/>
          </p:nvSpPr>
          <p:spPr>
            <a:xfrm>
              <a:off x="1009650" y="3238500"/>
              <a:ext cx="6896100" cy="1"/>
            </a:xfrm>
            <a:prstGeom prst="line">
              <a:avLst/>
            </a:prstGeom>
            <a:noFill/>
            <a:ln w="47625" cap="rnd">
              <a:solidFill>
                <a:schemeClr val="accent2"/>
              </a:solidFill>
              <a:tailEnd type="triangle" w="lg" len="lg"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591439" y="2952750"/>
              <a:ext cx="7732522" cy="1178528"/>
              <a:chOff x="591439" y="2952750"/>
              <a:chExt cx="7732522" cy="1178528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591439" y="2952750"/>
                <a:ext cx="874522" cy="1178528"/>
                <a:chOff x="591439" y="2952750"/>
                <a:chExt cx="874522" cy="1178528"/>
              </a:xfrm>
            </p:grpSpPr>
            <p:sp>
              <p:nvSpPr>
                <p:cNvPr id="7" name="Ellipse 7"/>
                <p:cNvSpPr/>
                <p:nvPr/>
              </p:nvSpPr>
              <p:spPr>
                <a:xfrm>
                  <a:off x="742950" y="2952750"/>
                  <a:ext cx="571500" cy="571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969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  <a:endPara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677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明确目标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591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范围与标准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" name="Group 16"/>
              <p:cNvGrpSpPr/>
              <p:nvPr/>
            </p:nvGrpSpPr>
            <p:grpSpPr>
              <a:xfrm>
                <a:off x="1734439" y="2952750"/>
                <a:ext cx="874522" cy="1178528"/>
                <a:chOff x="1734439" y="2952750"/>
                <a:chExt cx="874522" cy="1178528"/>
              </a:xfrm>
            </p:grpSpPr>
            <p:sp>
              <p:nvSpPr>
                <p:cNvPr id="12" name="Ellipse 12"/>
                <p:cNvSpPr/>
                <p:nvPr/>
              </p:nvSpPr>
              <p:spPr>
                <a:xfrm>
                  <a:off x="1885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2112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2</a:t>
                  </a:r>
                  <a:endPara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820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读取项目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734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文件与规则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2877439" y="2952750"/>
                <a:ext cx="874522" cy="1178528"/>
                <a:chOff x="2877439" y="2952750"/>
                <a:chExt cx="874522" cy="1178528"/>
              </a:xfrm>
            </p:grpSpPr>
            <p:sp>
              <p:nvSpPr>
                <p:cNvPr id="17" name="Ellipse 17"/>
                <p:cNvSpPr/>
                <p:nvPr/>
              </p:nvSpPr>
              <p:spPr>
                <a:xfrm>
                  <a:off x="3028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3255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  <a:endPara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2963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拆解计划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2877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步骤与风险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4106596" y="2952750"/>
                <a:ext cx="702208" cy="1178528"/>
                <a:chOff x="4106596" y="2952750"/>
                <a:chExt cx="702208" cy="1178528"/>
              </a:xfrm>
            </p:grpSpPr>
            <p:sp>
              <p:nvSpPr>
                <p:cNvPr id="22" name="Ellipse 22"/>
                <p:cNvSpPr/>
                <p:nvPr/>
              </p:nvSpPr>
              <p:spPr>
                <a:xfrm>
                  <a:off x="4171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4398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4</a:t>
                  </a:r>
                  <a:endPara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4106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修改文件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4106596" y="388191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最小变更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5163439" y="2952750"/>
                <a:ext cx="874522" cy="1178528"/>
                <a:chOff x="5163439" y="2952750"/>
                <a:chExt cx="874522" cy="1178528"/>
              </a:xfrm>
            </p:grpSpPr>
            <p:sp>
              <p:nvSpPr>
                <p:cNvPr id="27" name="Ellipse 27"/>
                <p:cNvSpPr/>
                <p:nvPr/>
              </p:nvSpPr>
              <p:spPr>
                <a:xfrm>
                  <a:off x="5314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5541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5</a:t>
                  </a:r>
                  <a:endPara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5249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运行检查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5163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测试与脚本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6361364" y="2952750"/>
                <a:ext cx="764672" cy="1178528"/>
                <a:chOff x="6361364" y="2952750"/>
                <a:chExt cx="764672" cy="1178528"/>
              </a:xfrm>
            </p:grpSpPr>
            <p:sp>
              <p:nvSpPr>
                <p:cNvPr id="32" name="Ellipse 32"/>
                <p:cNvSpPr/>
                <p:nvPr/>
              </p:nvSpPr>
              <p:spPr>
                <a:xfrm>
                  <a:off x="6457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6684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6</a:t>
                  </a:r>
                  <a:endPara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361364" y="3634264"/>
                  <a:ext cx="76467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审查 diff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6392596" y="388191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核对范围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7449439" y="2952750"/>
                <a:ext cx="874522" cy="1178528"/>
                <a:chOff x="7449439" y="2952750"/>
                <a:chExt cx="874522" cy="1178528"/>
              </a:xfrm>
            </p:grpSpPr>
            <p:sp>
              <p:nvSpPr>
                <p:cNvPr id="37" name="Ellipse 37"/>
                <p:cNvSpPr/>
                <p:nvPr/>
              </p:nvSpPr>
              <p:spPr>
                <a:xfrm>
                  <a:off x="7600950" y="2952750"/>
                  <a:ext cx="571500" cy="5715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7827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7</a:t>
                  </a:r>
                  <a:endPara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7535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汇报结果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7449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证据与后续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43" name="Line 43"/>
            <p:cNvSpPr/>
            <p:nvPr/>
          </p:nvSpPr>
          <p:spPr>
            <a:xfrm>
              <a:off x="5600700" y="24955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2857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4457700" y="24955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11430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4457700" y="2495550"/>
              <a:ext cx="1" cy="28575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345000" y="22598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验证失败就返回修改</a:t>
              </a:r>
              <a:endParaRPr lang="zh-CN" sz="112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09600" y="4762500"/>
              <a:ext cx="7810500" cy="800100"/>
            </a:xfrm>
            <a:prstGeom prst="roundRect">
              <a:avLst>
                <a:gd name="adj" fmla="val 4762"/>
              </a:avLst>
            </a:prstGeom>
            <a:solidFill>
              <a:srgbClr val="F2F5F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31342" y="4950142"/>
              <a:ext cx="6858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人的职责</a:t>
              </a:r>
              <a:endParaRPr lang="zh-CN" sz="1350" b="1" dirty="0">
                <a:solidFill>
                  <a:srgbClr val="355F7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1342" y="5235892"/>
              <a:ext cx="42862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入口处确认范围，在出口核对风险、证据与完成标准。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2" name="editor-status"/>
          <p:cNvGrpSpPr/>
          <p:nvPr/>
        </p:nvGrpSpPr>
        <p:grpSpPr>
          <a:xfrm>
            <a:off x="8763000" y="1809750"/>
            <a:ext cx="2819400" cy="3752850"/>
            <a:chOff x="8763000" y="1809750"/>
            <a:chExt cx="2819400" cy="3752850"/>
          </a:xfrm>
        </p:grpSpPr>
        <p:sp>
          <p:nvSpPr>
            <p:cNvPr id="51" name="Rectangle 51"/>
            <p:cNvSpPr/>
            <p:nvPr/>
          </p:nvSpPr>
          <p:spPr>
            <a:xfrm>
              <a:off x="8763000" y="1809750"/>
              <a:ext cx="2819400" cy="3752850"/>
            </a:xfrm>
            <a:prstGeom prst="roundRect">
              <a:avLst>
                <a:gd name="adj" fmla="val 135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763000" y="1809750"/>
              <a:ext cx="2819400" cy="419100"/>
            </a:xfrm>
            <a:prstGeom prst="roundRect">
              <a:avLst>
                <a:gd name="adj" fmla="val 9091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557766" y="1963102"/>
              <a:ext cx="9153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CD6E8"/>
                  </a:solidFill>
                  <a:latin typeface="+mn-lt"/>
                  <a:ea typeface="+mn-ea"/>
                  <a:cs typeface="+mn-cs"/>
                </a:rPr>
                <a:t>task / verify</a:t>
              </a:r>
              <a:endParaRPr lang="en-US" sz="1050" dirty="0">
                <a:solidFill>
                  <a:srgbClr val="CCD6E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04554" y="2480310"/>
              <a:ext cx="989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FB5D9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$ run tests</a:t>
              </a:r>
              <a:endParaRPr lang="en-US" sz="1200" dirty="0">
                <a:solidFill>
                  <a:srgbClr val="9FB5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03792" y="282606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✓ 18 passed</a:t>
              </a:r>
              <a:endParaRPr lang="en-US" sz="1350" dirty="0">
                <a:solidFill>
                  <a:srgbClr val="A9C9BB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6" name="Line 56"/>
            <p:cNvSpPr/>
            <p:nvPr/>
          </p:nvSpPr>
          <p:spPr>
            <a:xfrm>
              <a:off x="9010650" y="3219450"/>
              <a:ext cx="2324100" cy="9525"/>
            </a:xfrm>
            <a:custGeom>
              <a:avLst/>
              <a:gdLst/>
              <a:ahLst/>
              <a:cxnLst/>
              <a:rect l="l" t="t" r="r" b="b"/>
              <a:pathLst>
                <a:path w="2324100" h="9525">
                  <a:moveTo>
                    <a:pt x="0" y="0"/>
                  </a:moveTo>
                  <a:lnTo>
                    <a:pt x="2324100" y="0"/>
                  </a:lnTo>
                </a:path>
              </a:pathLst>
            </a:custGeom>
            <a:noFill/>
            <a:ln w="9525">
              <a:solidFill>
                <a:srgbClr val="53626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004554" y="3489960"/>
              <a:ext cx="6693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FB5D9"/>
                  </a:solidFill>
                  <a:latin typeface="+mn-lt"/>
                  <a:ea typeface="+mn-ea"/>
                  <a:cs typeface="+mn-cs"/>
                </a:rPr>
                <a:t>CHANGES</a:t>
              </a:r>
              <a:endParaRPr lang="en-US" sz="1200" dirty="0">
                <a:solidFill>
                  <a:srgbClr val="9FB5D9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004173" y="3824764"/>
              <a:ext cx="1346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 src/model.py</a:t>
              </a:r>
              <a:endParaRPr lang="en-US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04173" y="4129564"/>
              <a:ext cx="20098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 tests/test_model.py</a:t>
              </a:r>
              <a:endParaRPr lang="en-US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010650" y="4667250"/>
              <a:ext cx="2266950" cy="533400"/>
            </a:xfrm>
            <a:prstGeom prst="roundRect">
              <a:avLst>
                <a:gd name="adj" fmla="val 7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187918" y="4854892"/>
              <a:ext cx="19124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diff ready to review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609600" y="5962650"/>
            <a:ext cx="10978134" cy="368237"/>
            <a:chOff x="609600" y="5962650"/>
            <a:chExt cx="10978134" cy="368237"/>
          </a:xfrm>
        </p:grpSpPr>
        <p:sp>
          <p:nvSpPr>
            <p:cNvPr id="63" name="Line 63"/>
            <p:cNvSpPr/>
            <p:nvPr/>
          </p:nvSpPr>
          <p:spPr>
            <a:xfrm>
              <a:off x="609600" y="5962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1421580" y="61255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435292"/>
            <a:ext cx="10987278" cy="1041083"/>
            <a:chOff x="595122" y="435292"/>
            <a:chExt cx="10987278" cy="10410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43529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科研代码项目的常见目录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规则、代码、测试与结果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0" name="project-tree"/>
          <p:cNvGrpSpPr/>
          <p:nvPr/>
        </p:nvGrpSpPr>
        <p:grpSpPr>
          <a:xfrm>
            <a:off x="609600" y="1733550"/>
            <a:ext cx="4762500" cy="4359275"/>
            <a:chOff x="609600" y="1733550"/>
            <a:chExt cx="4762500" cy="4034433"/>
          </a:xfrm>
        </p:grpSpPr>
        <p:sp>
          <p:nvSpPr>
            <p:cNvPr id="6" name="Rectangle 6"/>
            <p:cNvSpPr/>
            <p:nvPr/>
          </p:nvSpPr>
          <p:spPr>
            <a:xfrm>
              <a:off x="609600" y="1733550"/>
              <a:ext cx="4762500" cy="4034433"/>
            </a:xfrm>
            <a:prstGeom prst="roundRect">
              <a:avLst>
                <a:gd name="adj" fmla="val 91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733550"/>
              <a:ext cx="4762500" cy="457200"/>
            </a:xfrm>
            <a:prstGeom prst="roundRect">
              <a:avLst>
                <a:gd name="adj" fmla="val 8333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23035" y="1897856"/>
              <a:ext cx="2099655" cy="158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CD6E8"/>
                  </a:solidFill>
                  <a:latin typeface="+mn-lt"/>
                  <a:ea typeface="+mn-ea"/>
                  <a:cs typeface="+mn-cs"/>
                </a:rPr>
                <a:t>research-project / explorer</a:t>
              </a:r>
              <a:endParaRPr lang="en-US" sz="1120" dirty="0">
                <a:solidFill>
                  <a:srgbClr val="CCD6E8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869442" y="2426018"/>
              <a:ext cx="1712957" cy="3122305"/>
              <a:chOff x="869442" y="2426018"/>
              <a:chExt cx="1712957" cy="3122305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69442" y="2426018"/>
                <a:ext cx="1712957" cy="192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research-project/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36142" y="2671408"/>
                <a:ext cx="1264101" cy="192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FC6C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AGENTS.md</a:t>
                </a:r>
                <a:endParaRPr lang="en-US" sz="1350" dirty="0">
                  <a:solidFill>
                    <a:srgbClr val="AFC6C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31697" y="2930974"/>
                <a:ext cx="1264101" cy="192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README.md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36777" y="3179273"/>
                <a:ext cx="713403" cy="192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src/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36142" y="3442178"/>
                <a:ext cx="913314" cy="192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tests/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31697" y="3725948"/>
                <a:ext cx="1113225" cy="192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configs/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40587" y="3996811"/>
                <a:ext cx="813359" cy="192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data/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40587" y="4267635"/>
                <a:ext cx="1113225" cy="192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results/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36142" y="4520441"/>
                <a:ext cx="813359" cy="192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docs/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40587" y="5356151"/>
                <a:ext cx="1313136" cy="192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└─ .gitignore</a:t>
                </a:r>
                <a:endParaRPr lang="en-US" sz="1350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</p:grpSp>
      <p:grpSp>
        <p:nvGrpSpPr>
          <p:cNvPr id="37" name="file-responsibilities"/>
          <p:cNvGrpSpPr/>
          <p:nvPr/>
        </p:nvGrpSpPr>
        <p:grpSpPr>
          <a:xfrm>
            <a:off x="5706745" y="1878965"/>
            <a:ext cx="5875782" cy="3769142"/>
            <a:chOff x="5706618" y="1879282"/>
            <a:chExt cx="5875909" cy="3249780"/>
          </a:xfrm>
        </p:grpSpPr>
        <p:sp>
          <p:nvSpPr>
            <p:cNvPr id="21" name="TextBox 21"/>
            <p:cNvSpPr txBox="1"/>
            <p:nvPr/>
          </p:nvSpPr>
          <p:spPr>
            <a:xfrm>
              <a:off x="5706618" y="1879282"/>
              <a:ext cx="3126486" cy="2184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常见目录</a:t>
              </a:r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划分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5715000" y="2305050"/>
              <a:ext cx="5867527" cy="2824012"/>
              <a:chOff x="5715000" y="2305050"/>
              <a:chExt cx="5867527" cy="2824012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715000" y="2305050"/>
                <a:ext cx="5867400" cy="1080770"/>
              </a:xfrm>
              <a:prstGeom prst="roundRect">
                <a:avLst>
                  <a:gd name="adj" fmla="val 4348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5715000" y="2305050"/>
                <a:ext cx="76200" cy="8763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974086" y="2398697"/>
                <a:ext cx="1281458" cy="1987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alt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codex</a:t>
                </a:r>
                <a:r>
                  <a:rPr alt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专属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974461" y="2640714"/>
                <a:ext cx="3423920" cy="4861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indent="0" algn="l" fontAlgn="auto">
                  <a:lnSpc>
                    <a:spcPts val="2200"/>
                  </a:lnSpc>
                </a:pPr>
                <a:r>
                  <a:rPr lang="en-US" sz="1420" dirty="0">
                    <a:solidFill>
                      <a:srgbClr val="355F7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AGENTS.md</a:t>
                </a:r>
                <a:r>
                  <a:rPr lang="zh-CN"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写规则约束。</a:t>
                </a:r>
                <a:endParaRPr lang="zh-CN" sz="1420" dirty="0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 fontAlgn="auto">
                  <a:lnSpc>
                    <a:spcPts val="2200"/>
                  </a:lnSpc>
                </a:pPr>
                <a:r>
                  <a:rPr lang="en-US" sz="1420" dirty="0">
                    <a:solidFill>
                      <a:schemeClr val="accent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.agents/skills/</a:t>
                </a:r>
                <a:r>
                  <a:rPr altLang="en-US" sz="142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写需重复进行的</a:t>
                </a:r>
                <a:r>
                  <a:rPr altLang="en-US" sz="142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操作。</a:t>
                </a:r>
                <a:r>
                  <a:rPr lang="en-US" sz="1420" dirty="0">
                    <a:solidFill>
                      <a:schemeClr val="bg2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  <a:sym typeface="+mn-ea"/>
                  </a:rPr>
                  <a:t>/</a:t>
                </a:r>
                <a:endPara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5715000" y="3333805"/>
                <a:ext cx="5867527" cy="662477"/>
              </a:xfrm>
              <a:prstGeom prst="roundRect">
                <a:avLst>
                  <a:gd name="adj" fmla="val 4348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5715000" y="3333805"/>
                <a:ext cx="76837" cy="662477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5974721" y="3414835"/>
                <a:ext cx="850918" cy="1987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alt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Git</a:t>
                </a:r>
                <a:r>
                  <a:rPr alt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专属</a:t>
                </a:r>
                <a:endParaRPr alt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974461" y="3670053"/>
                <a:ext cx="5138420" cy="1877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527A75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.gitignore</a:t>
                </a:r>
                <a:r>
                  <a:rPr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：排除密钥、缓存、大型原始数据和可再生成文件。</a:t>
                </a:r>
                <a:endParaRPr lang="zh-CN" sz="1420" dirty="0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5715000" y="4362560"/>
                <a:ext cx="5867527" cy="766502"/>
              </a:xfrm>
              <a:prstGeom prst="roundRect">
                <a:avLst>
                  <a:gd name="adj" fmla="val 4348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5715000" y="4362560"/>
                <a:ext cx="76202" cy="766502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5974721" y="4430997"/>
                <a:ext cx="972841" cy="1987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项目</a:t>
                </a:r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专属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974461" y="4699848"/>
                <a:ext cx="4853305" cy="3755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configs/</a:t>
                </a:r>
                <a:r>
                  <a:rPr altLang="en-US"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写配置，</a:t>
                </a:r>
                <a:r>
                  <a:rPr lang="en-US"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data/</a:t>
                </a:r>
                <a:r>
                  <a:rPr altLang="en-US"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放数据，</a:t>
                </a:r>
                <a:r>
                  <a:rPr lang="en-US"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results/</a:t>
                </a:r>
                <a:r>
                  <a:rPr altLang="en-US"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放结果，</a:t>
                </a:r>
                <a:r>
                  <a:rPr lang="en-US" altLang="zh-CN"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src/</a:t>
                </a:r>
                <a:r>
                  <a:rPr altLang="en-US"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放代码，</a:t>
                </a:r>
                <a:r>
                  <a:rPr lang="en-US" altLang="zh-CN"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tests/</a:t>
                </a:r>
                <a:r>
                  <a:rPr altLang="en-US"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放</a:t>
                </a:r>
                <a:r>
                  <a:rPr altLang="en-US" sz="1420" dirty="0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测试。</a:t>
                </a:r>
                <a:endParaRPr altLang="en-US" sz="1420" dirty="0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grpSp>
        <p:nvGrpSpPr>
          <p:cNvPr id="40" name="footer"/>
          <p:cNvGrpSpPr/>
          <p:nvPr/>
        </p:nvGrpSpPr>
        <p:grpSpPr>
          <a:xfrm>
            <a:off x="5715000" y="5896451"/>
            <a:ext cx="10983849" cy="220028"/>
            <a:chOff x="603885" y="6184106"/>
            <a:chExt cx="10983849" cy="220028"/>
          </a:xfrm>
        </p:grpSpPr>
        <p:sp>
          <p:nvSpPr>
            <p:cNvPr id="38" name="TextBox 38"/>
            <p:cNvSpPr txBox="1"/>
            <p:nvPr/>
          </p:nvSpPr>
          <p:spPr>
            <a:xfrm>
              <a:off x="603885" y="6184106"/>
              <a:ext cx="5512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目录不是为了“看起来专业”，而是为了让人和 Codex 都能定位规则、执行与验证。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421580" y="6192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1" name="TextBox 17"/>
          <p:cNvSpPr txBox="1"/>
          <p:nvPr/>
        </p:nvSpPr>
        <p:spPr>
          <a:xfrm>
            <a:off x="1136142" y="5067618"/>
            <a:ext cx="8133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├─ docs/</a:t>
            </a:r>
            <a:endParaRPr lang="en-US" sz="1350" dirty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3" name="TextBox 17"/>
          <p:cNvSpPr txBox="1"/>
          <p:nvPr/>
        </p:nvSpPr>
        <p:spPr>
          <a:xfrm>
            <a:off x="1136142" y="5378133"/>
            <a:ext cx="169164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├─ </a:t>
            </a:r>
            <a:r>
              <a:rPr lang="en-US" sz="1350" dirty="0">
                <a:solidFill>
                  <a:schemeClr val="bg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+mn-ea"/>
              </a:rPr>
              <a:t>.agents/skills/</a:t>
            </a:r>
            <a:endParaRPr lang="en-US" sz="1350" dirty="0">
              <a:solidFill>
                <a:schemeClr val="bg2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3865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项目规则与可复用技能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两类文件分别解决长期约定和特定任务的操作方法。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5" name="agents-column"/>
          <p:cNvGrpSpPr/>
          <p:nvPr/>
        </p:nvGrpSpPr>
        <p:grpSpPr>
          <a:xfrm>
            <a:off x="599313" y="1953101"/>
            <a:ext cx="5058537" cy="3535363"/>
            <a:chOff x="599313" y="1953101"/>
            <a:chExt cx="5058537" cy="3535363"/>
          </a:xfrm>
        </p:grpSpPr>
        <p:sp>
          <p:nvSpPr>
            <p:cNvPr id="6" name="TextBox 6"/>
            <p:cNvSpPr txBox="1"/>
            <p:nvPr/>
          </p:nvSpPr>
          <p:spPr>
            <a:xfrm>
              <a:off x="599313" y="1953101"/>
              <a:ext cx="142378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AGENTS.md</a:t>
              </a:r>
              <a:endParaRPr lang="en-US" sz="202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2428875"/>
              <a:ext cx="47625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项目内持续生效的工作约定，一般是不怎么进行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变化的。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80035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2742" y="30737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通常包括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961" y="3484721"/>
              <a:ext cx="1623060" cy="217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项目背景与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科研场景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0961" y="3903821"/>
              <a:ext cx="1623060" cy="217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文档生成格式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与检查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961" y="432292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数据、提交和删除的限制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0961" y="474202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完成任务后的汇报要求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3123" y="5291614"/>
              <a:ext cx="4524375" cy="196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例如：修改前检查 Git 状态，完成后运行测试并完成代码</a:t>
              </a:r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提交。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skill-column"/>
          <p:cNvGrpSpPr/>
          <p:nvPr/>
        </p:nvGrpSpPr>
        <p:grpSpPr>
          <a:xfrm>
            <a:off x="6523863" y="1953101"/>
            <a:ext cx="5058537" cy="3664077"/>
            <a:chOff x="6523863" y="1953101"/>
            <a:chExt cx="5058537" cy="3664077"/>
          </a:xfrm>
        </p:grpSpPr>
        <p:sp>
          <p:nvSpPr>
            <p:cNvPr id="16" name="TextBox 16"/>
            <p:cNvSpPr txBox="1"/>
            <p:nvPr/>
          </p:nvSpPr>
          <p:spPr>
            <a:xfrm>
              <a:off x="6523863" y="1953101"/>
              <a:ext cx="77685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Skill</a:t>
              </a:r>
              <a:endParaRPr lang="en-US" sz="202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26530" y="2428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针对一类重复任务的操作手册。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6534150" y="280035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27292" y="3073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一个技能目录可以这样组织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6755130" y="3476625"/>
              <a:ext cx="1903286" cy="1817370"/>
              <a:chOff x="6755130" y="3476625"/>
              <a:chExt cx="1903286" cy="181737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6755130" y="3476625"/>
                <a:ext cx="19032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experiment-audit/</a:t>
                </a:r>
                <a:endParaRPr lang="en-US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021830" y="3857625"/>
                <a:ext cx="12863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SKILL.md</a:t>
                </a:r>
                <a:endParaRPr lang="en-US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021830" y="4238625"/>
                <a:ext cx="123691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scripts/</a:t>
                </a:r>
                <a:endParaRPr lang="en-US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021830" y="4619625"/>
                <a:ext cx="157010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references/</a:t>
                </a:r>
                <a:endParaRPr lang="en-US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021830" y="5000625"/>
                <a:ext cx="1125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└─ assets/</a:t>
                </a:r>
                <a:endParaRPr lang="en-US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6527673" y="5367814"/>
              <a:ext cx="38297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其中 SKILL.md 必需，其余目录按任务需要添加。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28" name="Line 28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3885" y="6098381"/>
              <a:ext cx="28924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1"/>
                </a:rPr>
                <a:t>AGENTS.md 官方文档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2"/>
                </a:rPr>
                <a:t>Skills 官方文档</a:t>
              </a:r>
              <a:endParaRPr lang="zh-CN" sz="1120" u="sng" dirty="0">
                <a:solidFill>
                  <a:srgbClr val="355F70"/>
                </a:solidFill>
                <a:latin typeface="+mn-lt"/>
                <a:ea typeface="+mn-ea"/>
                <a:cs typeface="+mn-cs"/>
                <a:hlinkClick r:id="rId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526104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AGENTS.md：项目级工作约定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50805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Codex 开始任务前读取这些文件，确定本次工作的约束。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9" name="scope"/>
          <p:cNvGrpSpPr/>
          <p:nvPr/>
        </p:nvGrpSpPr>
        <p:grpSpPr>
          <a:xfrm>
            <a:off x="601218" y="1936432"/>
            <a:ext cx="5247132" cy="3318796"/>
            <a:chOff x="601218" y="1936432"/>
            <a:chExt cx="5247132" cy="3318796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364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文件放在哪里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3123" y="233886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规则从通用到具体，沿工作目录逐级生效。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76225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3123" y="30437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个人通用约定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69261" y="3027521"/>
              <a:ext cx="19564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~/.codex/AGENTS.md</a:t>
              </a:r>
              <a:endParaRPr lang="en-US" sz="14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3400425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3123" y="368188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整个项目的约定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69261" y="3665696"/>
              <a:ext cx="18422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project/AGENTS.md</a:t>
              </a:r>
              <a:endParaRPr lang="en-US" sz="14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" y="403860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3123" y="43200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局部目录的补充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69261" y="4303871"/>
              <a:ext cx="25786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project/subdir/AGENTS.md</a:t>
              </a:r>
              <a:endParaRPr lang="en-US" sz="14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4676775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3123" y="5005864"/>
              <a:ext cx="34737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进入更深目录时，Codex 会合并适用的规则。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content"/>
          <p:cNvGrpSpPr/>
          <p:nvPr/>
        </p:nvGrpSpPr>
        <p:grpSpPr>
          <a:xfrm>
            <a:off x="6487668" y="1936432"/>
            <a:ext cx="5094732" cy="3456782"/>
            <a:chOff x="6487668" y="1936432"/>
            <a:chExt cx="5094732" cy="3456782"/>
          </a:xfrm>
        </p:grpSpPr>
        <p:sp>
          <p:nvSpPr>
            <p:cNvPr id="20" name="TextBox 20"/>
            <p:cNvSpPr txBox="1"/>
            <p:nvPr/>
          </p:nvSpPr>
          <p:spPr>
            <a:xfrm>
              <a:off x="6487668" y="1936432"/>
              <a:ext cx="146685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文件生效的</a:t>
              </a:r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范围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88811" y="2389346"/>
              <a:ext cx="4147820" cy="217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sz="1420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个人通用约定：针对与全局，记录个人长期使用</a:t>
              </a:r>
              <a:r>
                <a:rPr sz="1420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习惯</a:t>
              </a:r>
              <a:endParaRPr sz="142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88811" y="2817971"/>
              <a:ext cx="4508500" cy="217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sz="1420" dirty="0">
                  <a:solidFill>
                    <a:schemeClr val="accent5"/>
                  </a:solidFill>
                  <a:sym typeface="+mn-ea"/>
                </a:rPr>
                <a:t>整个项目的约定：针对于当前项目，对当前项目</a:t>
              </a:r>
              <a:r>
                <a:rPr sz="1420" dirty="0">
                  <a:solidFill>
                    <a:schemeClr val="accent5"/>
                  </a:solidFill>
                  <a:sym typeface="+mn-ea"/>
                </a:rPr>
                <a:t>特殊要求</a:t>
              </a:r>
              <a:endParaRPr sz="1420" dirty="0">
                <a:solidFill>
                  <a:schemeClr val="accent5"/>
                </a:solidFill>
                <a:sym typeface="+mn-ea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88811" y="3246596"/>
              <a:ext cx="3787140" cy="217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sz="1420" dirty="0">
                  <a:solidFill>
                    <a:schemeClr val="accent5"/>
                  </a:solidFill>
                  <a:sym typeface="+mn-ea"/>
                </a:rPr>
                <a:t>局部目录的补充：项目下的</a:t>
              </a:r>
              <a:r>
                <a:rPr sz="1420" dirty="0">
                  <a:solidFill>
                    <a:schemeClr val="accent5"/>
                  </a:solidFill>
                  <a:sym typeface="+mn-ea"/>
                </a:rPr>
                <a:t>子目录，一般</a:t>
              </a:r>
              <a:r>
                <a:rPr sz="1420" dirty="0">
                  <a:solidFill>
                    <a:schemeClr val="accent5"/>
                  </a:solidFill>
                  <a:sym typeface="+mn-ea"/>
                </a:rPr>
                <a:t>不使用</a:t>
              </a:r>
              <a:endParaRPr sz="1420" dirty="0">
                <a:solidFill>
                  <a:schemeClr val="accent5"/>
                </a:solidFill>
                <a:sym typeface="+mn-ea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8811" y="3675221"/>
              <a:ext cx="127000" cy="217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6496050" y="4171950"/>
              <a:ext cx="5086350" cy="9525"/>
            </a:xfrm>
            <a:custGeom>
              <a:avLst/>
              <a:gdLst/>
              <a:ahLst/>
              <a:cxnLst/>
              <a:rect l="l" t="t" r="r" b="b"/>
              <a:pathLst>
                <a:path w="5086350" h="9525">
                  <a:moveTo>
                    <a:pt x="0" y="0"/>
                  </a:moveTo>
                  <a:lnTo>
                    <a:pt x="50863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88430" y="4410075"/>
              <a:ext cx="15240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不建议写入</a:t>
              </a: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的规则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89192" y="48263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一次性任务、频繁变化的细节和敏感信息。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89573" y="5196364"/>
              <a:ext cx="4660265" cy="196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不建议写入太长的规则，如果规则太长，又比较通用建议封装</a:t>
              </a:r>
              <a:r>
                <a:rPr lang="en-US" alt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skill</a:t>
              </a:r>
              <a:endParaRPr lang="en-US" alt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30" name="Line 30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3885" y="6098381"/>
              <a:ext cx="31592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1"/>
                </a:rPr>
                <a:t>OpenAI AGENTS.md 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2"/>
                </a:rPr>
                <a:t>参考教程第八节</a:t>
              </a:r>
              <a:endParaRPr lang="zh-CN" sz="1120" u="sng" dirty="0">
                <a:solidFill>
                  <a:srgbClr val="355F70"/>
                </a:solidFill>
                <a:latin typeface="+mn-lt"/>
                <a:ea typeface="+mn-ea"/>
                <a:cs typeface="+mn-cs"/>
                <a:hlinkClick r:id="rId2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551301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科研项目中的 AGENTS.md 示例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6019800" cy="24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下面是一份最小示例：描述了科研场景、工作规则，文档输出</a:t>
              </a:r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格式。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3" name="agents-example"/>
          <p:cNvGrpSpPr/>
          <p:nvPr/>
        </p:nvGrpSpPr>
        <p:grpSpPr>
          <a:xfrm>
            <a:off x="609600" y="1619250"/>
            <a:ext cx="6705600" cy="4305300"/>
            <a:chOff x="609600" y="1619250"/>
            <a:chExt cx="6705600" cy="43053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6705600" cy="4305300"/>
            </a:xfrm>
            <a:prstGeom prst="roundRect">
              <a:avLst>
                <a:gd name="adj" fmla="val 88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6705600" cy="476250"/>
            </a:xfrm>
            <a:prstGeom prst="roundRect">
              <a:avLst>
                <a:gd name="adj" fmla="val 8000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75054" y="1794510"/>
              <a:ext cx="1556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3CDD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project/AGENTS.md</a:t>
              </a:r>
              <a:endParaRPr lang="en-US" sz="1200" dirty="0">
                <a:solidFill>
                  <a:srgbClr val="C3CDD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868680" y="2257425"/>
              <a:ext cx="5602224" cy="3131185"/>
              <a:chOff x="868680" y="2257425"/>
              <a:chExt cx="5602224" cy="3131185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68680" y="2257425"/>
                <a:ext cx="12887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AFC6C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# AGENTS.md</a:t>
                </a:r>
                <a:endParaRPr lang="en-US" sz="1500" b="1" dirty="0">
                  <a:solidFill>
                    <a:srgbClr val="AFC6C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70204" y="2613660"/>
                <a:ext cx="1508760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## </a:t>
                </a:r>
                <a:r>
                  <a:rPr lang="en-US" altLang="zh-CN" sz="1200" b="1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research target</a:t>
                </a:r>
                <a:endParaRPr lang="en-US" altLang="zh-CN" sz="1200" b="1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60704" y="2880360"/>
                <a:ext cx="5410200" cy="553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</a:t>
                </a:r>
                <a:r>
                  <a:rPr lang="zh-CN" altLang="en-US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面向</a:t>
                </a:r>
                <a:r>
                  <a:rPr lang="en-US" alt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 </a:t>
                </a:r>
                <a:r>
                  <a:rPr lang="zh-CN" altLang="en-US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3</a:t>
                </a:r>
                <a:r>
                  <a:rPr lang="en-US" alt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D NLoS </a:t>
                </a:r>
                <a:r>
                  <a:rPr lang="zh-CN" altLang="en-US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环境，构建多 </a:t>
                </a:r>
                <a:r>
                  <a:rPr lang="en-US" alt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UAV </a:t>
                </a:r>
                <a:r>
                  <a:rPr lang="zh-CN" altLang="en-US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协同的 **</a:t>
                </a:r>
                <a:r>
                  <a:rPr lang="en-US" alt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ISAC-SLAM**（</a:t>
                </a:r>
                <a:r>
                  <a:rPr lang="zh-CN" altLang="en-US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通感算一体化同</a:t>
                </a:r>
                <a:endParaRPr lang="zh-CN" altLang="en-US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  <a:p>
                <a:pPr algn="l"/>
                <a:r>
                  <a:rPr lang="zh-CN" altLang="en-US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步定位与建图）系统：对非合作隐蔽基站盲定位，同步重建三维物理反射面</a:t>
                </a:r>
                <a:endParaRPr lang="zh-CN" altLang="en-US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  <a:p>
                <a:pPr algn="l"/>
                <a:r>
                  <a:rPr lang="zh-CN" altLang="en-US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最终生成带有物理属性标签的 3</a:t>
                </a:r>
                <a:r>
                  <a:rPr lang="en-US" alt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D </a:t>
                </a:r>
                <a:r>
                  <a:rPr lang="zh-CN" altLang="en-US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数字孪生地图。</a:t>
                </a:r>
                <a:endParaRPr lang="zh-CN" altLang="en-US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70204" y="3509010"/>
                <a:ext cx="18842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## Working agreements</a:t>
                </a:r>
                <a:endParaRPr lang="en-US" sz="1200" b="1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60704" y="3775710"/>
                <a:ext cx="21364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修改前先检查 git status</a:t>
                </a:r>
                <a:endParaRPr lang="zh-CN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60704" y="4042410"/>
                <a:ext cx="19668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只修改当前任务相关文件</a:t>
                </a:r>
                <a:endParaRPr lang="zh-CN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60704" y="4309110"/>
                <a:ext cx="2956201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每次修改完成将所有修改提交并推送远程</a:t>
                </a:r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分支</a:t>
                </a:r>
                <a:endParaRPr lang="zh-CN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70081" y="4671060"/>
                <a:ext cx="1926434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##</a:t>
                </a:r>
                <a:r>
                  <a:rPr lang="en-US" altLang="zh-CN" sz="1200" b="1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 Document output format</a:t>
                </a:r>
                <a:endParaRPr lang="en-US" altLang="zh-CN" sz="1200" b="1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56005" y="4937760"/>
                <a:ext cx="4039870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输出文档在没有指定格式的情况下全部输出</a:t>
                </a:r>
                <a:r>
                  <a:rPr lang="en-US" alt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md</a:t>
                </a:r>
                <a:r>
                  <a:rPr altLang="en-US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文档</a:t>
                </a:r>
                <a:r>
                  <a:rPr lang="en-US" alt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 </a:t>
                </a:r>
                <a:endParaRPr lang="en-US" altLang="zh-CN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60704" y="5204460"/>
                <a:ext cx="3215640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输出文档后要检查文档的可视化是否存在</a:t>
                </a:r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错误</a:t>
                </a:r>
                <a:endParaRPr lang="zh-CN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sp>
          <p:nvSpPr>
            <p:cNvPr id="21" name="Rectangle 21"/>
            <p:cNvSpPr/>
            <p:nvPr/>
          </p:nvSpPr>
          <p:spPr>
            <a:xfrm>
              <a:off x="876300" y="5543550"/>
              <a:ext cx="6172200" cy="228600"/>
            </a:xfrm>
            <a:prstGeom prst="roundRect">
              <a:avLst>
                <a:gd name="adj" fmla="val 16667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23747" y="5600224"/>
              <a:ext cx="31621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EBBC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保存位置：项目根目录；团队成员与 Codex 共同遵守</a:t>
              </a:r>
              <a:endParaRPr lang="zh-CN" sz="980" dirty="0">
                <a:solidFill>
                  <a:srgbClr val="AEBBC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45" name="writing-principles"/>
          <p:cNvGrpSpPr/>
          <p:nvPr/>
        </p:nvGrpSpPr>
        <p:grpSpPr>
          <a:xfrm>
            <a:off x="7620000" y="1619250"/>
            <a:ext cx="3962400" cy="4305300"/>
            <a:chOff x="7620000" y="1619250"/>
            <a:chExt cx="3962400" cy="4305300"/>
          </a:xfrm>
        </p:grpSpPr>
        <p:sp>
          <p:nvSpPr>
            <p:cNvPr id="24" name="Rectangle 24"/>
            <p:cNvSpPr/>
            <p:nvPr/>
          </p:nvSpPr>
          <p:spPr>
            <a:xfrm>
              <a:off x="7620000" y="1619250"/>
              <a:ext cx="3962400" cy="4305300"/>
            </a:xfrm>
            <a:prstGeom prst="roundRect">
              <a:avLst>
                <a:gd name="adj" fmla="val 96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78318" y="1822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三条写作原则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7886700" y="2258060"/>
              <a:ext cx="3491865" cy="2656840"/>
              <a:chOff x="7886700" y="2258060"/>
              <a:chExt cx="3491865" cy="265684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949565" y="2258060"/>
                <a:ext cx="3429000" cy="781050"/>
              </a:xfrm>
              <a:prstGeom prst="roundRect">
                <a:avLst>
                  <a:gd name="adj" fmla="val 4878"/>
                </a:avLst>
              </a:prstGeom>
              <a:solidFill>
                <a:srgbClr val="F2F5F5"/>
              </a:solidFill>
              <a:ln>
                <a:noFill/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8039100" y="2447925"/>
                <a:ext cx="419100" cy="419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182723" y="25622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602980" y="240982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具体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604504" y="2708910"/>
                <a:ext cx="25968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写路径、命令与边界，不写空泛口号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7886700" y="3200400"/>
                <a:ext cx="3429000" cy="781050"/>
              </a:xfrm>
              <a:prstGeom prst="roundRect">
                <a:avLst>
                  <a:gd name="adj" fmla="val 4878"/>
                </a:avLst>
              </a:prstGeom>
              <a:solidFill>
                <a:srgbClr val="F1F5F3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8039100" y="3381375"/>
                <a:ext cx="419100" cy="419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182723" y="34956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602980" y="33432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可执行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604504" y="3642360"/>
                <a:ext cx="19643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Codex 能据此采取明确动作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7886700" y="4133850"/>
                <a:ext cx="3429000" cy="781050"/>
              </a:xfrm>
              <a:prstGeom prst="roundRect">
                <a:avLst>
                  <a:gd name="adj" fmla="val 4878"/>
                </a:avLst>
              </a:prstGeom>
              <a:solidFill>
                <a:srgbClr val="F0F3F8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8039100" y="4314825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182723" y="44291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602980" y="427672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可验证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604504" y="4575810"/>
                <a:ext cx="22738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完成标准能通过测试或检查确认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42" name="Line 42"/>
            <p:cNvSpPr/>
            <p:nvPr/>
          </p:nvSpPr>
          <p:spPr>
            <a:xfrm>
              <a:off x="7886700" y="51816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880604" y="5337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先写最常被遗忘、但影响最大的规则。</a:t>
              </a:r>
              <a:endParaRPr lang="zh-CN" sz="1200" b="1" dirty="0">
                <a:solidFill>
                  <a:srgbClr val="355F7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80985" y="5593556"/>
              <a:ext cx="28818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规则变化时更新文件，并让 Git 记录原因。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604266" y="6230302"/>
            <a:ext cx="10983468" cy="205359"/>
            <a:chOff x="604266" y="6230302"/>
            <a:chExt cx="10983468" cy="205359"/>
          </a:xfrm>
        </p:grpSpPr>
        <p:sp>
          <p:nvSpPr>
            <p:cNvPr id="46" name="TextBox 46"/>
            <p:cNvSpPr txBox="1"/>
            <p:nvPr/>
          </p:nvSpPr>
          <p:spPr>
            <a:xfrm>
              <a:off x="604266" y="623030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示例思路参考：</a:t>
              </a:r>
              <a:r>
                <a:rPr lang="zh-CN" sz="1050" u="sng" dirty="0">
                  <a:solidFill>
                    <a:schemeClr val="accent2"/>
                  </a:solidFill>
                  <a:latin typeface="+mn-lt"/>
                  <a:ea typeface="+mn-ea"/>
                  <a:cs typeface="+mn-cs"/>
                  <a:hlinkClick r:id="rId1"/>
                </a:rPr>
                <a:t>教程第八节：项目指令配置</a:t>
              </a:r>
              <a:endParaRPr lang="zh-CN" sz="1050" u="sng" dirty="0">
                <a:solidFill>
                  <a:schemeClr val="accent2"/>
                </a:solidFill>
                <a:latin typeface="+mn-lt"/>
                <a:ea typeface="+mn-ea"/>
                <a:cs typeface="+mn-cs"/>
                <a:hlinkClick r:id="rId1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21580" y="6230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07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403533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的结构与调用方式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55331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Skill 为一类任务保存步骤说明，必要时附带脚本或参考资料。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" name="directory"/>
          <p:cNvGrpSpPr/>
          <p:nvPr/>
        </p:nvGrpSpPr>
        <p:grpSpPr>
          <a:xfrm>
            <a:off x="601218" y="1917382"/>
            <a:ext cx="4770882" cy="3480721"/>
            <a:chOff x="601218" y="1917382"/>
            <a:chExt cx="4770882" cy="3480721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173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项目中的目录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3123" y="2281714"/>
              <a:ext cx="3045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accent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.agents/skills/experiment-audit/</a:t>
              </a:r>
              <a:endParaRPr lang="en-US" sz="1280" dirty="0">
                <a:solidFill>
                  <a:schemeClr val="accent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6479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30199" y="3011329"/>
              <a:ext cx="2004743" cy="1984439"/>
              <a:chOff x="830199" y="3011329"/>
              <a:chExt cx="2004743" cy="1984439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30199" y="3011329"/>
                <a:ext cx="200474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experiment-audit/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87374" y="3430429"/>
                <a:ext cx="135486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SKILL.md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87374" y="3849529"/>
                <a:ext cx="130283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scripts/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87374" y="4268629"/>
                <a:ext cx="165378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references/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87374" y="4687729"/>
                <a:ext cx="118585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└─ assets/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831723" y="5148739"/>
              <a:ext cx="3431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SKILL.md 是必需文件，其余内容按需添加。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loading"/>
          <p:cNvGrpSpPr/>
          <p:nvPr/>
        </p:nvGrpSpPr>
        <p:grpSpPr>
          <a:xfrm>
            <a:off x="6030468" y="1917382"/>
            <a:ext cx="5551932" cy="2217516"/>
            <a:chOff x="6030468" y="1917382"/>
            <a:chExt cx="5551932" cy="2217516"/>
          </a:xfrm>
        </p:grpSpPr>
        <p:sp>
          <p:nvSpPr>
            <p:cNvPr id="17" name="TextBox 17"/>
            <p:cNvSpPr txBox="1"/>
            <p:nvPr/>
          </p:nvSpPr>
          <p:spPr>
            <a:xfrm>
              <a:off x="6030468" y="1917382"/>
              <a:ext cx="16246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 怎样使用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6038850" y="2343150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0" y="0"/>
                  </a:moveTo>
                  <a:lnTo>
                    <a:pt x="5543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31992" y="26069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先判断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46061" y="259889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读取名称与描述，确认任务是否匹配。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6038850" y="2971800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0" y="0"/>
                  </a:moveTo>
                  <a:lnTo>
                    <a:pt x="5543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31992" y="32356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再加载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46061" y="3227546"/>
              <a:ext cx="24685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匹配后读取完整 SKILL.md。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Line 24"/>
            <p:cNvSpPr/>
            <p:nvPr/>
          </p:nvSpPr>
          <p:spPr>
            <a:xfrm>
              <a:off x="6038850" y="3600450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0" y="0"/>
                  </a:moveTo>
                  <a:lnTo>
                    <a:pt x="5543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31992" y="38642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最后执行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46061" y="385619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按步骤工作，并检查结果。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invocation"/>
          <p:cNvGrpSpPr/>
          <p:nvPr/>
        </p:nvGrpSpPr>
        <p:grpSpPr>
          <a:xfrm>
            <a:off x="6030468" y="4679632"/>
            <a:ext cx="4198346" cy="1020319"/>
            <a:chOff x="6030468" y="4679632"/>
            <a:chExt cx="4198346" cy="1020319"/>
          </a:xfrm>
        </p:grpSpPr>
        <p:sp>
          <p:nvSpPr>
            <p:cNvPr id="28" name="TextBox 28"/>
            <p:cNvSpPr txBox="1"/>
            <p:nvPr/>
          </p:nvSpPr>
          <p:spPr>
            <a:xfrm>
              <a:off x="6030468" y="4679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调用方式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31992" y="5093018"/>
              <a:ext cx="22581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显式：</a:t>
              </a:r>
              <a:r>
                <a:rPr lang="en-US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$experiment-audit</a:t>
              </a:r>
              <a:endParaRPr lang="en-US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31992" y="5435918"/>
              <a:ext cx="41968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任务描述与 Skill 用途吻合时由 Codex 选择。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32" name="Line 32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3885" y="6098381"/>
              <a:ext cx="27360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1"/>
                </a:rPr>
                <a:t>OpenAI Skills 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2"/>
                </a:rPr>
                <a:t>参考教程第九节</a:t>
              </a:r>
              <a:endParaRPr lang="zh-CN" sz="1120" u="sng" dirty="0">
                <a:solidFill>
                  <a:srgbClr val="355F70"/>
                </a:solidFill>
                <a:latin typeface="+mn-lt"/>
                <a:ea typeface="+mn-ea"/>
                <a:cs typeface="+mn-cs"/>
                <a:hlinkClick r:id="rId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08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441900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示例：实验结果复核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7588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适合反复复现实验、核对指标和生成可追溯摘要的科研任务。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2" name="skill-example"/>
          <p:cNvGrpSpPr/>
          <p:nvPr/>
        </p:nvGrpSpPr>
        <p:grpSpPr>
          <a:xfrm>
            <a:off x="609600" y="1619250"/>
            <a:ext cx="5791200" cy="4305300"/>
            <a:chOff x="609600" y="1619250"/>
            <a:chExt cx="5791200" cy="43053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791200" cy="4305300"/>
            </a:xfrm>
            <a:prstGeom prst="roundRect">
              <a:avLst>
                <a:gd name="adj" fmla="val 88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791200" cy="476250"/>
            </a:xfrm>
            <a:prstGeom prst="roundRect">
              <a:avLst>
                <a:gd name="adj" fmla="val 8000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75054" y="1794510"/>
              <a:ext cx="3595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3CDD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.agents/skills/experiment-audit/SKILL.md</a:t>
              </a:r>
              <a:endParaRPr lang="en-US" sz="1200" dirty="0">
                <a:solidFill>
                  <a:srgbClr val="C3CDD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870585" y="2278856"/>
              <a:ext cx="3200309" cy="3287078"/>
              <a:chOff x="870585" y="2278856"/>
              <a:chExt cx="3200309" cy="3287078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70585" y="2278856"/>
                <a:ext cx="26020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AEBBC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---</a:t>
                </a:r>
                <a:endParaRPr lang="zh-CN" sz="1120" dirty="0">
                  <a:solidFill>
                    <a:srgbClr val="AEBBC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70585" y="2545556"/>
                <a:ext cx="18358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AFC6C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name:</a:t>
                </a:r>
                <a:r>
                  <a:rPr lang="en-US" sz="1120" dirty="0">
                    <a:solidFill>
                      <a:srgbClr val="E8EEF8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 experiment-audit</a:t>
                </a:r>
                <a:endParaRPr lang="en-US" sz="1120" dirty="0">
                  <a:solidFill>
                    <a:srgbClr val="E8EEF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70585" y="2812256"/>
                <a:ext cx="32003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AFC6C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description:</a:t>
                </a:r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 当任务涉及实验复跑、指标对比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70585" y="3040856"/>
                <a:ext cx="13684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或结果复核时使用。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70585" y="3307556"/>
                <a:ext cx="26020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AEBBC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---</a:t>
                </a:r>
                <a:endParaRPr lang="zh-CN" sz="1120" dirty="0">
                  <a:solidFill>
                    <a:srgbClr val="AEBBC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70585" y="3650456"/>
                <a:ext cx="84655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# Workflow</a:t>
                </a:r>
                <a:endParaRPr lang="en-US" sz="1120" b="1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61085" y="3936206"/>
                <a:ext cx="191872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1. 读取实验配置与数据说明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61085" y="4202906"/>
                <a:ext cx="219040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2. 记录当前 Git 提交号与环境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61085" y="4469606"/>
                <a:ext cx="146640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3. 运行最小复现实验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61085" y="4736306"/>
                <a:ext cx="206950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4. 与基线指标比较并标记异常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61085" y="5003006"/>
                <a:ext cx="191872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5. 生成复核摘要与结果索引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70585" y="5345906"/>
                <a:ext cx="257459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FFB86B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禁止：覆盖原始数据；隐藏失败结果。</a:t>
                </a:r>
                <a:endParaRPr lang="zh-CN" sz="1120" b="1" dirty="0">
                  <a:solidFill>
                    <a:srgbClr val="FFB8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</p:grpSp>
      <p:grpSp>
        <p:nvGrpSpPr>
          <p:cNvPr id="50" name="audit-flow"/>
          <p:cNvGrpSpPr/>
          <p:nvPr/>
        </p:nvGrpSpPr>
        <p:grpSpPr>
          <a:xfrm>
            <a:off x="6705600" y="1619250"/>
            <a:ext cx="4876800" cy="4305300"/>
            <a:chOff x="6705600" y="1619250"/>
            <a:chExt cx="4876800" cy="4305300"/>
          </a:xfrm>
        </p:grpSpPr>
        <p:sp>
          <p:nvSpPr>
            <p:cNvPr id="23" name="Rectangle 23"/>
            <p:cNvSpPr/>
            <p:nvPr/>
          </p:nvSpPr>
          <p:spPr>
            <a:xfrm>
              <a:off x="6705600" y="1619250"/>
              <a:ext cx="4876800" cy="4305300"/>
            </a:xfrm>
            <a:prstGeom prst="roundRect">
              <a:avLst>
                <a:gd name="adj" fmla="val 885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63918" y="18221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执行后应该留下什么？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6204" y="21564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每一步都对应一个可检查的证据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7296150" y="2686050"/>
              <a:ext cx="1" cy="234315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124700" y="2502218"/>
              <a:ext cx="2611857" cy="2911316"/>
              <a:chOff x="7124700" y="2502218"/>
              <a:chExt cx="2611857" cy="2911316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7124700" y="25146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246899" y="26217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613142" y="25022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输入可追溯</a:t>
                </a:r>
                <a:endPara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614285" y="2755106"/>
                <a:ext cx="21222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配置文件、数据版本与入口命令</a:t>
                </a:r>
                <a:endPara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7124700" y="31242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246899" y="32313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13142" y="31118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环境可定位</a:t>
                </a:r>
                <a:endPara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614285" y="3364706"/>
                <a:ext cx="193110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Git 提交号、依赖与运行参数</a:t>
                </a:r>
                <a:endPara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124700" y="37338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246899" y="38409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613142" y="37214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结果可比较</a:t>
                </a:r>
                <a:endPara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614285" y="3974306"/>
                <a:ext cx="18207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基线、当前指标与允许误差</a:t>
                </a:r>
                <a:endPara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124700" y="43434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246899" y="44505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  <a:endPara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613142" y="43310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异常不被掩盖</a:t>
                </a:r>
                <a:endPara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614285" y="4583906"/>
                <a:ext cx="18207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失败步骤、偏差与可能原因</a:t>
                </a:r>
                <a:endPara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7124700" y="49530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246899" y="50601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  <a:endPara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613142" y="49406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摘要可以交接</a:t>
                </a:r>
                <a:endPara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614285" y="5193506"/>
                <a:ext cx="197149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结论、证据路径与下一步建议</a:t>
                </a:r>
                <a:endPara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48" name="Rectangle 48"/>
            <p:cNvSpPr/>
            <p:nvPr/>
          </p:nvSpPr>
          <p:spPr>
            <a:xfrm>
              <a:off x="6972300" y="5524500"/>
              <a:ext cx="4343400" cy="247650"/>
            </a:xfrm>
            <a:prstGeom prst="roundRect">
              <a:avLst>
                <a:gd name="adj" fmla="val 15385"/>
              </a:avLst>
            </a:prstGeom>
            <a:solidFill>
              <a:srgbClr val="F1F5F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835244" y="5582602"/>
              <a:ext cx="26175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同一个 Skill，可在不同实验目录重复使用</a:t>
              </a:r>
              <a:endParaRPr lang="zh-CN" sz="1050" b="1" dirty="0">
                <a:solidFill>
                  <a:srgbClr val="527A7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603885" y="6222206"/>
            <a:ext cx="10983849" cy="220028"/>
            <a:chOff x="603885" y="6222206"/>
            <a:chExt cx="10983849" cy="220028"/>
          </a:xfrm>
        </p:grpSpPr>
        <p:sp>
          <p:nvSpPr>
            <p:cNvPr id="51" name="TextBox 51"/>
            <p:cNvSpPr txBox="1"/>
            <p:nvPr/>
          </p:nvSpPr>
          <p:spPr>
            <a:xfrm>
              <a:off x="603885" y="6222206"/>
              <a:ext cx="60348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调用示例：</a:t>
              </a:r>
              <a:r>
                <a:rPr lang="zh-CN" sz="1120" dirty="0">
                  <a:solidFill>
                    <a:schemeClr val="accent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 $experiment-audit 复核 results/exp_07，并与 baseline.json 对比。</a:t>
              </a:r>
              <a:endParaRPr lang="zh-CN" sz="1120" dirty="0">
                <a:solidFill>
                  <a:schemeClr val="accent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421580" y="6230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09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454608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 VS Code 中使用 Codex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一次任务按安装、提供上下文、检查结果三个环节完成。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setup"/>
          <p:cNvGrpSpPr/>
          <p:nvPr/>
        </p:nvGrpSpPr>
        <p:grpSpPr>
          <a:xfrm>
            <a:off x="601218" y="1936432"/>
            <a:ext cx="3342132" cy="3715893"/>
            <a:chOff x="601218" y="1936432"/>
            <a:chExt cx="3342132" cy="3715893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36432"/>
              <a:ext cx="16060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　安装并登录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23431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9600" y="3030394"/>
              <a:ext cx="3333750" cy="1292511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602742" y="5093018"/>
              <a:ext cx="25733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在扩展市场安装或启用 Codex，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742" y="538829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登录后打开实际项目文件夹。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task"/>
          <p:cNvGrpSpPr/>
          <p:nvPr/>
        </p:nvGrpSpPr>
        <p:grpSpPr>
          <a:xfrm>
            <a:off x="4277868" y="1936432"/>
            <a:ext cx="3342132" cy="3715893"/>
            <a:chOff x="4277868" y="1936432"/>
            <a:chExt cx="3342132" cy="3715893"/>
          </a:xfrm>
        </p:grpSpPr>
        <p:sp>
          <p:nvSpPr>
            <p:cNvPr id="12" name="TextBox 12"/>
            <p:cNvSpPr txBox="1"/>
            <p:nvPr/>
          </p:nvSpPr>
          <p:spPr>
            <a:xfrm>
              <a:off x="4277868" y="1936432"/>
              <a:ext cx="13839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　说明任务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4286250" y="23431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49365" y="2533650"/>
              <a:ext cx="2807521" cy="22860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4279392" y="5093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在侧边栏交代目标和修改范围，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79392" y="53882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同时写明完成标准。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review"/>
          <p:cNvGrpSpPr/>
          <p:nvPr/>
        </p:nvGrpSpPr>
        <p:grpSpPr>
          <a:xfrm>
            <a:off x="7954518" y="1936432"/>
            <a:ext cx="3627882" cy="3715893"/>
            <a:chOff x="7954518" y="1936432"/>
            <a:chExt cx="3627882" cy="3715893"/>
          </a:xfrm>
        </p:grpSpPr>
        <p:sp>
          <p:nvSpPr>
            <p:cNvPr id="18" name="TextBox 18"/>
            <p:cNvSpPr txBox="1"/>
            <p:nvPr/>
          </p:nvSpPr>
          <p:spPr>
            <a:xfrm>
              <a:off x="7954518" y="1936432"/>
              <a:ext cx="22724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　补充上下文并审查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7962900" y="23431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23463" y="2533650"/>
              <a:ext cx="2898375" cy="2286000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7956042" y="50930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引用相关文件、选区或报错，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56042" y="5388292"/>
              <a:ext cx="2476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结束后检查 diff 与测试结果。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24" name="Line 24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3885" y="6098381"/>
              <a:ext cx="37951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4"/>
                </a:rPr>
                <a:t>OpenAI Codex IDE 扩展文档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5"/>
                </a:rPr>
                <a:t>VS Code 使用参考教程</a:t>
              </a:r>
              <a:endParaRPr lang="zh-CN" sz="1120" u="sng" dirty="0">
                <a:solidFill>
                  <a:srgbClr val="355F70"/>
                </a:solidFill>
                <a:latin typeface="+mn-lt"/>
                <a:ea typeface="+mn-ea"/>
                <a:cs typeface="+mn-cs"/>
                <a:hlinkClick r:id="rId5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10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2412365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的版本</a:t>
              </a:r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管理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999480" cy="24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sz="1580" dirty="0">
                  <a:solidFill>
                    <a:schemeClr val="accent5"/>
                  </a:solidFill>
                  <a:sym typeface="+mn-ea"/>
                </a:rPr>
                <a:t>Git 管理版本与历史；GitHub、GitLab 等平台负责远程托管与协作。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41" name="git-four-zones"/>
          <p:cNvGrpSpPr/>
          <p:nvPr/>
        </p:nvGrpSpPr>
        <p:grpSpPr>
          <a:xfrm>
            <a:off x="594995" y="3291840"/>
            <a:ext cx="10972800" cy="2876550"/>
            <a:chOff x="609600" y="2438400"/>
            <a:chExt cx="10972800" cy="2876550"/>
          </a:xfrm>
        </p:grpSpPr>
        <p:sp>
          <p:nvSpPr>
            <p:cNvPr id="6" name="Line 6"/>
            <p:cNvSpPr/>
            <p:nvPr/>
          </p:nvSpPr>
          <p:spPr>
            <a:xfrm>
              <a:off x="272415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567690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>
              <a:off x="862965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 flipH="1">
              <a:off x="8629650" y="3790950"/>
              <a:ext cx="838200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786548" y="273081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355F7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add</a:t>
              </a:r>
              <a:endParaRPr lang="en-US" sz="1350" b="1" dirty="0">
                <a:solidFill>
                  <a:srgbClr val="355F7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89365" y="273081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355F7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commit</a:t>
              </a:r>
              <a:endParaRPr lang="en-US" sz="1350" b="1" dirty="0">
                <a:solidFill>
                  <a:srgbClr val="355F7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42071" y="273081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7A7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push</a:t>
              </a:r>
              <a:endParaRPr lang="en-US" sz="1350" b="1" dirty="0">
                <a:solidFill>
                  <a:srgbClr val="527A7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42071" y="396906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7A7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pull</a:t>
              </a:r>
              <a:endParaRPr lang="en-US" sz="1350" b="1" dirty="0">
                <a:solidFill>
                  <a:srgbClr val="527A7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609600" y="2438400"/>
              <a:ext cx="10972800" cy="1809750"/>
              <a:chOff x="609600" y="2438400"/>
              <a:chExt cx="10972800" cy="18097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0960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lt1"/>
              </a:solidFill>
              <a:ln w="19050">
                <a:solidFill>
                  <a:srgbClr val="D7DFE0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3172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01</a:t>
                </a:r>
                <a:endPara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28675" y="2997994"/>
                <a:ext cx="778307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工作区</a:t>
                </a:r>
                <a:endPara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31723" y="3348514"/>
                <a:ext cx="11097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Working Tree</a:t>
                </a:r>
                <a:endParaRPr lang="en-US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31342" y="377856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正在编辑的文件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3562350" y="2438400"/>
                <a:ext cx="192659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lt1"/>
              </a:solidFill>
              <a:ln w="19050">
                <a:solidFill>
                  <a:srgbClr val="D7DFE0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78447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02</a:t>
                </a:r>
                <a:endPara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781425" y="2997994"/>
                <a:ext cx="778307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暂存区</a:t>
                </a:r>
                <a:endPara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784473" y="3348514"/>
                <a:ext cx="10748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Staging Area</a:t>
                </a:r>
                <a:endParaRPr lang="en-US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784092" y="36833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本次提交准备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784092" y="39309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包含的内容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6672580" y="2438400"/>
                <a:ext cx="1840865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lt1"/>
              </a:solidFill>
              <a:ln w="19050">
                <a:solidFill>
                  <a:srgbClr val="D7DFE0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73722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03</a:t>
                </a:r>
                <a:endPara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734175" y="2997994"/>
                <a:ext cx="1031392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本地仓库</a:t>
                </a:r>
                <a:endPara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737223" y="3348514"/>
                <a:ext cx="141054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Local Repository</a:t>
                </a:r>
                <a:endParaRPr lang="en-US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736842" y="36833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已固化、可恢复的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736842" y="3930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提交历史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946785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68997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A9C9BB"/>
                    </a:solidFill>
                    <a:latin typeface="+mn-lt"/>
                    <a:ea typeface="+mn-ea"/>
                    <a:cs typeface="+mn-cs"/>
                  </a:rPr>
                  <a:t>04</a:t>
                </a:r>
                <a:endParaRPr lang="zh-CN" sz="1280" b="1" dirty="0">
                  <a:solidFill>
                    <a:srgbClr val="A9C9BB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686925" y="2997994"/>
                <a:ext cx="1031392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远程仓库</a:t>
                </a:r>
                <a:endPara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689973" y="3348514"/>
                <a:ext cx="158342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C3CDD2"/>
                    </a:solidFill>
                    <a:latin typeface="+mn-lt"/>
                    <a:ea typeface="+mn-ea"/>
                    <a:cs typeface="+mn-cs"/>
                  </a:rPr>
                  <a:t>Remote Repository</a:t>
                </a:r>
                <a:endParaRPr lang="en-US" sz="1280" dirty="0">
                  <a:solidFill>
                    <a:srgbClr val="C3CDD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689592" y="368331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团队同步与远程</a:t>
                </a:r>
                <a:endPara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689592" y="3930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备份协作</a:t>
                </a:r>
                <a:endPara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38" name="Rectangle 38"/>
            <p:cNvSpPr/>
            <p:nvPr/>
          </p:nvSpPr>
          <p:spPr>
            <a:xfrm>
              <a:off x="609600" y="4629150"/>
              <a:ext cx="10972800" cy="6858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1723" y="4777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观察状态</a:t>
              </a:r>
              <a:endParaRPr lang="zh-CN" sz="12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1723" y="5043964"/>
              <a:ext cx="49669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55F7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status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看位置　·　</a:t>
              </a:r>
              <a:r>
                <a:rPr lang="en-US" sz="1280" dirty="0">
                  <a:solidFill>
                    <a:srgbClr val="355F7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diff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看差异　·　</a:t>
              </a:r>
              <a:r>
                <a:rPr lang="en-US" sz="1280" dirty="0">
                  <a:solidFill>
                    <a:srgbClr val="355F7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log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看历史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git-definition"/>
          <p:cNvGrpSpPr/>
          <p:nvPr/>
        </p:nvGrpSpPr>
        <p:grpSpPr>
          <a:xfrm>
            <a:off x="597535" y="1569085"/>
            <a:ext cx="10001901" cy="1169875"/>
            <a:chOff x="597408" y="2064068"/>
            <a:chExt cx="5481979" cy="1170038"/>
          </a:xfrm>
        </p:grpSpPr>
        <p:sp>
          <p:nvSpPr>
            <p:cNvPr id="46" name="TextBox 6"/>
            <p:cNvSpPr txBox="1"/>
            <p:nvPr/>
          </p:nvSpPr>
          <p:spPr>
            <a:xfrm>
              <a:off x="602742" y="2064068"/>
              <a:ext cx="2876794" cy="207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DISTRIBUTED VERSION CONTROL</a:t>
              </a:r>
              <a:endParaRPr lang="en-US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7"/>
            <p:cNvSpPr txBox="1"/>
            <p:nvPr/>
          </p:nvSpPr>
          <p:spPr>
            <a:xfrm>
              <a:off x="597408" y="2465070"/>
              <a:ext cx="2286000" cy="3689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每个本地仓库，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8"/>
            <p:cNvSpPr txBox="1"/>
            <p:nvPr/>
          </p:nvSpPr>
          <p:spPr>
            <a:xfrm>
              <a:off x="597408" y="2865120"/>
              <a:ext cx="2609088" cy="3689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都拥有完整历史。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10"/>
            <p:cNvSpPr txBox="1"/>
            <p:nvPr/>
          </p:nvSpPr>
          <p:spPr>
            <a:xfrm>
              <a:off x="2430899" y="2540325"/>
              <a:ext cx="1159709" cy="2178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≠ GitHub</a:t>
              </a:r>
              <a:endParaRPr lang="en-US" sz="142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TextBox 11"/>
            <p:cNvSpPr txBox="1"/>
            <p:nvPr/>
          </p:nvSpPr>
          <p:spPr>
            <a:xfrm>
              <a:off x="2430931" y="2914189"/>
              <a:ext cx="3648456" cy="207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前者是版本控制工具，后者是远程协作平台。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34123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的日常操作顺序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7588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先看状态和差异，再精确暂存；验证通过后提交，最后推送。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2" name="safe-loop"/>
          <p:cNvGrpSpPr/>
          <p:nvPr/>
        </p:nvGrpSpPr>
        <p:grpSpPr>
          <a:xfrm>
            <a:off x="742950" y="1903571"/>
            <a:ext cx="2949392" cy="3456432"/>
            <a:chOff x="742950" y="1903571"/>
            <a:chExt cx="2949392" cy="3456432"/>
          </a:xfrm>
        </p:grpSpPr>
        <p:sp>
          <p:nvSpPr>
            <p:cNvPr id="6" name="Line 6"/>
            <p:cNvSpPr/>
            <p:nvPr/>
          </p:nvSpPr>
          <p:spPr>
            <a:xfrm>
              <a:off x="914400" y="2114550"/>
              <a:ext cx="1" cy="2895600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42950" y="1903571"/>
              <a:ext cx="2949392" cy="3456432"/>
              <a:chOff x="742950" y="1903571"/>
              <a:chExt cx="2949392" cy="3456432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742950" y="19431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58167" y="203406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231011" y="1903571"/>
                <a:ext cx="85558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527A7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git pull</a:t>
                </a:r>
                <a:endParaRPr lang="en-US" sz="1420" b="1" dirty="0">
                  <a:solidFill>
                    <a:srgbClr val="527A7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231773" y="21578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开始前同步远程更新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742950" y="253365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58167" y="262461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31011" y="2494121"/>
                <a:ext cx="97028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修改并测试</a:t>
                </a:r>
                <a:endPara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31773" y="2748439"/>
                <a:ext cx="208071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完成一个边界清楚的小任务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742950" y="31242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58167" y="321516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31011" y="3084671"/>
                <a:ext cx="2222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527A7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git status / git diff</a:t>
                </a:r>
                <a:endParaRPr lang="en-US" sz="1420" b="1" dirty="0">
                  <a:solidFill>
                    <a:srgbClr val="527A7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31773" y="33389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确认变更范围与内容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742950" y="371475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58167" y="380571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4</a:t>
                </a:r>
                <a:endPara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31011" y="3675221"/>
                <a:ext cx="159155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527A7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git add &lt;files&gt;</a:t>
                </a:r>
                <a:endParaRPr lang="en-US" sz="1420" b="1" dirty="0">
                  <a:solidFill>
                    <a:srgbClr val="527A7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31773" y="392953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只暂存当前任务文件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742950" y="43053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58167" y="439626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5</a:t>
                </a:r>
                <a:endPara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231011" y="4265771"/>
                <a:ext cx="246133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527A75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git commit -m "说明原因"</a:t>
                </a:r>
                <a:endParaRPr lang="zh-CN" sz="1420" b="1" dirty="0">
                  <a:solidFill>
                    <a:srgbClr val="527A7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31773" y="45200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让历史回答为什么改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42950" y="489585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58167" y="498681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</a:t>
                </a:r>
                <a:endPara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231011" y="4856321"/>
                <a:ext cx="85558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git push</a:t>
                </a:r>
                <a:endParaRPr lang="en-US" sz="142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231773" y="511063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同步到对应远程分支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5" name="terminal-example"/>
          <p:cNvGrpSpPr/>
          <p:nvPr/>
        </p:nvGrpSpPr>
        <p:grpSpPr>
          <a:xfrm>
            <a:off x="6343650" y="1695450"/>
            <a:ext cx="5238750" cy="3619500"/>
            <a:chOff x="6343650" y="1695450"/>
            <a:chExt cx="5238750" cy="3619500"/>
          </a:xfrm>
        </p:grpSpPr>
        <p:sp>
          <p:nvSpPr>
            <p:cNvPr id="33" name="Rectangle 33"/>
            <p:cNvSpPr/>
            <p:nvPr/>
          </p:nvSpPr>
          <p:spPr>
            <a:xfrm>
              <a:off x="6343650" y="1695450"/>
              <a:ext cx="5238750" cy="3619500"/>
            </a:xfrm>
            <a:prstGeom prst="roundRect">
              <a:avLst>
                <a:gd name="adj" fmla="val 105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343650" y="1695450"/>
              <a:ext cx="5238750" cy="438150"/>
            </a:xfrm>
            <a:prstGeom prst="roundRect">
              <a:avLst>
                <a:gd name="adj" fmla="val 8696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76135" y="1850231"/>
              <a:ext cx="1918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CD6E8"/>
                  </a:solidFill>
                  <a:latin typeface="+mn-lt"/>
                  <a:ea typeface="+mn-ea"/>
                  <a:cs typeface="+mn-cs"/>
                </a:rPr>
                <a:t>terminal · experiment-fix</a:t>
              </a:r>
              <a:endParaRPr lang="en-US" sz="1120" dirty="0">
                <a:solidFill>
                  <a:srgbClr val="CCD6E8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6641592" y="2426018"/>
              <a:ext cx="4419295" cy="2321433"/>
              <a:chOff x="6641592" y="2426018"/>
              <a:chExt cx="4419295" cy="2321433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6641592" y="2426018"/>
                <a:ext cx="12131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9FB5D9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$ git status</a:t>
                </a:r>
                <a:endParaRPr lang="en-US" sz="1350" dirty="0">
                  <a:solidFill>
                    <a:srgbClr val="9FB5D9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641592" y="2768918"/>
                <a:ext cx="31123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modified: configs/baseline.yaml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41592" y="3111818"/>
                <a:ext cx="17129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9FB5D9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$ git diff --stat</a:t>
                </a:r>
                <a:endParaRPr lang="en-US" sz="1350" dirty="0">
                  <a:solidFill>
                    <a:srgbClr val="9FB5D9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641592" y="3454718"/>
                <a:ext cx="33122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2 files changed, 18 insertions(+)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641592" y="3797618"/>
                <a:ext cx="4111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9FB5D9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$ git add configs/baseline.yaml src/run.m</a:t>
                </a:r>
                <a:endParaRPr lang="en-US" sz="1350" dirty="0">
                  <a:solidFill>
                    <a:srgbClr val="9FB5D9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641592" y="4140518"/>
                <a:ext cx="441929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$ git commit -m "Fix baseline seed handling"</a:t>
                </a:r>
                <a:endParaRPr lang="en-US" sz="1350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641592" y="4483418"/>
                <a:ext cx="34121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[experiment-fix 6f2a1c9] committed</a:t>
                </a:r>
                <a:endParaRPr lang="en-US" sz="1350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6642354" y="493776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3CDD2"/>
                  </a:solidFill>
                  <a:latin typeface="+mn-lt"/>
                  <a:ea typeface="+mn-ea"/>
                  <a:cs typeface="+mn-cs"/>
                </a:rPr>
                <a:t>一次提交只讲一件事，审查与回退都会更容易。</a:t>
              </a:r>
              <a:endParaRPr lang="zh-CN" sz="1200" dirty="0">
                <a:solidFill>
                  <a:srgbClr val="C3CDD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8" name="risk-warning"/>
          <p:cNvGrpSpPr/>
          <p:nvPr/>
        </p:nvGrpSpPr>
        <p:grpSpPr>
          <a:xfrm>
            <a:off x="831342" y="5816918"/>
            <a:ext cx="10756392" cy="694943"/>
            <a:chOff x="831342" y="5816918"/>
            <a:chExt cx="10756392" cy="694943"/>
          </a:xfrm>
        </p:grpSpPr>
        <p:sp>
          <p:nvSpPr>
            <p:cNvPr id="46" name="TextBox 46"/>
            <p:cNvSpPr txBox="1"/>
            <p:nvPr/>
          </p:nvSpPr>
          <p:spPr>
            <a:xfrm>
              <a:off x="831342" y="5816918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A4B08"/>
                  </a:solidFill>
                  <a:latin typeface="+mn-lt"/>
                  <a:ea typeface="+mn-ea"/>
                  <a:cs typeface="+mn-cs"/>
                </a:rPr>
                <a:t>风险提示：</a:t>
              </a:r>
              <a:r>
                <a:rPr lang="zh-CN" sz="1350" dirty="0">
                  <a:solidFill>
                    <a:srgbClr val="8A4B08"/>
                  </a:solidFill>
                  <a:latin typeface="+mn-lt"/>
                  <a:ea typeface="+mn-ea"/>
                  <a:cs typeface="+mn-cs"/>
                </a:rPr>
                <a:t>未理解影响前，不使用会覆盖历史或丢失修改的强制命令。</a:t>
              </a:r>
              <a:endParaRPr lang="zh-CN" sz="1350" dirty="0">
                <a:solidFill>
                  <a:srgbClr val="8A4B0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21580" y="63065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13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43028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 Git 管理科研实验版本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5461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把研究假设、代码、配置、验证结果与提交历史连在一起。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3" name="experiment-branches"/>
          <p:cNvGrpSpPr/>
          <p:nvPr/>
        </p:nvGrpSpPr>
        <p:grpSpPr>
          <a:xfrm>
            <a:off x="609600" y="2015014"/>
            <a:ext cx="7257161" cy="3814286"/>
            <a:chOff x="609600" y="2015014"/>
            <a:chExt cx="7257161" cy="3814286"/>
          </a:xfrm>
        </p:grpSpPr>
        <p:sp>
          <p:nvSpPr>
            <p:cNvPr id="6" name="Line 6"/>
            <p:cNvSpPr/>
            <p:nvPr/>
          </p:nvSpPr>
          <p:spPr>
            <a:xfrm>
              <a:off x="914400" y="4095750"/>
              <a:ext cx="6762750" cy="1"/>
            </a:xfrm>
            <a:prstGeom prst="line">
              <a:avLst/>
            </a:prstGeom>
            <a:noFill/>
            <a:ln w="57150" cap="rnd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1809750" y="2857500"/>
              <a:ext cx="571500" cy="1238250"/>
            </a:xfrm>
            <a:custGeom>
              <a:avLst/>
              <a:gdLst/>
              <a:ahLst/>
              <a:cxnLst/>
              <a:rect l="l" t="t" r="r" b="b"/>
              <a:pathLst>
                <a:path w="571500" h="1238250">
                  <a:moveTo>
                    <a:pt x="0" y="1238250"/>
                  </a:moveTo>
                  <a:lnTo>
                    <a:pt x="571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2381250" y="28575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095750" y="2857500"/>
              <a:ext cx="666750" cy="1238250"/>
            </a:xfrm>
            <a:custGeom>
              <a:avLst/>
              <a:gdLst/>
              <a:ahLst/>
              <a:cxnLst/>
              <a:rect l="l" t="t" r="r" b="b"/>
              <a:pathLst>
                <a:path w="666750" h="1238250">
                  <a:moveTo>
                    <a:pt x="0" y="0"/>
                  </a:moveTo>
                  <a:lnTo>
                    <a:pt x="666750" y="123825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429000" y="333375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0" y="762000"/>
                  </a:moveTo>
                  <a:lnTo>
                    <a:pt x="6667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095750" y="33337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810250" y="333375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0" y="0"/>
                  </a:moveTo>
                  <a:lnTo>
                    <a:pt x="666750" y="76200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5048250" y="2381250"/>
              <a:ext cx="666750" cy="1714500"/>
            </a:xfrm>
            <a:custGeom>
              <a:avLst/>
              <a:gdLst/>
              <a:ahLst/>
              <a:cxnLst/>
              <a:rect l="l" t="t" r="r" b="b"/>
              <a:pathLst>
                <a:path w="666750" h="1714500">
                  <a:moveTo>
                    <a:pt x="0" y="1714500"/>
                  </a:moveTo>
                  <a:lnTo>
                    <a:pt x="666750" y="0"/>
                  </a:lnTo>
                </a:path>
              </a:pathLst>
            </a:custGeom>
            <a:noFill/>
            <a:ln w="38100">
              <a:solidFill>
                <a:srgbClr val="6C8DFF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715000" y="2381250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700" y="0"/>
                  </a:lnTo>
                </a:path>
              </a:pathLst>
            </a:custGeom>
            <a:noFill/>
            <a:ln w="38100">
              <a:solidFill>
                <a:srgbClr val="6C8DFF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124700" y="2381250"/>
              <a:ext cx="400050" cy="1714500"/>
            </a:xfrm>
            <a:custGeom>
              <a:avLst/>
              <a:gdLst/>
              <a:ahLst/>
              <a:cxnLst/>
              <a:rect l="l" t="t" r="r" b="b"/>
              <a:pathLst>
                <a:path w="400050" h="1714500">
                  <a:moveTo>
                    <a:pt x="0" y="0"/>
                  </a:moveTo>
                  <a:lnTo>
                    <a:pt x="400050" y="1714500"/>
                  </a:lnTo>
                </a:path>
              </a:pathLst>
            </a:custGeom>
            <a:noFill/>
            <a:ln w="38100">
              <a:solidFill>
                <a:srgbClr val="6C8DFF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42950" y="2247900"/>
              <a:ext cx="7105650" cy="2019300"/>
              <a:chOff x="742950" y="2247900"/>
              <a:chExt cx="7105650" cy="201930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742950" y="39243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1714500" y="400050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3333750" y="400050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4953000" y="400050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7505700" y="39243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3105150" y="2724150"/>
                <a:ext cx="266700" cy="2667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4819650" y="3200400"/>
                <a:ext cx="266700" cy="2667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6343650" y="2247900"/>
                <a:ext cx="266700" cy="2667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rgbClr val="6C8DF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742571" y="4339114"/>
              <a:ext cx="8008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 基线</a:t>
              </a:r>
              <a:endParaRPr lang="zh-CN" sz="12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99415" y="2491264"/>
              <a:ext cx="1478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实验 A · config-a</a:t>
              </a:r>
              <a:endParaRPr lang="zh-CN" sz="1280" b="1" dirty="0">
                <a:solidFill>
                  <a:srgbClr val="355F7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13915" y="3043714"/>
              <a:ext cx="1478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实验 B · config-b</a:t>
              </a:r>
              <a:endParaRPr lang="zh-CN" sz="1280" b="1" dirty="0">
                <a:solidFill>
                  <a:srgbClr val="527A7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37915" y="2015014"/>
              <a:ext cx="1478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4C68CC"/>
                  </a:solidFill>
                  <a:latin typeface="+mn-lt"/>
                  <a:ea typeface="+mn-ea"/>
                  <a:cs typeface="+mn-cs"/>
                </a:rPr>
                <a:t>实验 C · config-c</a:t>
              </a:r>
              <a:endParaRPr lang="zh-CN" sz="1280" b="1" dirty="0">
                <a:solidFill>
                  <a:srgbClr val="4C68C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92239" y="43391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验证后合并</a:t>
              </a:r>
              <a:endParaRPr lang="zh-CN" sz="1280" b="1" dirty="0">
                <a:solidFill>
                  <a:srgbClr val="527A7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9600" y="4857750"/>
              <a:ext cx="7239000" cy="971550"/>
            </a:xfrm>
            <a:prstGeom prst="roundRect">
              <a:avLst>
                <a:gd name="adj" fmla="val 392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1342" y="50549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一个提交应同时指向三类证据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1342" y="5378768"/>
              <a:ext cx="5484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代码与配置变化　·　环境与数据获取说明　·　指标摘要或结果索引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6" name="track-ignore"/>
          <p:cNvGrpSpPr/>
          <p:nvPr/>
        </p:nvGrpSpPr>
        <p:grpSpPr>
          <a:xfrm>
            <a:off x="8153400" y="1714500"/>
            <a:ext cx="3429000" cy="4114800"/>
            <a:chOff x="8153400" y="1714500"/>
            <a:chExt cx="3429000" cy="4114800"/>
          </a:xfrm>
        </p:grpSpPr>
        <p:sp>
          <p:nvSpPr>
            <p:cNvPr id="34" name="Rectangle 34"/>
            <p:cNvSpPr/>
            <p:nvPr/>
          </p:nvSpPr>
          <p:spPr>
            <a:xfrm>
              <a:off x="8153400" y="1714500"/>
              <a:ext cx="3429000" cy="1924050"/>
            </a:xfrm>
            <a:prstGeom prst="roundRect">
              <a:avLst>
                <a:gd name="adj" fmla="val 1980"/>
              </a:avLst>
            </a:prstGeom>
            <a:solidFill>
              <a:srgbClr val="F1F5F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73618" y="19173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应该追踪</a:t>
              </a:r>
              <a:endParaRPr lang="zh-CN" sz="1650" b="1" dirty="0">
                <a:solidFill>
                  <a:srgbClr val="527A7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75142" y="2311718"/>
              <a:ext cx="16133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源代码与评估脚本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75142" y="2635568"/>
              <a:ext cx="1431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配置与环境依赖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75142" y="2959418"/>
              <a:ext cx="1249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数据获取说明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5142" y="3283268"/>
              <a:ext cx="1249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图表生成方法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53400" y="3829050"/>
              <a:ext cx="342900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73618" y="40319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应该忽略或外部管理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75142" y="4426268"/>
              <a:ext cx="19768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密钥、缓存与临时文件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75142" y="4750118"/>
              <a:ext cx="1249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大型原始数据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75142" y="5073968"/>
              <a:ext cx="1795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可由脚本重建的输出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75904" y="5471160"/>
              <a:ext cx="30839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结果目录保留 README、指标摘要或索引。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603885" y="6184106"/>
            <a:ext cx="10983849" cy="220028"/>
            <a:chOff x="603885" y="6184106"/>
            <a:chExt cx="10983849" cy="220028"/>
          </a:xfrm>
        </p:grpSpPr>
        <p:sp>
          <p:nvSpPr>
            <p:cNvPr id="47" name="TextBox 47"/>
            <p:cNvSpPr txBox="1"/>
            <p:nvPr/>
          </p:nvSpPr>
          <p:spPr>
            <a:xfrm>
              <a:off x="603885" y="6184106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分支不是越多越好：一个研究假设或修复，对应一个短而清楚的分支。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421580" y="6192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14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85597" y="568642"/>
            <a:ext cx="10996803" cy="907733"/>
            <a:chOff x="585597" y="568642"/>
            <a:chExt cx="10996803" cy="907733"/>
          </a:xfrm>
        </p:grpSpPr>
        <p:sp>
          <p:nvSpPr>
            <p:cNvPr id="2" name="TextBox 2"/>
            <p:cNvSpPr txBox="1"/>
            <p:nvPr/>
          </p:nvSpPr>
          <p:spPr>
            <a:xfrm>
              <a:off x="585597" y="56864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科研推进为什么会反复回头</a:t>
              </a:r>
              <a:endParaRPr lang="zh-CN" sz="28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455" y="106680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从遇到问题到采用算法，中间要反复检查条件和结果。</a:t>
              </a:r>
              <a:endParaRPr lang="zh-CN" sz="1500" dirty="0">
                <a:solidFill>
                  <a:srgbClr val="6070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0075" y="1466850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grpSp>
        <p:nvGrpSpPr>
          <p:cNvPr id="39" name="research-path"/>
          <p:cNvGrpSpPr/>
          <p:nvPr/>
        </p:nvGrpSpPr>
        <p:grpSpPr>
          <a:xfrm>
            <a:off x="580263" y="1902142"/>
            <a:ext cx="10278237" cy="2588801"/>
            <a:chOff x="580263" y="1902142"/>
            <a:chExt cx="10278237" cy="2588801"/>
          </a:xfrm>
        </p:grpSpPr>
        <p:grpSp>
          <p:nvGrpSpPr>
            <p:cNvPr id="13" name="stage-01"/>
            <p:cNvGrpSpPr/>
            <p:nvPr/>
          </p:nvGrpSpPr>
          <p:grpSpPr>
            <a:xfrm>
              <a:off x="580263" y="1902142"/>
              <a:ext cx="2145284" cy="1398176"/>
              <a:chOff x="580263" y="1902142"/>
              <a:chExt cx="2145284" cy="1398176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583692" y="1902142"/>
                <a:ext cx="2158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456779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350" b="1" dirty="0">
                  <a:solidFill>
                    <a:srgbClr val="456779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80263" y="2219801"/>
                <a:ext cx="1108304" cy="396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0" b="1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遇到问题</a:t>
                </a:r>
                <a:endPara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82549" y="2677954"/>
                <a:ext cx="171759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反射面数量未知；</a:t>
                </a:r>
                <a:endPara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82549" y="2992279"/>
                <a:ext cx="214299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分组或定位结果不稳。</a:t>
                </a:r>
                <a:endPara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8" name="stage-02"/>
            <p:cNvGrpSpPr/>
            <p:nvPr/>
          </p:nvGrpSpPr>
          <p:grpSpPr>
            <a:xfrm>
              <a:off x="3332988" y="1902142"/>
              <a:ext cx="1932584" cy="1398176"/>
              <a:chOff x="3332988" y="1902142"/>
              <a:chExt cx="1932584" cy="1398176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3336417" y="1902142"/>
                <a:ext cx="2158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456779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350" b="1" dirty="0">
                  <a:solidFill>
                    <a:srgbClr val="456779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332988" y="2219801"/>
                <a:ext cx="1108304" cy="396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0" b="1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寻找方法</a:t>
                </a:r>
                <a:endPara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335274" y="2677954"/>
                <a:ext cx="193029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读论文，辨清模型、</a:t>
                </a:r>
                <a:endPara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335274" y="2992279"/>
                <a:ext cx="171759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观测和默认假设。</a:t>
                </a:r>
                <a:endPara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3" name="stage-03"/>
            <p:cNvGrpSpPr/>
            <p:nvPr/>
          </p:nvGrpSpPr>
          <p:grpSpPr>
            <a:xfrm>
              <a:off x="6085713" y="1902142"/>
              <a:ext cx="2145284" cy="1398176"/>
              <a:chOff x="6085713" y="1902142"/>
              <a:chExt cx="2145284" cy="1398176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6089142" y="1902142"/>
                <a:ext cx="2158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456779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350" b="1" dirty="0">
                  <a:solidFill>
                    <a:srgbClr val="456779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085713" y="2219801"/>
                <a:ext cx="1108304" cy="396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0" b="1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独立复现</a:t>
                </a:r>
                <a:endPara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087999" y="2677954"/>
                <a:ext cx="214299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先在论文条件下检验，</a:t>
                </a:r>
                <a:endPara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087999" y="2992279"/>
                <a:ext cx="193029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解释与原文的差异。</a:t>
                </a:r>
                <a:endPara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8" name="stage-04"/>
            <p:cNvGrpSpPr/>
            <p:nvPr/>
          </p:nvGrpSpPr>
          <p:grpSpPr>
            <a:xfrm>
              <a:off x="8838438" y="1902142"/>
              <a:ext cx="1932584" cy="1398176"/>
              <a:chOff x="8838438" y="1902142"/>
              <a:chExt cx="1932584" cy="1398176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8841867" y="1902142"/>
                <a:ext cx="2158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456779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350" b="1" dirty="0">
                  <a:solidFill>
                    <a:srgbClr val="456779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838438" y="2219801"/>
                <a:ext cx="1108304" cy="396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0" b="1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项目检验</a:t>
                </a:r>
                <a:endPara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840724" y="2677954"/>
                <a:ext cx="193029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再看输入是否具备，</a:t>
                </a:r>
                <a:endPara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840724" y="2992279"/>
                <a:ext cx="193029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rgbClr val="26323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最终指标是否改善。</a:t>
                </a:r>
                <a:endPara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9" name="Line 29"/>
            <p:cNvSpPr/>
            <p:nvPr/>
          </p:nvSpPr>
          <p:spPr>
            <a:xfrm>
              <a:off x="762000" y="3524250"/>
              <a:ext cx="10048875" cy="9525"/>
            </a:xfrm>
            <a:custGeom>
              <a:avLst/>
              <a:gdLst/>
              <a:ahLst/>
              <a:cxnLst/>
              <a:rect l="l" t="t" r="r" b="b"/>
              <a:pathLst>
                <a:path w="10048875" h="9525">
                  <a:moveTo>
                    <a:pt x="0" y="0"/>
                  </a:moveTo>
                  <a:lnTo>
                    <a:pt x="10048875" y="0"/>
                  </a:lnTo>
                </a:path>
              </a:pathLst>
            </a:custGeom>
            <a:noFill/>
            <a:ln w="19050">
              <a:solidFill>
                <a:srgbClr val="456779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14375" y="3476625"/>
              <a:ext cx="95250" cy="952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456779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3467100" y="3476625"/>
              <a:ext cx="95250" cy="952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456779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6219825" y="3476625"/>
              <a:ext cx="95250" cy="952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456779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8972550" y="3476625"/>
              <a:ext cx="95250" cy="952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456779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0763250" y="3476625"/>
              <a:ext cx="95250" cy="952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456779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10810875" y="35242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19050">
              <a:solidFill>
                <a:srgbClr val="648681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1009650" y="4019550"/>
              <a:ext cx="9801225" cy="9525"/>
            </a:xfrm>
            <a:custGeom>
              <a:avLst/>
              <a:gdLst/>
              <a:ahLst/>
              <a:cxnLst/>
              <a:rect l="l" t="t" r="r" b="b"/>
              <a:pathLst>
                <a:path w="9801225" h="9525">
                  <a:moveTo>
                    <a:pt x="9801225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648681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1009650" y="3962400"/>
              <a:ext cx="123825" cy="114300"/>
            </a:xfrm>
            <a:custGeom>
              <a:avLst/>
              <a:gdLst/>
              <a:ahLst/>
              <a:cxnLst/>
              <a:rect l="l" t="t" r="r" b="b"/>
              <a:pathLst>
                <a:path w="123825" h="114300">
                  <a:moveTo>
                    <a:pt x="0" y="57150"/>
                  </a:moveTo>
                  <a:lnTo>
                    <a:pt x="123825" y="0"/>
                  </a:lnTo>
                  <a:lnTo>
                    <a:pt x="123825" y="114300"/>
                  </a:lnTo>
                  <a:close/>
                </a:path>
              </a:pathLst>
            </a:custGeom>
            <a:solidFill>
              <a:srgbClr val="64868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344549" y="4182904"/>
              <a:ext cx="55461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64868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条件不满足或结果无改善，就回头检查问题、假设或实现。</a:t>
              </a:r>
              <a:endParaRPr lang="zh-CN" sz="1580" dirty="0">
                <a:solidFill>
                  <a:srgbClr val="64868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85597" y="568642"/>
            <a:ext cx="10996803" cy="907733"/>
            <a:chOff x="585597" y="568642"/>
            <a:chExt cx="10996803" cy="907733"/>
          </a:xfrm>
        </p:grpSpPr>
        <p:sp>
          <p:nvSpPr>
            <p:cNvPr id="2" name="TextBox 2"/>
            <p:cNvSpPr txBox="1"/>
            <p:nvPr/>
          </p:nvSpPr>
          <p:spPr>
            <a:xfrm>
              <a:off x="585597" y="568642"/>
              <a:ext cx="515925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Codex 在科研中帮我们做什么</a:t>
              </a:r>
              <a:endParaRPr lang="zh-CN" sz="28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455" y="106680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从论文方法到项目实验，辅助完成可以检查的工作。</a:t>
              </a:r>
              <a:endParaRPr lang="zh-CN" sz="1500" dirty="0">
                <a:solidFill>
                  <a:srgbClr val="6070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0075" y="1466850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grpSp>
        <p:nvGrpSpPr>
          <p:cNvPr id="8" name="footer"/>
          <p:cNvGrpSpPr/>
          <p:nvPr/>
        </p:nvGrpSpPr>
        <p:grpSpPr>
          <a:xfrm>
            <a:off x="593979" y="6176010"/>
            <a:ext cx="10993755" cy="234696"/>
            <a:chOff x="593979" y="6176010"/>
            <a:chExt cx="10993755" cy="234696"/>
          </a:xfrm>
        </p:grpSpPr>
        <p:sp>
          <p:nvSpPr>
            <p:cNvPr id="6" name="TextBox 6"/>
            <p:cNvSpPr txBox="1"/>
            <p:nvPr/>
          </p:nvSpPr>
          <p:spPr>
            <a:xfrm>
              <a:off x="593979" y="6176010"/>
              <a:ext cx="48915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Codex 协助落实与整理；方法是否可用，仍由研究者依据证据判断。</a:t>
              </a:r>
              <a:endParaRPr lang="zh-CN" sz="1200" dirty="0">
                <a:solidFill>
                  <a:srgbClr val="6070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419827" y="6192202"/>
              <a:ext cx="1679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16</a:t>
              </a:r>
              <a:endParaRPr lang="en-US" sz="1050" dirty="0">
                <a:solidFill>
                  <a:srgbClr val="607078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3" name="codex-task-01"/>
          <p:cNvGrpSpPr/>
          <p:nvPr>
            <p:custDataLst>
              <p:tags r:id="rId1"/>
            </p:custDataLst>
          </p:nvPr>
        </p:nvGrpSpPr>
        <p:grpSpPr>
          <a:xfrm>
            <a:off x="588264" y="2063591"/>
            <a:ext cx="10994136" cy="593884"/>
            <a:chOff x="588264" y="2063591"/>
            <a:chExt cx="10994136" cy="593884"/>
          </a:xfrm>
        </p:grpSpPr>
        <p:sp>
          <p:nvSpPr>
            <p:cNvPr id="9" name="TextBox 9"/>
            <p:cNvSpPr txBox="1"/>
            <p:nvPr>
              <p:custDataLst>
                <p:tags r:id="rId2"/>
              </p:custDataLst>
            </p:nvPr>
          </p:nvSpPr>
          <p:spPr>
            <a:xfrm>
              <a:off x="588264" y="2063591"/>
              <a:ext cx="37104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32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01</a:t>
              </a:r>
              <a:endParaRPr lang="en-US" sz="2320" dirty="0">
                <a:solidFill>
                  <a:srgbClr val="607078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3"/>
              </p:custDataLst>
            </p:nvPr>
          </p:nvSpPr>
          <p:spPr>
            <a:xfrm>
              <a:off x="1447038" y="2095976"/>
              <a:ext cx="138023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拆论文条件</a:t>
              </a:r>
              <a:endParaRPr lang="zh-CN" sz="202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>
              <p:custDataLst>
                <p:tags r:id="rId4"/>
              </p:custDataLst>
            </p:nvPr>
          </p:nvSpPr>
          <p:spPr>
            <a:xfrm>
              <a:off x="3991737" y="2128361"/>
              <a:ext cx="534309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列出观测、变量、假设和所需输入，形成适配清单。</a:t>
              </a:r>
              <a:endParaRPr lang="zh-CN" sz="172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Line 12"/>
            <p:cNvSpPr/>
            <p:nvPr>
              <p:custDataLst>
                <p:tags r:id="rId5"/>
              </p:custDataLst>
            </p:nvPr>
          </p:nvSpPr>
          <p:spPr>
            <a:xfrm>
              <a:off x="600075" y="2647950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grpSp>
        <p:nvGrpSpPr>
          <p:cNvPr id="18" name="codex-task-02"/>
          <p:cNvGrpSpPr/>
          <p:nvPr>
            <p:custDataLst>
              <p:tags r:id="rId6"/>
            </p:custDataLst>
          </p:nvPr>
        </p:nvGrpSpPr>
        <p:grpSpPr>
          <a:xfrm>
            <a:off x="588264" y="2958941"/>
            <a:ext cx="10994136" cy="593884"/>
            <a:chOff x="588264" y="2958941"/>
            <a:chExt cx="10994136" cy="593884"/>
          </a:xfrm>
        </p:grpSpPr>
        <p:sp>
          <p:nvSpPr>
            <p:cNvPr id="14" name="TextBox 14"/>
            <p:cNvSpPr txBox="1"/>
            <p:nvPr>
              <p:custDataLst>
                <p:tags r:id="rId7"/>
              </p:custDataLst>
            </p:nvPr>
          </p:nvSpPr>
          <p:spPr>
            <a:xfrm>
              <a:off x="588264" y="2958941"/>
              <a:ext cx="37104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32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02</a:t>
              </a:r>
              <a:endParaRPr lang="en-US" sz="2320" dirty="0">
                <a:solidFill>
                  <a:srgbClr val="607078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8"/>
              </p:custDataLst>
            </p:nvPr>
          </p:nvSpPr>
          <p:spPr>
            <a:xfrm>
              <a:off x="1447038" y="2991326"/>
              <a:ext cx="138023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做最小复现</a:t>
              </a:r>
              <a:endParaRPr lang="zh-CN" sz="202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9"/>
              </p:custDataLst>
            </p:nvPr>
          </p:nvSpPr>
          <p:spPr>
            <a:xfrm>
              <a:off x="3991737" y="3023711"/>
              <a:ext cx="488000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按论文条件实现，记录结果与原文不一致之处。</a:t>
              </a:r>
              <a:endParaRPr lang="zh-CN" sz="172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Line 17"/>
            <p:cNvSpPr/>
            <p:nvPr>
              <p:custDataLst>
                <p:tags r:id="rId10"/>
              </p:custDataLst>
            </p:nvPr>
          </p:nvSpPr>
          <p:spPr>
            <a:xfrm>
              <a:off x="600075" y="3543300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grpSp>
        <p:nvGrpSpPr>
          <p:cNvPr id="23" name="codex-task-03"/>
          <p:cNvGrpSpPr/>
          <p:nvPr>
            <p:custDataLst>
              <p:tags r:id="rId11"/>
            </p:custDataLst>
          </p:nvPr>
        </p:nvGrpSpPr>
        <p:grpSpPr>
          <a:xfrm>
            <a:off x="588264" y="3854291"/>
            <a:ext cx="10994136" cy="593884"/>
            <a:chOff x="588264" y="3854291"/>
            <a:chExt cx="10994136" cy="593884"/>
          </a:xfrm>
        </p:grpSpPr>
        <p:sp>
          <p:nvSpPr>
            <p:cNvPr id="19" name="TextBox 19"/>
            <p:cNvSpPr txBox="1"/>
            <p:nvPr>
              <p:custDataLst>
                <p:tags r:id="rId12"/>
              </p:custDataLst>
            </p:nvPr>
          </p:nvSpPr>
          <p:spPr>
            <a:xfrm>
              <a:off x="588264" y="3854291"/>
              <a:ext cx="37104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32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03</a:t>
              </a:r>
              <a:endParaRPr lang="en-US" sz="2320" dirty="0">
                <a:solidFill>
                  <a:srgbClr val="607078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>
              <p:custDataLst>
                <p:tags r:id="rId13"/>
              </p:custDataLst>
            </p:nvPr>
          </p:nvSpPr>
          <p:spPr>
            <a:xfrm>
              <a:off x="1447038" y="3886676"/>
              <a:ext cx="138023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接入并对照</a:t>
              </a:r>
              <a:endParaRPr lang="zh-CN" sz="202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>
              <p:custDataLst>
                <p:tags r:id="rId14"/>
              </p:custDataLst>
            </p:nvPr>
          </p:nvSpPr>
          <p:spPr>
            <a:xfrm>
              <a:off x="3991737" y="3919061"/>
              <a:ext cx="511154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映射现有模块，用相同数据和指标比较改造前后。</a:t>
              </a:r>
              <a:endParaRPr lang="zh-CN" sz="172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Line 22"/>
            <p:cNvSpPr/>
            <p:nvPr>
              <p:custDataLst>
                <p:tags r:id="rId15"/>
              </p:custDataLst>
            </p:nvPr>
          </p:nvSpPr>
          <p:spPr>
            <a:xfrm>
              <a:off x="600075" y="4438650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grpSp>
        <p:nvGrpSpPr>
          <p:cNvPr id="28" name="codex-task-04"/>
          <p:cNvGrpSpPr/>
          <p:nvPr>
            <p:custDataLst>
              <p:tags r:id="rId16"/>
            </p:custDataLst>
          </p:nvPr>
        </p:nvGrpSpPr>
        <p:grpSpPr>
          <a:xfrm>
            <a:off x="588264" y="4749641"/>
            <a:ext cx="10994136" cy="593884"/>
            <a:chOff x="588264" y="4749641"/>
            <a:chExt cx="10994136" cy="593884"/>
          </a:xfrm>
        </p:grpSpPr>
        <p:sp>
          <p:nvSpPr>
            <p:cNvPr id="24" name="TextBox 24"/>
            <p:cNvSpPr txBox="1"/>
            <p:nvPr>
              <p:custDataLst>
                <p:tags r:id="rId17"/>
              </p:custDataLst>
            </p:nvPr>
          </p:nvSpPr>
          <p:spPr>
            <a:xfrm>
              <a:off x="588264" y="4749641"/>
              <a:ext cx="37104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32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04</a:t>
              </a:r>
              <a:endParaRPr lang="en-US" sz="2320" dirty="0">
                <a:solidFill>
                  <a:srgbClr val="607078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>
              <p:custDataLst>
                <p:tags r:id="rId18"/>
              </p:custDataLst>
            </p:nvPr>
          </p:nvSpPr>
          <p:spPr>
            <a:xfrm>
              <a:off x="1447038" y="4782026"/>
              <a:ext cx="16521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沉淀实验依据</a:t>
              </a:r>
              <a:endParaRPr lang="zh-CN" sz="202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>
              <p:custDataLst>
                <p:tags r:id="rId19"/>
              </p:custDataLst>
            </p:nvPr>
          </p:nvSpPr>
          <p:spPr>
            <a:xfrm>
              <a:off x="3991737" y="4814411"/>
              <a:ext cx="488000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保存代码、配置、结果、失败原因与版本标识。</a:t>
              </a:r>
              <a:endParaRPr lang="zh-CN" sz="172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Line 27"/>
            <p:cNvSpPr/>
            <p:nvPr/>
          </p:nvSpPr>
          <p:spPr>
            <a:xfrm>
              <a:off x="600075" y="5334000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85597" y="568642"/>
            <a:ext cx="10996803" cy="907733"/>
            <a:chOff x="585597" y="568642"/>
            <a:chExt cx="10996803" cy="907733"/>
          </a:xfrm>
        </p:grpSpPr>
        <p:sp>
          <p:nvSpPr>
            <p:cNvPr id="2" name="TextBox 2"/>
            <p:cNvSpPr txBox="1"/>
            <p:nvPr/>
          </p:nvSpPr>
          <p:spPr>
            <a:xfrm>
              <a:off x="585597" y="568642"/>
              <a:ext cx="5776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聊天分叉与 Git 分支，各自管什么</a:t>
              </a:r>
              <a:endParaRPr lang="zh-CN" sz="28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455" y="1066800"/>
              <a:ext cx="45758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聊天保留讨论思路；Git 保存实际代码和实验版本。</a:t>
              </a:r>
              <a:endParaRPr lang="zh-CN" sz="1500" dirty="0">
                <a:solidFill>
                  <a:srgbClr val="6070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0075" y="1466850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grpSp>
        <p:nvGrpSpPr>
          <p:cNvPr id="8" name="footer"/>
          <p:cNvGrpSpPr/>
          <p:nvPr/>
        </p:nvGrpSpPr>
        <p:grpSpPr>
          <a:xfrm>
            <a:off x="593979" y="6176010"/>
            <a:ext cx="10993755" cy="234696"/>
            <a:chOff x="593979" y="6176010"/>
            <a:chExt cx="10993755" cy="234696"/>
          </a:xfrm>
        </p:grpSpPr>
        <p:sp>
          <p:nvSpPr>
            <p:cNvPr id="6" name="TextBox 6"/>
            <p:cNvSpPr txBox="1"/>
            <p:nvPr/>
          </p:nvSpPr>
          <p:spPr>
            <a:xfrm>
              <a:off x="593979" y="617601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分叉点之前的讨论相同；之后的讨论分别继续。</a:t>
              </a:r>
              <a:endParaRPr lang="zh-CN" sz="1200" dirty="0">
                <a:solidFill>
                  <a:srgbClr val="6070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419827" y="6192202"/>
              <a:ext cx="1679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17</a:t>
              </a:r>
              <a:endParaRPr lang="en-US" sz="1050" dirty="0">
                <a:solidFill>
                  <a:srgbClr val="607078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2" name="common-start"/>
          <p:cNvGrpSpPr/>
          <p:nvPr/>
        </p:nvGrpSpPr>
        <p:grpSpPr>
          <a:xfrm>
            <a:off x="590169" y="1943100"/>
            <a:ext cx="10992231" cy="666179"/>
            <a:chOff x="590169" y="1943100"/>
            <a:chExt cx="10992231" cy="666179"/>
          </a:xfrm>
        </p:grpSpPr>
        <p:sp>
          <p:nvSpPr>
            <p:cNvPr id="9" name="TextBox 9"/>
            <p:cNvSpPr txBox="1"/>
            <p:nvPr/>
          </p:nvSpPr>
          <p:spPr>
            <a:xfrm>
              <a:off x="592455" y="19431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共同起点</a:t>
              </a:r>
              <a:endParaRPr lang="zh-CN" sz="1500" dirty="0">
                <a:solidFill>
                  <a:srgbClr val="6070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0169" y="2227898"/>
              <a:ext cx="50514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同一个科研问题 ＋ main 上的一次稳定提交</a:t>
              </a:r>
              <a:endParaRPr lang="zh-CN" sz="19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600075" y="2543175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grpSp>
        <p:nvGrpSpPr>
          <p:cNvPr id="20" name="route-a"/>
          <p:cNvGrpSpPr/>
          <p:nvPr/>
        </p:nvGrpSpPr>
        <p:grpSpPr>
          <a:xfrm>
            <a:off x="590169" y="2799398"/>
            <a:ext cx="10992231" cy="915352"/>
            <a:chOff x="590169" y="2799398"/>
            <a:chExt cx="10992231" cy="915352"/>
          </a:xfrm>
        </p:grpSpPr>
        <p:sp>
          <p:nvSpPr>
            <p:cNvPr id="13" name="TextBox 13"/>
            <p:cNvSpPr txBox="1"/>
            <p:nvPr/>
          </p:nvSpPr>
          <p:spPr>
            <a:xfrm>
              <a:off x="590169" y="2799398"/>
              <a:ext cx="273681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聊天 A 沿论文原法继续</a:t>
              </a:r>
              <a:endParaRPr lang="zh-CN" sz="19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2074" y="3192304"/>
              <a:ext cx="38445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保留此前背景，只讨论原算法的适用性。</a:t>
              </a:r>
              <a:endParaRPr lang="zh-CN" sz="158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5314950" y="314325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19050">
              <a:solidFill>
                <a:srgbClr val="456779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6010275" y="30861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5677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67094" y="2799398"/>
              <a:ext cx="213247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Git 分支 A 原算法</a:t>
              </a:r>
              <a:endParaRPr lang="zh-CN" sz="19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8999" y="3192304"/>
              <a:ext cx="27810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复现、接入与实验各自提交。</a:t>
              </a:r>
              <a:endParaRPr lang="zh-CN" sz="158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600075" y="3705225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grpSp>
        <p:nvGrpSpPr>
          <p:cNvPr id="28" name="route-b"/>
          <p:cNvGrpSpPr/>
          <p:nvPr/>
        </p:nvGrpSpPr>
        <p:grpSpPr>
          <a:xfrm>
            <a:off x="590169" y="3961448"/>
            <a:ext cx="10992231" cy="915352"/>
            <a:chOff x="590169" y="3961448"/>
            <a:chExt cx="10992231" cy="915352"/>
          </a:xfrm>
        </p:grpSpPr>
        <p:sp>
          <p:nvSpPr>
            <p:cNvPr id="21" name="TextBox 21"/>
            <p:cNvSpPr txBox="1"/>
            <p:nvPr/>
          </p:nvSpPr>
          <p:spPr>
            <a:xfrm>
              <a:off x="590169" y="3961448"/>
              <a:ext cx="273681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聊天 B 改造假设或目标</a:t>
              </a:r>
              <a:endParaRPr lang="zh-CN" sz="19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2074" y="4354354"/>
              <a:ext cx="36318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从同一讨论点出发，探索另一种方案。</a:t>
              </a:r>
              <a:endParaRPr lang="zh-CN" sz="158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5314950" y="430530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19050">
              <a:solidFill>
                <a:srgbClr val="456779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010275" y="42481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5677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67094" y="3961448"/>
              <a:ext cx="239498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Git 分支 B 改造算法</a:t>
              </a:r>
              <a:endParaRPr lang="zh-CN" sz="19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8999" y="4354354"/>
              <a:ext cx="25683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修改与对照结果独立保留。</a:t>
              </a:r>
              <a:endParaRPr lang="zh-CN" sz="158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Line 27"/>
            <p:cNvSpPr/>
            <p:nvPr/>
          </p:nvSpPr>
          <p:spPr>
            <a:xfrm>
              <a:off x="600075" y="4867275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grpSp>
        <p:nvGrpSpPr>
          <p:cNvPr id="32" name="branch-boundary"/>
          <p:cNvGrpSpPr/>
          <p:nvPr/>
        </p:nvGrpSpPr>
        <p:grpSpPr>
          <a:xfrm>
            <a:off x="600075" y="5133975"/>
            <a:ext cx="10982325" cy="741045"/>
            <a:chOff x="600075" y="5133975"/>
            <a:chExt cx="10982325" cy="741045"/>
          </a:xfrm>
        </p:grpSpPr>
        <p:sp>
          <p:nvSpPr>
            <p:cNvPr id="29" name="Rectangle 29"/>
            <p:cNvSpPr/>
            <p:nvPr/>
          </p:nvSpPr>
          <p:spPr>
            <a:xfrm>
              <a:off x="600075" y="5133975"/>
              <a:ext cx="10982325" cy="723900"/>
            </a:xfrm>
            <a:prstGeom prst="rect">
              <a:avLst/>
            </a:prstGeom>
            <a:solidFill>
              <a:srgbClr val="F3F6F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72668" y="5260658"/>
              <a:ext cx="467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重要：聊天分叉不会自动创建或切换 Git 分支。</a:t>
              </a:r>
              <a:endPara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3430" y="5581650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讨论相互独立，不代表同一目录中的文件自动隔离；操作前要核对当前分支。</a:t>
              </a:r>
              <a:endParaRPr lang="zh-CN" sz="1500" dirty="0">
                <a:solidFill>
                  <a:srgbClr val="6070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85597" y="568642"/>
            <a:ext cx="10996803" cy="907733"/>
            <a:chOff x="585597" y="568642"/>
            <a:chExt cx="10996803" cy="907733"/>
          </a:xfrm>
        </p:grpSpPr>
        <p:sp>
          <p:nvSpPr>
            <p:cNvPr id="2" name="TextBox 2"/>
            <p:cNvSpPr txBox="1"/>
            <p:nvPr/>
          </p:nvSpPr>
          <p:spPr>
            <a:xfrm>
              <a:off x="585597" y="56864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两条路线在同一目录怎样做</a:t>
              </a:r>
              <a:endParaRPr lang="zh-CN" sz="28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455" y="1066800"/>
              <a:ext cx="5871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一次只推进一条路线；修改验证后提交，切换前确认工作区干净。</a:t>
              </a:r>
              <a:endParaRPr lang="zh-CN" sz="1500" dirty="0">
                <a:solidFill>
                  <a:srgbClr val="6070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0075" y="1466850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grpSp>
        <p:nvGrpSpPr>
          <p:cNvPr id="8" name="footer"/>
          <p:cNvGrpSpPr/>
          <p:nvPr/>
        </p:nvGrpSpPr>
        <p:grpSpPr>
          <a:xfrm>
            <a:off x="593979" y="6176010"/>
            <a:ext cx="10993755" cy="234696"/>
            <a:chOff x="593979" y="6176010"/>
            <a:chExt cx="10993755" cy="234696"/>
          </a:xfrm>
        </p:grpSpPr>
        <p:sp>
          <p:nvSpPr>
            <p:cNvPr id="6" name="TextBox 6"/>
            <p:cNvSpPr txBox="1"/>
            <p:nvPr/>
          </p:nvSpPr>
          <p:spPr>
            <a:xfrm>
              <a:off x="593979" y="6176010"/>
              <a:ext cx="33827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回到聊天 A，不等于代码已经回到 Git 分支 A。</a:t>
              </a:r>
              <a:endParaRPr lang="zh-CN" sz="1200" dirty="0">
                <a:solidFill>
                  <a:srgbClr val="6070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419827" y="6192202"/>
              <a:ext cx="1679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18</a:t>
              </a:r>
              <a:endParaRPr lang="en-US" sz="1050" dirty="0">
                <a:solidFill>
                  <a:srgbClr val="607078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5" name="serial-workflow"/>
          <p:cNvGrpSpPr/>
          <p:nvPr/>
        </p:nvGrpSpPr>
        <p:grpSpPr>
          <a:xfrm>
            <a:off x="589407" y="1992630"/>
            <a:ext cx="10992993" cy="3331845"/>
            <a:chOff x="589407" y="1992630"/>
            <a:chExt cx="10992993" cy="3331845"/>
          </a:xfrm>
        </p:grpSpPr>
        <p:sp>
          <p:nvSpPr>
            <p:cNvPr id="9" name="TextBox 9"/>
            <p:cNvSpPr txBox="1"/>
            <p:nvPr/>
          </p:nvSpPr>
          <p:spPr>
            <a:xfrm>
              <a:off x="589407" y="1992630"/>
              <a:ext cx="3358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01</a:t>
              </a:r>
              <a:endParaRPr lang="en-US" sz="2100" dirty="0">
                <a:solidFill>
                  <a:srgbClr val="607078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47419" y="2008822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固定起点</a:t>
              </a:r>
              <a:endParaRPr lang="zh-CN" sz="19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63543" y="2041208"/>
              <a:ext cx="41139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把可靠基线提交到 main，记下起始版本。</a:t>
              </a:r>
              <a:endParaRPr lang="zh-CN" sz="16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600075" y="2628900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9407" y="2887980"/>
              <a:ext cx="3358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02</a:t>
              </a:r>
              <a:endParaRPr lang="en-US" sz="2100" dirty="0">
                <a:solidFill>
                  <a:srgbClr val="607078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47419" y="2904172"/>
              <a:ext cx="13472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完成路线 A</a:t>
              </a:r>
              <a:endParaRPr lang="zh-CN" sz="19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63543" y="2936558"/>
              <a:ext cx="47343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新建分支 A → 让 Codex 修改 → 验证 → 提交。</a:t>
              </a:r>
              <a:endParaRPr lang="zh-CN" sz="16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600075" y="3524250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407" y="3783330"/>
              <a:ext cx="3358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03</a:t>
              </a:r>
              <a:endParaRPr lang="en-US" sz="2100" dirty="0">
                <a:solidFill>
                  <a:srgbClr val="607078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419" y="3799522"/>
              <a:ext cx="16097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切换到路线 B</a:t>
              </a:r>
              <a:endParaRPr lang="zh-CN" sz="19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63543" y="3831908"/>
              <a:ext cx="50637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确认无未提交修改；从同一 main 起点新建分支 B。</a:t>
              </a:r>
              <a:endParaRPr lang="zh-CN" sz="16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600075" y="4419600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9407" y="4678680"/>
              <a:ext cx="3358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04</a:t>
              </a:r>
              <a:endParaRPr lang="en-US" sz="2100" dirty="0">
                <a:solidFill>
                  <a:srgbClr val="607078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47419" y="4694872"/>
              <a:ext cx="13472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完成路线 B</a:t>
              </a:r>
              <a:endParaRPr lang="zh-CN" sz="19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63543" y="4727258"/>
              <a:ext cx="50359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 Codex 修改 → 验证 → 提交；再做同条件对照。</a:t>
              </a:r>
              <a:endParaRPr lang="zh-CN" sz="16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Line 24"/>
            <p:cNvSpPr/>
            <p:nvPr/>
          </p:nvSpPr>
          <p:spPr>
            <a:xfrm>
              <a:off x="600075" y="5314950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grpSp>
        <p:nvGrpSpPr>
          <p:cNvPr id="27" name="branch-check"/>
          <p:cNvGrpSpPr/>
          <p:nvPr/>
        </p:nvGrpSpPr>
        <p:grpSpPr>
          <a:xfrm>
            <a:off x="592455" y="5667375"/>
            <a:ext cx="6248414" cy="293370"/>
            <a:chOff x="592455" y="5667375"/>
            <a:chExt cx="6248414" cy="293370"/>
          </a:xfrm>
        </p:grpSpPr>
        <p:sp>
          <p:nvSpPr>
            <p:cNvPr id="26" name="TextBox 26"/>
            <p:cNvSpPr txBox="1"/>
            <p:nvPr/>
          </p:nvSpPr>
          <p:spPr>
            <a:xfrm>
              <a:off x="592455" y="5667375"/>
              <a:ext cx="62484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868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每次回到某个聊天继续工作，先核对实际 Git 分支与该路线是否对应。</a:t>
              </a:r>
              <a:endParaRPr lang="zh-CN" sz="1500" dirty="0">
                <a:solidFill>
                  <a:srgbClr val="64868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85597" y="568642"/>
            <a:ext cx="10996803" cy="907733"/>
            <a:chOff x="585597" y="568642"/>
            <a:chExt cx="10996803" cy="907733"/>
          </a:xfrm>
        </p:grpSpPr>
        <p:sp>
          <p:nvSpPr>
            <p:cNvPr id="2" name="TextBox 2"/>
            <p:cNvSpPr txBox="1"/>
            <p:nvPr/>
          </p:nvSpPr>
          <p:spPr>
            <a:xfrm>
              <a:off x="585597" y="568642"/>
              <a:ext cx="34819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实验结果决定下一步</a:t>
              </a:r>
              <a:endParaRPr lang="zh-CN" sz="28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455" y="1066800"/>
              <a:ext cx="49710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Paper2 多反射面估计：完整搜索与受限搜索如何比较。</a:t>
              </a:r>
              <a:endParaRPr lang="zh-CN" sz="1500" dirty="0">
                <a:solidFill>
                  <a:srgbClr val="6070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0075" y="1466850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grpSp>
        <p:nvGrpSpPr>
          <p:cNvPr id="8" name="footer"/>
          <p:cNvGrpSpPr/>
          <p:nvPr/>
        </p:nvGrpSpPr>
        <p:grpSpPr>
          <a:xfrm>
            <a:off x="593979" y="6176010"/>
            <a:ext cx="10993755" cy="234696"/>
            <a:chOff x="593979" y="6176010"/>
            <a:chExt cx="10993755" cy="234696"/>
          </a:xfrm>
        </p:grpSpPr>
        <p:sp>
          <p:nvSpPr>
            <p:cNvPr id="6" name="TextBox 6"/>
            <p:cNvSpPr txBox="1"/>
            <p:nvPr/>
          </p:nvSpPr>
          <p:spPr>
            <a:xfrm>
              <a:off x="593979" y="6176010"/>
              <a:ext cx="49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聊天解释为什么尝试；Git 记录运行的是哪一版；实验记录连接结果。</a:t>
              </a:r>
              <a:endParaRPr lang="zh-CN" sz="1200" dirty="0">
                <a:solidFill>
                  <a:srgbClr val="6070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419827" y="6192202"/>
              <a:ext cx="1679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0707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19</a:t>
              </a:r>
              <a:endParaRPr lang="en-US" sz="1050" dirty="0">
                <a:solidFill>
                  <a:srgbClr val="607078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2" name="comparison-baseline"/>
          <p:cNvGrpSpPr/>
          <p:nvPr/>
        </p:nvGrpSpPr>
        <p:grpSpPr>
          <a:xfrm>
            <a:off x="590169" y="1914525"/>
            <a:ext cx="10992231" cy="675704"/>
            <a:chOff x="590169" y="1914525"/>
            <a:chExt cx="10992231" cy="675704"/>
          </a:xfrm>
        </p:grpSpPr>
        <p:sp>
          <p:nvSpPr>
            <p:cNvPr id="9" name="TextBox 9"/>
            <p:cNvSpPr txBox="1"/>
            <p:nvPr/>
          </p:nvSpPr>
          <p:spPr>
            <a:xfrm>
              <a:off x="592455" y="1914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0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共同问题</a:t>
              </a:r>
              <a:endParaRPr lang="zh-CN" sz="1500" dirty="0">
                <a:solidFill>
                  <a:srgbClr val="6070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0169" y="2208848"/>
              <a:ext cx="60575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在可靠基线上，寻找兼顾估计精度与计算量的方法。</a:t>
              </a:r>
              <a:endParaRPr lang="zh-CN" sz="19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600075" y="2543175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</p:grpSp>
      <p:grpSp>
        <p:nvGrpSpPr>
          <p:cNvPr id="23" name="algorithm-comparison"/>
          <p:cNvGrpSpPr/>
          <p:nvPr/>
        </p:nvGrpSpPr>
        <p:grpSpPr>
          <a:xfrm>
            <a:off x="589788" y="2762250"/>
            <a:ext cx="10992612" cy="1990725"/>
            <a:chOff x="589788" y="2762250"/>
            <a:chExt cx="10992612" cy="1990725"/>
          </a:xfrm>
        </p:grpSpPr>
        <p:sp>
          <p:nvSpPr>
            <p:cNvPr id="13" name="Line 13"/>
            <p:cNvSpPr/>
            <p:nvPr/>
          </p:nvSpPr>
          <p:spPr>
            <a:xfrm>
              <a:off x="6086475" y="2762250"/>
              <a:ext cx="9525" cy="1990725"/>
            </a:xfrm>
            <a:custGeom>
              <a:avLst/>
              <a:gdLst/>
              <a:ahLst/>
              <a:cxnLst/>
              <a:rect l="l" t="t" r="r" b="b"/>
              <a:pathLst>
                <a:path w="9525" h="1990725">
                  <a:moveTo>
                    <a:pt x="0" y="0"/>
                  </a:moveTo>
                  <a:lnTo>
                    <a:pt x="0" y="1990725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788" y="2848451"/>
              <a:ext cx="256317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路线 A 完整区间搜索</a:t>
              </a:r>
              <a:endParaRPr lang="zh-CN" sz="202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1693" y="3298508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作为可比较的基础方法，</a:t>
              </a:r>
              <a:endParaRPr lang="zh-CN" sz="16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1693" y="36318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保留原有搜索范围与结果。</a:t>
              </a:r>
              <a:endParaRPr lang="zh-CN" sz="16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6713" y="2848451"/>
              <a:ext cx="365090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路线 B 粗糙度引导的受限搜索</a:t>
              </a:r>
              <a:endParaRPr lang="zh-CN" sz="202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8618" y="3298508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缩小候选范围，尝试降低计算量；</a:t>
              </a:r>
              <a:endParaRPr lang="zh-CN" sz="16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8618" y="36318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但仍要检查最终估计是否可靠。</a:t>
              </a:r>
              <a:endParaRPr lang="zh-CN" sz="16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600075" y="4162425"/>
              <a:ext cx="10982325" cy="9525"/>
            </a:xfrm>
            <a:custGeom>
              <a:avLst/>
              <a:gdLst/>
              <a:ahLst/>
              <a:cxnLst/>
              <a:rect l="l" t="t" r="r" b="b"/>
              <a:pathLst>
                <a:path w="10982325" h="9525">
                  <a:moveTo>
                    <a:pt x="0" y="0"/>
                  </a:moveTo>
                  <a:lnTo>
                    <a:pt x="10982325" y="0"/>
                  </a:lnTo>
                </a:path>
              </a:pathLst>
            </a:custGeom>
            <a:noFill/>
            <a:ln w="12382">
              <a:solidFill>
                <a:srgbClr val="D8DEE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1693" y="436530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45677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同条件比较</a:t>
              </a:r>
              <a:endParaRPr lang="zh-CN" sz="1650" b="1" dirty="0">
                <a:solidFill>
                  <a:srgbClr val="45677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11349" y="4373404"/>
              <a:ext cx="57588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固定数据、随机种子与评价指标；同时看最终精度和计算量。</a:t>
              </a:r>
              <a:endParaRPr lang="zh-CN" sz="158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research-decision"/>
          <p:cNvGrpSpPr/>
          <p:nvPr/>
        </p:nvGrpSpPr>
        <p:grpSpPr>
          <a:xfrm>
            <a:off x="600075" y="5076825"/>
            <a:ext cx="10982325" cy="766668"/>
            <a:chOff x="600075" y="5076825"/>
            <a:chExt cx="10982325" cy="766668"/>
          </a:xfrm>
        </p:grpSpPr>
        <p:sp>
          <p:nvSpPr>
            <p:cNvPr id="24" name="Rectangle 24"/>
            <p:cNvSpPr/>
            <p:nvPr/>
          </p:nvSpPr>
          <p:spPr>
            <a:xfrm>
              <a:off x="600075" y="5076825"/>
              <a:ext cx="10982325" cy="762000"/>
            </a:xfrm>
            <a:prstGeom prst="rect">
              <a:avLst/>
            </a:prstGeom>
            <a:solidFill>
              <a:srgbClr val="F3F6F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73049" y="5211604"/>
              <a:ext cx="332467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64868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结果可靠、收益明确 → 合并到主线</a:t>
              </a:r>
              <a:endParaRPr lang="zh-CN" sz="1580" b="1" dirty="0">
                <a:solidFill>
                  <a:srgbClr val="64868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3049" y="5535454"/>
              <a:ext cx="587706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26323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否则 → 保留实验记录，回到问题、继续修改或停止这条路线。</a:t>
              </a:r>
              <a:endParaRPr lang="zh-CN" sz="158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2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3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4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5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6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7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8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9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10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11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12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13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14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15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16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17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18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ags/tag19.xml><?xml version="1.0" encoding="utf-8"?>
<p:tagLst xmlns:p="http://schemas.openxmlformats.org/presentationml/2006/main">
  <p:tag name="KSO_WM_DIAGRAM_VIRTUALLY_FRAME" val="{&quot;height&quot;:258.26251968503936,&quot;left&quot;:46.32,&quot;top&quot;:162.48748031496064,&quot;width&quot;:865.68}"/>
</p:tagLst>
</file>

<file path=ppt/theme/theme1.xml><?xml version="1.0" encoding="utf-8"?>
<a:theme xmlns:a="http://schemas.openxmlformats.org/drawingml/2006/main" name="codex_git_seminar">
  <a:themeElements>
    <a:clrScheme name="codex_git_seminar">
      <a:dk1>
        <a:srgbClr val="263238"/>
      </a:dk1>
      <a:lt1>
        <a:srgbClr val="FFFFFF"/>
      </a:lt1>
      <a:dk2>
        <a:srgbClr val="1F497D"/>
      </a:dk2>
      <a:lt2>
        <a:srgbClr val="FFFFFF"/>
      </a:lt2>
      <a:accent1>
        <a:srgbClr val="263238"/>
      </a:accent1>
      <a:accent2>
        <a:srgbClr val="456779"/>
      </a:accent2>
      <a:accent3>
        <a:srgbClr val="648681"/>
      </a:accent3>
      <a:accent4>
        <a:srgbClr val="263238"/>
      </a:accent4>
      <a:accent5>
        <a:srgbClr val="607078"/>
      </a:accent5>
      <a:accent6>
        <a:srgbClr val="D8DEE0"/>
      </a:accent6>
      <a:hlink>
        <a:srgbClr val="456779"/>
      </a:hlink>
      <a:folHlink>
        <a:srgbClr val="648681"/>
      </a:folHlink>
    </a:clrScheme>
    <a:fontScheme name="codex_git_semina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ex_git_semina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dex_git_seminar">
  <a:themeElements>
    <a:clrScheme name="codex_git_seminar">
      <a:dk1>
        <a:srgbClr val="263238"/>
      </a:dk1>
      <a:lt1>
        <a:srgbClr val="FFFFFF"/>
      </a:lt1>
      <a:dk2>
        <a:srgbClr val="1F497D"/>
      </a:dk2>
      <a:lt2>
        <a:srgbClr val="FFFFFF"/>
      </a:lt2>
      <a:accent1>
        <a:srgbClr val="263238"/>
      </a:accent1>
      <a:accent2>
        <a:srgbClr val="456779"/>
      </a:accent2>
      <a:accent3>
        <a:srgbClr val="648681"/>
      </a:accent3>
      <a:accent4>
        <a:srgbClr val="263238"/>
      </a:accent4>
      <a:accent5>
        <a:srgbClr val="607078"/>
      </a:accent5>
      <a:accent6>
        <a:srgbClr val="D8DEE0"/>
      </a:accent6>
      <a:hlink>
        <a:srgbClr val="456779"/>
      </a:hlink>
      <a:folHlink>
        <a:srgbClr val="648681"/>
      </a:folHlink>
    </a:clrScheme>
    <a:fontScheme name="codex_git_semina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ex_git_semina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5223</Words>
  <Application>WPS 演示</Application>
  <PresentationFormat>On-screen Show (16:9)</PresentationFormat>
  <Paragraphs>773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Arial</vt:lpstr>
      <vt:lpstr>Consolas</vt:lpstr>
      <vt:lpstr>微软雅黑</vt:lpstr>
      <vt:lpstr>Arial Unicode MS</vt:lpstr>
      <vt:lpstr>codex_git_seminar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qzuser</cp:lastModifiedBy>
  <cp:revision>24</cp:revision>
  <dcterms:created xsi:type="dcterms:W3CDTF">2026-09-21T08:53:00Z</dcterms:created>
  <dcterms:modified xsi:type="dcterms:W3CDTF">2026-09-22T13:17:14Z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6EA167287BA3436D93BF945440D39D92_12</vt:lpwstr>
  </property>
  <property fmtid="{D5CDD505-2E9C-101B-9397-08002B2CF9AE}" pid="3" name="KSOProductBuildVer">
    <vt:lpwstr>2052-12.1.0.26895</vt:lpwstr>
  </property>
</Properties>
</file>