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这次汇报不把 Codex、VS Code 和 Git 当作三个零散工具，而是把它们串成一条从想法到可复现结果的工作路径。Codex 负责理解任务并执行修改，VS Code 提供观察代码、终端和差异的工作区，Git 负责记录、比较与恢复。我们会先讲 Codex，再讲 Git，最后把两者组合成科研工作流。衡量这套工具链的标准不是代码产生得多快，而是研究结果是否更可靠、更容易复查。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比较 ChatGPT 和 Codex，不宜只问谁更聪明，而要看它们默认围绕什么工作。ChatGPT 更偏向解释、讨论和内容产出，常用上下文是问题、文件与通用知识，典型交付是答案、方案或文档。Codex 更偏向理解代码库并完成变更，它会结合仓库、编辑器、终端与 Git，交付可审查的代码变化、测试结果和差异。人的责任也不同：使用 Codex 时，需要更明确地定义目标、检查变更，并批准可能有风险的操作。两者能力有重叠，但 Codex 的默认工作对象是项目中的变化。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Codex 的价值不只是补出一段代码，而是围绕任务完成一个可验证的闭环。它从明确目标开始，读取项目和规则，拆解计划，修改文件，运行测试或检查，再审查差异并汇报结果。如果验证失败，就回到修改环节，而不是把未验证的代码直接交付。右侧的状态窗口强调了最终应看到的证据：测试通过、变更文件清楚，而且差异已经准备好供人审查。人在入口确认范围，在出口核对风险、证据和完成标准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Codex 项目没有一种神秘或唯一的目录格式，关键是让人和工具都能迅速定位规则、实现与验证。项目根目录里，AGENTS.md 说明执行约束，README.md 提供入口，src 放实现，tests 放可重复检查。configs、data、results 和 docs 分别管理参数、数据约定、输出与方法记录。依赖文件用于锁定环境，.gitignore 则排除密钥、缓存、大型原始数据和可以重新生成的文件。目录结构的目的不是显得专业，而是让规则是什么、代码在哪、怎样运行、如何验证和结果放哪都能被快速回答。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当项目规则稳定后，不必在每次对话里重新解释。AGENTS.md 适合记录测试命令、目录约定、提交规则、禁止事项和必要的领域背景，它回答的是这个项目始终应该怎么做。Skill 则把边界清楚、会重复出现的多步骤方法封装起来，核心是 SKILL.md，也可以配套脚本、参考资料和资源。Codex 执行任务时，一边遵守项目规则，一边在适用时调用可复用流程。实践上，规则要短而稳定，Skill 要解决明确且重复的工作，而不是把所有知识都堆进去。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第一次在 VS Code 中使用 Codex，可以沿着三步完成。先安装或启用扩展、登录账号，并打开真实项目；然后打开 Codex 侧边栏，用目标、范围和完成标准描述任务；最后引用相关文件、选区或报错，让上下文足够精确。任务完成后，不只看一段摘要，还要检查差异和测试结果。对于真实科研项目，建议在任务前后建立 Git 检查点，这样每一次 AI 修改都有基线、有证据，也能够恢复。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Git 是分布式版本控制工具，而 GitHub 或 GitLab 是远程托管与协作平台，两者不能混为一谈。集中式版本控制依赖中心仓库，分布式 Git 的每个完整克隆都带有项目历史，因此即使没有网络，也能在本地提交、查看历史和比较版本。一次提交保存的是某一时刻的项目状态以及与父提交的关系，不是把整个文件夹随手复制一份。这也是 Git 能够可靠比较、分支、合并和恢复的基础。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理解 Git 的关键，是知道文件当前位于哪一个位置。工作区是正在编辑的文件，git add 把选中的变化送到暂存区，暂存区决定本次提交包含什么。git commit 再把这批内容固化为本地仓库中的历史，只有 git push 和 git pull 才涉及远程仓库的同步。平时用 git status 看状态，用 git diff 看具体差异，用 git log 看历史。暂存区最重要的价值，是先选择这一次要提交什么，再生成一个清楚的检查点。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日常操作不需要记住大量命令，只要坚持一条安全循环。开始前用 git pull 同步更新，完成一个边界清楚的小修改并测试，然后用 git status 和 git diff 检查范围。接着只用 git add 暂存当前任务相关文件，用提交信息说明为什么改变，最后 git push 到对应远程分支。右侧终端示例显示了一次可解释的小提交：配置和代码变化明确，提交信息也能说明原因。没有理解影响之前，不要使用会覆盖历史或丢失修改的强制命令。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科研项目里的版本历史，应该帮助我们回答这次实验为什么与上一次不同。一个研究假设或修复可以对应一个短分支，在分支中同时修改代码和配置，验证后再合并。提交应能关联代码与配置变化、环境和数据获取说明，以及指标摘要或结果索引。源代码、配置、依赖、评估脚本和图表生成方法适合追踪；密钥、缓存、临时文件、大型原始数据和可重新生成的输出应忽略或交给专门机制管理。结果目录可以保留 README、指标摘要或索引，让提交真正指向实验记录。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 Codex 和 Git 结合起来时，人的判断位于流程的入口和出口。首先定义任务、相关文件与验收条件，再确认 Git 基线干净且可恢复。Codex 在这个上下文中分析、修改并运行检查，人随后审查差异、结果与风险，决定保留、修正还是回退。通过后，只提交当前任务文件并推送，最后把提交号写进实验记录、论文图表来源或结果索引。可信变化可以概括为干净基线、清楚差异、验证证据和可恢复提交，Codex 提高执行效率，Git 把变化固化为事实。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只需要记住三条最低实践。第一，任务要小，要说明目标、范围、相关文件和完成标准；第二，结果要验，要看差异、跑测试并核对数据和图表，不能把生成了当成正确了；第三，历史要清，只提交当前任务文件，说明修改原因，推送并记录提交号。每次结束前检查是否留下了可运行的变化、验证证据和 Git 检查点。可以从一个现有科研脚本开始，让 Codex 完成一个可验证的小改动，再用 Git 建立检查点，把这套方法真正用起来。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dex_git_research_workflo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learn.chatgpt.co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learn.chatgpt.com/docs/build-skills" TargetMode="External"/><Relationship Id="rId1" Type="http://schemas.openxmlformats.org/officeDocument/2006/relationships/hyperlink" Target="https://learn.chatgpt.com/docs/agent-configuration/agents-md" TargetMode="Externa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hyperlink" Target="https://codexguide.ai/start/13-ide-vscode.html" TargetMode="External"/><Relationship Id="rId4" Type="http://schemas.openxmlformats.org/officeDocument/2006/relationships/hyperlink" Target="https://learn.chatgpt.com/docs/codex/ide" TargetMode="Externa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runoob.com/git/git-tutorial.html" TargetMode="Externa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over-workbench"/>
          <p:cNvGrpSpPr/>
          <p:nvPr/>
        </p:nvGrpSpPr>
        <p:grpSpPr>
          <a:xfrm>
            <a:off x="3239" y="0"/>
            <a:ext cx="12185522" cy="6858000"/>
            <a:chOff x="3239" y="0"/>
            <a:chExt cx="12185522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239" y="0"/>
              <a:ext cx="12185522" cy="68580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header"/>
          <p:cNvGrpSpPr/>
          <p:nvPr/>
        </p:nvGrpSpPr>
        <p:grpSpPr>
          <a:xfrm>
            <a:off x="592836" y="462915"/>
            <a:ext cx="10884804" cy="881824"/>
            <a:chOff x="592836" y="462915"/>
            <a:chExt cx="10884804" cy="881824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62915"/>
              <a:ext cx="969019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ChatGPT 更像思考伙伴，Codex 更像项目执行者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22032"/>
              <a:ext cx="55920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不要按“谁更聪明”选择，而要按工作中心与交付物选择。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9858225" y="515302"/>
              <a:ext cx="1619415" cy="237173"/>
              <a:chOff x="9858225" y="515302"/>
              <a:chExt cx="1619415" cy="237173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9858225" y="515302"/>
                <a:ext cx="4732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endPara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0460355" y="515302"/>
                <a:ext cx="230505" cy="205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0776966" y="515302"/>
                <a:ext cx="7006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RESEARCH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9867310" y="723900"/>
                <a:ext cx="495300" cy="2857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40" name="chatgpt-codex-comparison"/>
          <p:cNvGrpSpPr/>
          <p:nvPr/>
        </p:nvGrpSpPr>
        <p:grpSpPr>
          <a:xfrm>
            <a:off x="609600" y="1619250"/>
            <a:ext cx="10972800" cy="3638550"/>
            <a:chOff x="609600" y="1619250"/>
            <a:chExt cx="10972800" cy="3638550"/>
          </a:xfrm>
        </p:grpSpPr>
        <p:sp>
          <p:nvSpPr>
            <p:cNvPr id="10" name="Rectangle 10"/>
            <p:cNvSpPr/>
            <p:nvPr/>
          </p:nvSpPr>
          <p:spPr>
            <a:xfrm>
              <a:off x="609600" y="1619250"/>
              <a:ext cx="10972800" cy="571500"/>
            </a:xfrm>
            <a:prstGeom prst="roundRect">
              <a:avLst>
                <a:gd name="adj" fmla="val 2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190750"/>
              <a:ext cx="2209800" cy="30670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819400" y="2190750"/>
              <a:ext cx="4000500" cy="3067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819900" y="2190750"/>
              <a:ext cx="4762500" cy="3067050"/>
            </a:xfrm>
            <a:prstGeom prst="rect">
              <a:avLst/>
            </a:prstGeom>
            <a:solidFill>
              <a:srgbClr val="EFF5F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" y="1619250"/>
              <a:ext cx="10972800" cy="3638550"/>
            </a:xfrm>
            <a:prstGeom prst="roundRect">
              <a:avLst>
                <a:gd name="adj" fmla="val 3665"/>
              </a:avLst>
            </a:prstGeom>
            <a:noFill/>
            <a:ln w="14288">
              <a:solidFill>
                <a:schemeClr val="accent6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609600" y="2190750"/>
              <a:ext cx="10972800" cy="2309813"/>
              <a:chOff x="609600" y="2190750"/>
              <a:chExt cx="10972800" cy="2309813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609600" y="21907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609600" y="2957512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609600" y="3724275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609600" y="4491038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792480" y="1819275"/>
              <a:ext cx="6815214" cy="293370"/>
              <a:chOff x="792480" y="1819275"/>
              <a:chExt cx="6815214" cy="2933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92480" y="18192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比较维度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002280" y="1819275"/>
                <a:ext cx="85794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ChatGPT</a:t>
                </a:r>
                <a:endPara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02780" y="1819275"/>
                <a:ext cx="60491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endPara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92480" y="2486025"/>
              <a:ext cx="8721900" cy="2750820"/>
              <a:chOff x="792480" y="2486025"/>
              <a:chExt cx="8721900" cy="2750820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792480" y="2486025"/>
                <a:ext cx="1024890" cy="2598420"/>
                <a:chOff x="792480" y="2486025"/>
                <a:chExt cx="1024890" cy="2598420"/>
              </a:xfrm>
            </p:grpSpPr>
            <p:sp>
              <p:nvSpPr>
                <p:cNvPr id="24" name="TextBox 24"/>
                <p:cNvSpPr txBox="1"/>
                <p:nvPr/>
              </p:nvSpPr>
              <p:spPr>
                <a:xfrm>
                  <a:off x="792480" y="2486025"/>
                  <a:ext cx="82296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工作重心</a:t>
                  </a:r>
                  <a:endPara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92480" y="3257550"/>
                  <a:ext cx="102489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主要上下文</a:t>
                  </a:r>
                  <a:endPara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792480" y="4019550"/>
                  <a:ext cx="82296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典型交付</a:t>
                  </a:r>
                  <a:endPara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792480" y="4791075"/>
                  <a:ext cx="82296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人的角色</a:t>
                  </a:r>
                  <a:endPara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3002280" y="248602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解释、讨论与内容产出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002280" y="3257550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问题、文件与通用知识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002280" y="4019550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答案、方案与文档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002280" y="479107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判断内容是否有用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8" name="Group 38"/>
              <p:cNvGrpSpPr/>
              <p:nvPr/>
            </p:nvGrpSpPr>
            <p:grpSpPr>
              <a:xfrm>
                <a:off x="7002780" y="2486025"/>
                <a:ext cx="2511600" cy="2750820"/>
                <a:chOff x="7002780" y="2486025"/>
                <a:chExt cx="2511600" cy="2750820"/>
              </a:xfrm>
            </p:grpSpPr>
            <p:sp>
              <p:nvSpPr>
                <p:cNvPr id="33" name="TextBox 33"/>
                <p:cNvSpPr txBox="1"/>
                <p:nvPr/>
              </p:nvSpPr>
              <p:spPr>
                <a:xfrm>
                  <a:off x="7002780" y="2486025"/>
                  <a:ext cx="203454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245FD1"/>
                      </a:solidFill>
                      <a:latin typeface="+mn-lt"/>
                      <a:ea typeface="+mn-ea"/>
                      <a:cs typeface="+mn-cs"/>
                    </a:rPr>
                    <a:t>理解代码库并完成变更</a:t>
                  </a:r>
                  <a:endParaRPr lang="zh-CN" sz="1500" b="1" dirty="0">
                    <a:solidFill>
                      <a:srgbClr val="245FD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7002780" y="3257550"/>
                  <a:ext cx="240178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245FD1"/>
                      </a:solidFill>
                      <a:latin typeface="+mn-lt"/>
                      <a:ea typeface="+mn-ea"/>
                      <a:cs typeface="+mn-cs"/>
                    </a:rPr>
                    <a:t>仓库、编辑器、终端与 Git</a:t>
                  </a:r>
                  <a:endParaRPr lang="zh-CN" sz="1500" b="1" dirty="0">
                    <a:solidFill>
                      <a:srgbClr val="245FD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7002780" y="4019550"/>
                  <a:ext cx="251160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245FD1"/>
                      </a:solidFill>
                      <a:latin typeface="+mn-lt"/>
                      <a:ea typeface="+mn-ea"/>
                      <a:cs typeface="+mn-cs"/>
                    </a:rPr>
                    <a:t>代码变更、测试结果与 diff</a:t>
                  </a:r>
                  <a:endParaRPr lang="zh-CN" sz="1500" b="1" dirty="0">
                    <a:solidFill>
                      <a:srgbClr val="245FD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7002780" y="4695825"/>
                  <a:ext cx="203454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245FD1"/>
                      </a:solidFill>
                      <a:latin typeface="+mn-lt"/>
                      <a:ea typeface="+mn-ea"/>
                      <a:cs typeface="+mn-cs"/>
                    </a:rPr>
                    <a:t>定义目标、审查变更、</a:t>
                  </a:r>
                  <a:endParaRPr lang="zh-CN" sz="1500" b="1" dirty="0">
                    <a:solidFill>
                      <a:srgbClr val="245FD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7002780" y="4943475"/>
                  <a:ext cx="122682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245FD1"/>
                      </a:solidFill>
                      <a:latin typeface="+mn-lt"/>
                      <a:ea typeface="+mn-ea"/>
                      <a:cs typeface="+mn-cs"/>
                    </a:rPr>
                    <a:t>批准关键操作</a:t>
                  </a:r>
                  <a:endParaRPr lang="zh-CN" sz="1500" b="1" dirty="0">
                    <a:solidFill>
                      <a:srgbClr val="245FD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46" name="bottom-note"/>
          <p:cNvGrpSpPr/>
          <p:nvPr/>
        </p:nvGrpSpPr>
        <p:grpSpPr>
          <a:xfrm>
            <a:off x="609600" y="5543550"/>
            <a:ext cx="10972800" cy="857250"/>
            <a:chOff x="609600" y="5543550"/>
            <a:chExt cx="10972800" cy="857250"/>
          </a:xfrm>
        </p:grpSpPr>
        <p:sp>
          <p:nvSpPr>
            <p:cNvPr id="41" name="Rectangle 41"/>
            <p:cNvSpPr/>
            <p:nvPr/>
          </p:nvSpPr>
          <p:spPr>
            <a:xfrm>
              <a:off x="609600" y="5543550"/>
              <a:ext cx="10972800" cy="8572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600" y="5543550"/>
              <a:ext cx="76200" cy="8572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68680" y="5724525"/>
              <a:ext cx="63735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共识：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两者能力有重叠，但 Codex 的默认工作对象是“项目中的变化”。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0204" y="6071235"/>
              <a:ext cx="34567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官方资料：</a:t>
              </a:r>
              <a:r>
                <a:rPr lang="zh-CN" sz="120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1"/>
                </a:rPr>
                <a:t>OpenAI ChatGPT 与 Codex 能力概览</a:t>
              </a:r>
              <a:endParaRPr lang="zh-CN" sz="1200" u="sng" dirty="0">
                <a:solidFill>
                  <a:schemeClr val="accent2"/>
                </a:solidFill>
                <a:latin typeface="+mn-lt"/>
                <a:ea typeface="+mn-ea"/>
                <a:cs typeface="+mn-cs"/>
                <a:hlinkClick r:id="rId1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12030" y="6087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8A2B3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050" dirty="0">
                <a:solidFill>
                  <a:srgbClr val="98A2B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header"/>
          <p:cNvGrpSpPr/>
          <p:nvPr/>
        </p:nvGrpSpPr>
        <p:grpSpPr>
          <a:xfrm>
            <a:off x="593598" y="479108"/>
            <a:ext cx="10884042" cy="884681"/>
            <a:chOff x="593598" y="479108"/>
            <a:chExt cx="10884042" cy="884681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479108"/>
              <a:ext cx="868003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Codex 的价值在“闭环执行”，不只在生成代码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41082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真正可用的输出，是理解上下文后完成修改、验证并说明差异。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9672066" y="515302"/>
              <a:ext cx="1805574" cy="237173"/>
              <a:chOff x="9672066" y="515302"/>
              <a:chExt cx="1805574" cy="237173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9672066" y="515302"/>
                <a:ext cx="4732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endPara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0357866" y="515302"/>
                <a:ext cx="23021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0776966" y="515302"/>
                <a:ext cx="7006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RESEARCH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9677400" y="723900"/>
                <a:ext cx="495300" cy="2857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55" name="execution-loop"/>
          <p:cNvGrpSpPr/>
          <p:nvPr/>
        </p:nvGrpSpPr>
        <p:grpSpPr>
          <a:xfrm>
            <a:off x="591439" y="1927860"/>
            <a:ext cx="7828661" cy="3634740"/>
            <a:chOff x="591439" y="1927860"/>
            <a:chExt cx="7828661" cy="3634740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1927860"/>
              <a:ext cx="27991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ONE TASK · ONE VERIFIABLE LOOP</a:t>
              </a:r>
              <a:endParaRPr lang="en-US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1009650" y="3238500"/>
              <a:ext cx="6896100" cy="1"/>
            </a:xfrm>
            <a:prstGeom prst="line">
              <a:avLst/>
            </a:prstGeom>
            <a:noFill/>
            <a:ln w="47625" cap="rnd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591439" y="2952750"/>
              <a:ext cx="7732522" cy="1178528"/>
              <a:chOff x="591439" y="2952750"/>
              <a:chExt cx="7732522" cy="1178528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591439" y="2952750"/>
                <a:ext cx="874522" cy="1178528"/>
                <a:chOff x="591439" y="2952750"/>
                <a:chExt cx="874522" cy="1178528"/>
              </a:xfrm>
            </p:grpSpPr>
            <p:sp>
              <p:nvSpPr>
                <p:cNvPr id="12" name="Ellipse 12"/>
                <p:cNvSpPr/>
                <p:nvPr/>
              </p:nvSpPr>
              <p:spPr>
                <a:xfrm>
                  <a:off x="742950" y="2952750"/>
                  <a:ext cx="571500" cy="571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969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  <a:endPara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677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明确目标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591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范围与标准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1734439" y="2952750"/>
                <a:ext cx="874522" cy="1178528"/>
                <a:chOff x="1734439" y="2952750"/>
                <a:chExt cx="874522" cy="1178528"/>
              </a:xfrm>
            </p:grpSpPr>
            <p:sp>
              <p:nvSpPr>
                <p:cNvPr id="17" name="Ellipse 17"/>
                <p:cNvSpPr/>
                <p:nvPr/>
              </p:nvSpPr>
              <p:spPr>
                <a:xfrm>
                  <a:off x="1885950" y="2952750"/>
                  <a:ext cx="571500" cy="571500"/>
                </a:xfrm>
                <a:prstGeom prst="ellipse">
                  <a:avLst/>
                </a:prstGeom>
                <a:solidFill>
                  <a:schemeClr val="lt2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2112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820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读取项目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734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文件与规则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2877439" y="2952750"/>
                <a:ext cx="874522" cy="1178528"/>
                <a:chOff x="2877439" y="2952750"/>
                <a:chExt cx="874522" cy="1178528"/>
              </a:xfrm>
            </p:grpSpPr>
            <p:sp>
              <p:nvSpPr>
                <p:cNvPr id="22" name="Ellipse 22"/>
                <p:cNvSpPr/>
                <p:nvPr/>
              </p:nvSpPr>
              <p:spPr>
                <a:xfrm>
                  <a:off x="3028950" y="2952750"/>
                  <a:ext cx="571500" cy="571500"/>
                </a:xfrm>
                <a:prstGeom prst="ellipse">
                  <a:avLst/>
                </a:prstGeom>
                <a:solidFill>
                  <a:schemeClr val="lt2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3255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963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拆解计划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2877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步骤与风险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4106596" y="2952750"/>
                <a:ext cx="702208" cy="1178528"/>
                <a:chOff x="4106596" y="2952750"/>
                <a:chExt cx="702208" cy="1178528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4171950" y="2952750"/>
                  <a:ext cx="571500" cy="571500"/>
                </a:xfrm>
                <a:prstGeom prst="ellipse">
                  <a:avLst/>
                </a:prstGeom>
                <a:solidFill>
                  <a:schemeClr val="lt2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4398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4106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修改文件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4106596" y="388191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最小变更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5163439" y="2952750"/>
                <a:ext cx="874522" cy="1178528"/>
                <a:chOff x="5163439" y="2952750"/>
                <a:chExt cx="874522" cy="1178528"/>
              </a:xfrm>
            </p:grpSpPr>
            <p:sp>
              <p:nvSpPr>
                <p:cNvPr id="32" name="Ellipse 32"/>
                <p:cNvSpPr/>
                <p:nvPr/>
              </p:nvSpPr>
              <p:spPr>
                <a:xfrm>
                  <a:off x="5314950" y="2952750"/>
                  <a:ext cx="571500" cy="571500"/>
                </a:xfrm>
                <a:prstGeom prst="ellipse">
                  <a:avLst/>
                </a:prstGeom>
                <a:solidFill>
                  <a:schemeClr val="lt2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5541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5249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运行检查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5163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测试与脚本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6361364" y="2952750"/>
                <a:ext cx="764672" cy="1178528"/>
                <a:chOff x="6361364" y="2952750"/>
                <a:chExt cx="764672" cy="1178528"/>
              </a:xfrm>
            </p:grpSpPr>
            <p:sp>
              <p:nvSpPr>
                <p:cNvPr id="37" name="Ellipse 37"/>
                <p:cNvSpPr/>
                <p:nvPr/>
              </p:nvSpPr>
              <p:spPr>
                <a:xfrm>
                  <a:off x="6457950" y="2952750"/>
                  <a:ext cx="571500" cy="571500"/>
                </a:xfrm>
                <a:prstGeom prst="ellipse">
                  <a:avLst/>
                </a:prstGeom>
                <a:solidFill>
                  <a:schemeClr val="lt2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6684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6361364" y="3634264"/>
                  <a:ext cx="76467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审查 diff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392596" y="388191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核对范围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7449439" y="2952750"/>
                <a:ext cx="874522" cy="1178528"/>
                <a:chOff x="7449439" y="2952750"/>
                <a:chExt cx="874522" cy="1178528"/>
              </a:xfrm>
            </p:grpSpPr>
            <p:sp>
              <p:nvSpPr>
                <p:cNvPr id="42" name="Ellipse 42"/>
                <p:cNvSpPr/>
                <p:nvPr/>
              </p:nvSpPr>
              <p:spPr>
                <a:xfrm>
                  <a:off x="7600950" y="2952750"/>
                  <a:ext cx="571500" cy="5715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7827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7</a:t>
                  </a:r>
                  <a:endPara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7535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汇报结果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7449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证据与后续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48" name="Line 48"/>
            <p:cNvSpPr/>
            <p:nvPr/>
          </p:nvSpPr>
          <p:spPr>
            <a:xfrm>
              <a:off x="5600700" y="24955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285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4457700" y="24955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1143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4457700" y="2495550"/>
              <a:ext cx="1" cy="2857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345000" y="22598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验证失败就返回修改</a:t>
              </a:r>
              <a:endParaRPr lang="zh-CN" sz="112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9600" y="4762500"/>
              <a:ext cx="7810500" cy="800100"/>
            </a:xfrm>
            <a:prstGeom prst="roundRect">
              <a:avLst>
                <a:gd name="adj" fmla="val 21429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1342" y="4950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5FD1"/>
                  </a:solidFill>
                  <a:latin typeface="+mn-lt"/>
                  <a:ea typeface="+mn-ea"/>
                  <a:cs typeface="+mn-cs"/>
                </a:rPr>
                <a:t>人的职责贯穿始终</a:t>
              </a:r>
              <a:endParaRPr lang="zh-CN" sz="1350" b="1" dirty="0">
                <a:solidFill>
                  <a:srgbClr val="245FD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1342" y="523589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在入口确认范围，在出口核对风险、证据与完成标准。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0" name="editor-status"/>
          <p:cNvGrpSpPr/>
          <p:nvPr/>
        </p:nvGrpSpPr>
        <p:grpSpPr>
          <a:xfrm>
            <a:off x="8763000" y="1809750"/>
            <a:ext cx="2819400" cy="3752850"/>
            <a:chOff x="8763000" y="1809750"/>
            <a:chExt cx="2819400" cy="3752850"/>
          </a:xfrm>
        </p:grpSpPr>
        <p:sp>
          <p:nvSpPr>
            <p:cNvPr id="56" name="Rectangle 56"/>
            <p:cNvSpPr/>
            <p:nvPr/>
          </p:nvSpPr>
          <p:spPr>
            <a:xfrm>
              <a:off x="8763000" y="1809750"/>
              <a:ext cx="2819400" cy="3752850"/>
            </a:xfrm>
            <a:prstGeom prst="roundRect">
              <a:avLst>
                <a:gd name="adj" fmla="val 608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763000" y="1809750"/>
              <a:ext cx="2819400" cy="419100"/>
            </a:xfrm>
            <a:prstGeom prst="roundRect">
              <a:avLst>
                <a:gd name="adj" fmla="val 40909"/>
              </a:avLst>
            </a:prstGeom>
            <a:solidFill>
              <a:srgbClr val="1E2E4D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8963025" y="1971675"/>
              <a:ext cx="95250" cy="9525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9134475" y="1971675"/>
              <a:ext cx="95250" cy="95250"/>
            </a:xfrm>
            <a:prstGeom prst="ellipse">
              <a:avLst/>
            </a:prstGeom>
            <a:solidFill>
              <a:srgbClr val="FFD166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9305925" y="19716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557766" y="1963102"/>
              <a:ext cx="91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task / verify</a:t>
              </a:r>
              <a:endParaRPr lang="en-US" sz="1050" dirty="0">
                <a:solidFill>
                  <a:srgbClr val="CCD6E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004554" y="2480310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$ run tests</a:t>
              </a:r>
              <a:endParaRPr lang="en-US" sz="1200" dirty="0">
                <a:solidFill>
                  <a:srgbClr val="9FB5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003792" y="28260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EE0C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✓ 18 passed</a:t>
              </a:r>
              <a:endParaRPr lang="en-US" sz="1350" dirty="0">
                <a:solidFill>
                  <a:srgbClr val="7EE0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4" name="Line 64"/>
            <p:cNvSpPr/>
            <p:nvPr/>
          </p:nvSpPr>
          <p:spPr>
            <a:xfrm>
              <a:off x="9010650" y="3219450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9525">
              <a:solidFill>
                <a:srgbClr val="33476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004554" y="3489960"/>
              <a:ext cx="669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FB5D9"/>
                  </a:solidFill>
                  <a:latin typeface="+mn-lt"/>
                  <a:ea typeface="+mn-ea"/>
                  <a:cs typeface="+mn-cs"/>
                </a:rPr>
                <a:t>CHANGES</a:t>
              </a:r>
              <a:endParaRPr lang="en-US" sz="1200" dirty="0">
                <a:solidFill>
                  <a:srgbClr val="9FB5D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04173" y="3824764"/>
              <a:ext cx="1346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 src/model.py</a:t>
              </a:r>
              <a:endPara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004173" y="4129564"/>
              <a:ext cx="2009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 tests/test_model.py</a:t>
              </a:r>
              <a:endPara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010650" y="4667250"/>
              <a:ext cx="2266950" cy="533400"/>
            </a:xfrm>
            <a:prstGeom prst="roundRect">
              <a:avLst>
                <a:gd name="adj" fmla="val 214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187918" y="4854892"/>
              <a:ext cx="1912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diff ready to review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603504" y="5962650"/>
            <a:ext cx="10984230" cy="381381"/>
            <a:chOff x="603504" y="5962650"/>
            <a:chExt cx="10984230" cy="381381"/>
          </a:xfrm>
        </p:grpSpPr>
        <p:sp>
          <p:nvSpPr>
            <p:cNvPr id="71" name="Line 71"/>
            <p:cNvSpPr/>
            <p:nvPr/>
          </p:nvSpPr>
          <p:spPr>
            <a:xfrm>
              <a:off x="609600" y="5962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03504" y="6109335"/>
              <a:ext cx="4244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关键判断：不是“生成了没有”，而是“是否验证并可解释”。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421580" y="61255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8A2B3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050" dirty="0">
                <a:solidFill>
                  <a:srgbClr val="98A2B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header"/>
          <p:cNvGrpSpPr/>
          <p:nvPr/>
        </p:nvGrpSpPr>
        <p:grpSpPr>
          <a:xfrm>
            <a:off x="592836" y="386715"/>
            <a:ext cx="10884804" cy="1083564"/>
            <a:chOff x="592836" y="386715"/>
            <a:chExt cx="10884804" cy="1083564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386715"/>
              <a:ext cx="547054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Codex 项目没有神秘格式：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824865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关键是上下文清楚、边界明确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9672066" y="515302"/>
              <a:ext cx="1805574" cy="237173"/>
              <a:chOff x="9672066" y="515302"/>
              <a:chExt cx="1805574" cy="237173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9672066" y="515302"/>
                <a:ext cx="4732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endPara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0357866" y="515302"/>
                <a:ext cx="23021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0776966" y="515302"/>
                <a:ext cx="7006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RESEARCH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9677400" y="723900"/>
                <a:ext cx="495300" cy="2857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27" name="project-tree"/>
          <p:cNvGrpSpPr/>
          <p:nvPr/>
        </p:nvGrpSpPr>
        <p:grpSpPr>
          <a:xfrm>
            <a:off x="609600" y="1733550"/>
            <a:ext cx="4762500" cy="4171950"/>
            <a:chOff x="609600" y="1733550"/>
            <a:chExt cx="4762500" cy="4171950"/>
          </a:xfrm>
        </p:grpSpPr>
        <p:sp>
          <p:nvSpPr>
            <p:cNvPr id="10" name="Rectangle 10"/>
            <p:cNvSpPr/>
            <p:nvPr/>
          </p:nvSpPr>
          <p:spPr>
            <a:xfrm>
              <a:off x="609600" y="1733550"/>
              <a:ext cx="4762500" cy="4171950"/>
            </a:xfrm>
            <a:prstGeom prst="roundRect">
              <a:avLst>
                <a:gd name="adj" fmla="val 411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33550"/>
              <a:ext cx="4762500" cy="457200"/>
            </a:xfrm>
            <a:prstGeom prst="roundRect">
              <a:avLst>
                <a:gd name="adj" fmla="val 37500"/>
              </a:avLst>
            </a:prstGeom>
            <a:solidFill>
              <a:srgbClr val="1E2E4D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09625" y="1914525"/>
              <a:ext cx="95250" cy="9525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81075" y="1914525"/>
              <a:ext cx="95250" cy="95250"/>
            </a:xfrm>
            <a:prstGeom prst="ellipse">
              <a:avLst/>
            </a:prstGeom>
            <a:solidFill>
              <a:srgbClr val="FFD16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52525" y="19145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23035" y="1897856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research-project / explorer</a:t>
              </a:r>
              <a:endParaRPr lang="en-US" sz="1120" dirty="0">
                <a:solidFill>
                  <a:srgbClr val="CCD6E8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869442" y="2426018"/>
              <a:ext cx="1712957" cy="3369183"/>
              <a:chOff x="869442" y="2426018"/>
              <a:chExt cx="1712957" cy="3369183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69442" y="2426018"/>
                <a:ext cx="17129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research-project/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36142" y="2787968"/>
                <a:ext cx="12641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7EB0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AGENTS.md</a:t>
                </a:r>
                <a:endParaRPr lang="en-US" sz="1350" dirty="0">
                  <a:solidFill>
                    <a:srgbClr val="7EB0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36142" y="3130868"/>
                <a:ext cx="12641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README.md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36142" y="3473768"/>
                <a:ext cx="71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src/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36142" y="3816668"/>
                <a:ext cx="9133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tests/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36142" y="4159568"/>
                <a:ext cx="11132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configs/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36142" y="4502468"/>
                <a:ext cx="8133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data/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36142" y="4845368"/>
                <a:ext cx="11132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results/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36142" y="5188268"/>
                <a:ext cx="8133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docs/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136142" y="5531168"/>
                <a:ext cx="13131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7EE0C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└─ .gitignore</a:t>
                </a:r>
                <a:endParaRPr lang="en-US" sz="1350" dirty="0">
                  <a:solidFill>
                    <a:srgbClr val="7EE0C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</p:grpSp>
      <p:grpSp>
        <p:nvGrpSpPr>
          <p:cNvPr id="44" name="file-responsibilities"/>
          <p:cNvGrpSpPr/>
          <p:nvPr/>
        </p:nvGrpSpPr>
        <p:grpSpPr>
          <a:xfrm>
            <a:off x="5706618" y="1879282"/>
            <a:ext cx="5875782" cy="4026218"/>
            <a:chOff x="5706618" y="1879282"/>
            <a:chExt cx="5875782" cy="4026218"/>
          </a:xfrm>
        </p:grpSpPr>
        <p:sp>
          <p:nvSpPr>
            <p:cNvPr id="28" name="TextBox 28"/>
            <p:cNvSpPr txBox="1"/>
            <p:nvPr/>
          </p:nvSpPr>
          <p:spPr>
            <a:xfrm>
              <a:off x="5706618" y="18792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一个好项目应快速回答四个问题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5715000" y="2305050"/>
              <a:ext cx="5867400" cy="2933700"/>
              <a:chOff x="5715000" y="2305050"/>
              <a:chExt cx="5867400" cy="29337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715000" y="2305050"/>
                <a:ext cx="5867400" cy="876300"/>
              </a:xfrm>
              <a:prstGeom prst="roundRect">
                <a:avLst>
                  <a:gd name="adj" fmla="val 1739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5715000" y="23050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974080" y="24669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规则是什么？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974461" y="2779871"/>
                <a:ext cx="363128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245FD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AGENTS.md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写约束，</a:t>
                </a:r>
                <a:r>
                  <a:rPr lang="en-US" sz="142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README.md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写入口。</a:t>
                </a:r>
                <a:endPara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5715000" y="3333750"/>
                <a:ext cx="5867400" cy="876300"/>
              </a:xfrm>
              <a:prstGeom prst="roundRect">
                <a:avLst>
                  <a:gd name="adj" fmla="val 1739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5715000" y="33337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974080" y="349567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代码在哪？怎样验证？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974461" y="3808571"/>
                <a:ext cx="328332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src/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放实现，</a:t>
                </a:r>
                <a:r>
                  <a:rPr lang="en-US" sz="142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tests/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放可重复检查。</a:t>
                </a:r>
                <a:endPara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5715000" y="4362450"/>
                <a:ext cx="5867400" cy="876300"/>
              </a:xfrm>
              <a:prstGeom prst="roundRect">
                <a:avLst>
                  <a:gd name="adj" fmla="val 1739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5715000" y="43624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974080" y="4524375"/>
                <a:ext cx="26403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参数、数据与结果怎么管理？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974461" y="4837271"/>
                <a:ext cx="34458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configs/ data/ results/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各司其职。</a:t>
                </a:r>
                <a:endPara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2" name="Rectangle 42"/>
            <p:cNvSpPr/>
            <p:nvPr/>
          </p:nvSpPr>
          <p:spPr>
            <a:xfrm>
              <a:off x="5715000" y="5410200"/>
              <a:ext cx="5867400" cy="495300"/>
            </a:xfrm>
            <a:prstGeom prst="roundRect">
              <a:avLst>
                <a:gd name="adj" fmla="val 26923"/>
              </a:avLst>
            </a:prstGeom>
            <a:solidFill>
              <a:srgbClr val="EAF8F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99023" y="5577364"/>
              <a:ext cx="4923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68FA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.gitignore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：排除密钥、缓存、大型原始数据和可再生成文件。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603885" y="6184106"/>
            <a:ext cx="10983849" cy="220028"/>
            <a:chOff x="603885" y="6184106"/>
            <a:chExt cx="10983849" cy="220028"/>
          </a:xfrm>
        </p:grpSpPr>
        <p:sp>
          <p:nvSpPr>
            <p:cNvPr id="45" name="TextBox 45"/>
            <p:cNvSpPr txBox="1"/>
            <p:nvPr/>
          </p:nvSpPr>
          <p:spPr>
            <a:xfrm>
              <a:off x="603885" y="6184106"/>
              <a:ext cx="5512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目录不是为了“看起来专业”，而是为了让人和 Codex 都能定位规则、执行与验证。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421580" y="6192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8A2B3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050" dirty="0">
                <a:solidFill>
                  <a:srgbClr val="98A2B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header"/>
          <p:cNvGrpSpPr/>
          <p:nvPr/>
        </p:nvGrpSpPr>
        <p:grpSpPr>
          <a:xfrm>
            <a:off x="592836" y="462915"/>
            <a:ext cx="10884804" cy="875253"/>
            <a:chOff x="592836" y="462915"/>
            <a:chExt cx="10884804" cy="875253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62915"/>
              <a:ext cx="1082700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AGENTS.md 规定“怎么做”，Skills 封装“重复怎么做”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61842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把稳定规则与可复用流程放进项目，减少口头约定和提示词漂移。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9672066" y="515302"/>
              <a:ext cx="1805574" cy="237173"/>
              <a:chOff x="9672066" y="515302"/>
              <a:chExt cx="1805574" cy="237173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9672066" y="515302"/>
                <a:ext cx="4732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endPara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0357866" y="515302"/>
                <a:ext cx="23021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0776966" y="515302"/>
                <a:ext cx="7006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RESEARCH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9677400" y="723900"/>
                <a:ext cx="495300" cy="2857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24" name="agents-rules"/>
          <p:cNvGrpSpPr/>
          <p:nvPr/>
        </p:nvGrpSpPr>
        <p:grpSpPr>
          <a:xfrm>
            <a:off x="609600" y="1752600"/>
            <a:ext cx="3543300" cy="3200400"/>
            <a:chOff x="609600" y="1752600"/>
            <a:chExt cx="3543300" cy="32004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52600"/>
              <a:ext cx="3543300" cy="3200400"/>
            </a:xfrm>
            <a:prstGeom prst="roundRect">
              <a:avLst>
                <a:gd name="adj" fmla="val 5952"/>
              </a:avLst>
            </a:prstGeom>
            <a:solidFill>
              <a:schemeClr val="lt2"/>
            </a:solidFill>
            <a:ln w="19050">
              <a:solidFill>
                <a:srgbClr val="BFD2F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52600"/>
              <a:ext cx="3543300" cy="590550"/>
            </a:xfrm>
            <a:prstGeom prst="roundRect">
              <a:avLst>
                <a:gd name="adj" fmla="val 32258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939290"/>
              <a:ext cx="12686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45FD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AGENTS.md</a:t>
              </a:r>
              <a:endParaRPr lang="en-US" sz="1800" b="1" dirty="0">
                <a:solidFill>
                  <a:srgbClr val="245FD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199" y="2516029"/>
              <a:ext cx="25683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持续约束：这个项目怎么做</a:t>
              </a:r>
              <a:endPara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57250" y="2987992"/>
              <a:ext cx="1832991" cy="1407033"/>
              <a:chOff x="857250" y="2987992"/>
              <a:chExt cx="1832991" cy="1407033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857250" y="302895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40892" y="2987992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测试命令与完成标准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857250" y="340995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40892" y="3368992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目录约定与提交规则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857250" y="379095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40892" y="3749992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禁止事项与安全边界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57250" y="417195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40892" y="4130992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必要的领域背景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832104" y="45567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保持短、稳定、能直接执行。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codex-core"/>
          <p:cNvGrpSpPr/>
          <p:nvPr/>
        </p:nvGrpSpPr>
        <p:grpSpPr>
          <a:xfrm>
            <a:off x="4152900" y="2343150"/>
            <a:ext cx="3886200" cy="2114550"/>
            <a:chOff x="4152900" y="2343150"/>
            <a:chExt cx="3886200" cy="2114550"/>
          </a:xfrm>
        </p:grpSpPr>
        <p:sp>
          <p:nvSpPr>
            <p:cNvPr id="25" name="Line 25"/>
            <p:cNvSpPr/>
            <p:nvPr/>
          </p:nvSpPr>
          <p:spPr>
            <a:xfrm>
              <a:off x="4152900" y="3352800"/>
              <a:ext cx="3429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6" name="Line 26"/>
            <p:cNvSpPr/>
            <p:nvPr/>
          </p:nvSpPr>
          <p:spPr>
            <a:xfrm flipH="1">
              <a:off x="7696200" y="3352800"/>
              <a:ext cx="3429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495800" y="2343150"/>
              <a:ext cx="3200400" cy="2114550"/>
            </a:xfrm>
            <a:prstGeom prst="roundRect">
              <a:avLst>
                <a:gd name="adj" fmla="val 126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791200" y="2647950"/>
              <a:ext cx="609600" cy="609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99081" y="28213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en-US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44829" y="3335655"/>
              <a:ext cx="15023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Codex 执行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71324" y="3786664"/>
              <a:ext cx="2649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8C7E0"/>
                  </a:solidFill>
                  <a:latin typeface="+mn-lt"/>
                  <a:ea typeface="+mn-ea"/>
                  <a:cs typeface="+mn-cs"/>
                </a:rPr>
                <a:t>读取规则 · 匹配流程 · 修改与验证</a:t>
              </a:r>
              <a:endParaRPr lang="zh-CN" sz="1280" dirty="0">
                <a:solidFill>
                  <a:srgbClr val="B8C7E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skill-workflow"/>
          <p:cNvGrpSpPr/>
          <p:nvPr/>
        </p:nvGrpSpPr>
        <p:grpSpPr>
          <a:xfrm>
            <a:off x="8039100" y="1752600"/>
            <a:ext cx="3543300" cy="3200400"/>
            <a:chOff x="8039100" y="1752600"/>
            <a:chExt cx="3543300" cy="3200400"/>
          </a:xfrm>
        </p:grpSpPr>
        <p:sp>
          <p:nvSpPr>
            <p:cNvPr id="33" name="Rectangle 33"/>
            <p:cNvSpPr/>
            <p:nvPr/>
          </p:nvSpPr>
          <p:spPr>
            <a:xfrm>
              <a:off x="8039100" y="1752600"/>
              <a:ext cx="3543300" cy="3200400"/>
            </a:xfrm>
            <a:prstGeom prst="roundRect">
              <a:avLst>
                <a:gd name="adj" fmla="val 5952"/>
              </a:avLst>
            </a:prstGeom>
            <a:solidFill>
              <a:schemeClr val="lt2"/>
            </a:solidFill>
            <a:ln w="19050">
              <a:solidFill>
                <a:srgbClr val="BFE8ED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039100" y="1752600"/>
              <a:ext cx="3543300" cy="590550"/>
            </a:xfrm>
            <a:prstGeom prst="roundRect">
              <a:avLst>
                <a:gd name="adj" fmla="val 32258"/>
              </a:avLst>
            </a:prstGeom>
            <a:solidFill>
              <a:srgbClr val="EAF8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58556" y="1939290"/>
              <a:ext cx="6922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68FA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Skill</a:t>
              </a:r>
              <a:endParaRPr lang="en-US" sz="1800" b="1" dirty="0">
                <a:solidFill>
                  <a:srgbClr val="168FA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59699" y="2516029"/>
              <a:ext cx="27810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可复用方法：重复任务怎么做</a:t>
              </a:r>
              <a:endPara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8260842" y="2987992"/>
              <a:ext cx="1660741" cy="1711833"/>
              <a:chOff x="8260842" y="2987992"/>
              <a:chExt cx="1660741" cy="1711833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8260842" y="2987992"/>
                <a:ext cx="9133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my-skill/</a:t>
                </a:r>
                <a:endParaRPr lang="en-US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508492" y="3349942"/>
                <a:ext cx="115767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68FA0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SKILL.md</a:t>
                </a:r>
                <a:endParaRPr lang="en-US" sz="1350" dirty="0">
                  <a:solidFill>
                    <a:srgbClr val="168FA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508492" y="3711892"/>
                <a:ext cx="11132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scripts/</a:t>
                </a:r>
                <a:endParaRPr lang="en-US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508492" y="4073842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references/</a:t>
                </a:r>
                <a:endParaRPr lang="en-US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508492" y="4435792"/>
                <a:ext cx="10132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└─ assets/</a:t>
                </a:r>
                <a:endParaRPr lang="en-US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</p:grpSp>
      <p:grpSp>
        <p:nvGrpSpPr>
          <p:cNvPr id="49" name="practice-and-links"/>
          <p:cNvGrpSpPr/>
          <p:nvPr/>
        </p:nvGrpSpPr>
        <p:grpSpPr>
          <a:xfrm>
            <a:off x="609600" y="5257800"/>
            <a:ext cx="10972800" cy="1066800"/>
            <a:chOff x="609600" y="5257800"/>
            <a:chExt cx="10972800" cy="1066800"/>
          </a:xfrm>
        </p:grpSpPr>
        <p:sp>
          <p:nvSpPr>
            <p:cNvPr id="44" name="Rectangle 44"/>
            <p:cNvSpPr/>
            <p:nvPr/>
          </p:nvSpPr>
          <p:spPr>
            <a:xfrm>
              <a:off x="609600" y="5257800"/>
              <a:ext cx="10972800" cy="1066800"/>
            </a:xfrm>
            <a:prstGeom prst="roundRect">
              <a:avLst>
                <a:gd name="adj" fmla="val 1607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0961" y="54468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实践原则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1342" y="5778818"/>
              <a:ext cx="5683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规则解决“每次都必须遵守什么”，技能解决“这类任务反复怎样完成”。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2485" y="6069806"/>
              <a:ext cx="33885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1"/>
                </a:rPr>
                <a:t>OpenAI AGENTS.md 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2"/>
                </a:rPr>
                <a:t>OpenAI Skills 文档</a:t>
              </a:r>
              <a:endParaRPr lang="zh-CN" sz="1120" u="sng" dirty="0">
                <a:solidFill>
                  <a:schemeClr val="accent2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12030" y="60779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8A2B3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050" dirty="0">
                <a:solidFill>
                  <a:srgbClr val="98A2B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header"/>
          <p:cNvGrpSpPr/>
          <p:nvPr/>
        </p:nvGrpSpPr>
        <p:grpSpPr>
          <a:xfrm>
            <a:off x="592836" y="462915"/>
            <a:ext cx="11039086" cy="875253"/>
            <a:chOff x="592836" y="462915"/>
            <a:chExt cx="11039086" cy="875253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62915"/>
              <a:ext cx="1103908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在 VS Code 中使用 Codex：安装、给上下文、审查变更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803477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第一次任务只走一条最短路径：打开项目 → 引用上下文 → 明确完成标准 → 审查 diff。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9672066" y="515302"/>
              <a:ext cx="1805574" cy="237173"/>
              <a:chOff x="9672066" y="515302"/>
              <a:chExt cx="1805574" cy="237173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9672066" y="515302"/>
                <a:ext cx="4732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endPara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0357866" y="515302"/>
                <a:ext cx="23021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0776966" y="515302"/>
                <a:ext cx="7006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RESEARCH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9677400" y="723900"/>
                <a:ext cx="495300" cy="2857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20" name="install-step"/>
          <p:cNvGrpSpPr/>
          <p:nvPr/>
        </p:nvGrpSpPr>
        <p:grpSpPr>
          <a:xfrm>
            <a:off x="609600" y="1676400"/>
            <a:ext cx="3467100" cy="4000500"/>
            <a:chOff x="609600" y="1676400"/>
            <a:chExt cx="34671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609600" y="1676400"/>
              <a:ext cx="3467100" cy="4000500"/>
            </a:xfrm>
            <a:prstGeom prst="roundRect">
              <a:avLst>
                <a:gd name="adj" fmla="val 494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42950" y="18097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8167" y="191023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2718" y="18792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安装并登录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343150"/>
              <a:ext cx="3162300" cy="1619250"/>
            </a:xfrm>
            <a:prstGeom prst="roundRect">
              <a:avLst>
                <a:gd name="adj" fmla="val 705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62000" y="2539755"/>
              <a:ext cx="3162300" cy="1226039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793242" y="4216718"/>
              <a:ext cx="25733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在扩展市场安装或启用 Codex，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3242" y="4502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完成账号登录。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" y="4953000"/>
              <a:ext cx="2971800" cy="457200"/>
            </a:xfrm>
            <a:prstGeom prst="roundRect">
              <a:avLst>
                <a:gd name="adj" fmla="val 25000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49096" y="51187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5FD1"/>
                  </a:solidFill>
                  <a:latin typeface="+mn-lt"/>
                  <a:ea typeface="+mn-ea"/>
                  <a:cs typeface="+mn-cs"/>
                </a:rPr>
                <a:t>检查点：扩展可用，项目已打开</a:t>
              </a:r>
              <a:endParaRPr lang="zh-CN" sz="1200" b="1" dirty="0">
                <a:solidFill>
                  <a:srgbClr val="245FD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chat-step"/>
          <p:cNvGrpSpPr/>
          <p:nvPr/>
        </p:nvGrpSpPr>
        <p:grpSpPr>
          <a:xfrm>
            <a:off x="4305300" y="1676400"/>
            <a:ext cx="4038600" cy="4000500"/>
            <a:chOff x="4305300" y="1676400"/>
            <a:chExt cx="4038600" cy="4000500"/>
          </a:xfrm>
        </p:grpSpPr>
        <p:sp>
          <p:nvSpPr>
            <p:cNvPr id="21" name="Rectangle 21"/>
            <p:cNvSpPr/>
            <p:nvPr/>
          </p:nvSpPr>
          <p:spPr>
            <a:xfrm>
              <a:off x="4305300" y="1676400"/>
              <a:ext cx="4038600" cy="4000500"/>
            </a:xfrm>
            <a:prstGeom prst="roundRect">
              <a:avLst>
                <a:gd name="adj" fmla="val 4286"/>
              </a:avLst>
            </a:prstGeom>
            <a:solidFill>
              <a:schemeClr val="lt2"/>
            </a:solidFill>
            <a:ln w="19050">
              <a:solidFill>
                <a:srgbClr val="BFD2F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438650" y="18097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53867" y="191023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68418" y="18792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打开侧边栏并描述任务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457700" y="2286000"/>
              <a:ext cx="3733800" cy="3048000"/>
            </a:xfrm>
            <a:prstGeom prst="roundRect">
              <a:avLst>
                <a:gd name="adj" fmla="val 3750"/>
              </a:avLst>
            </a:prstGeom>
            <a:solidFill>
              <a:schemeClr val="accent1"/>
            </a:solidFill>
            <a:ln>
              <a:noFill/>
            </a:ln>
          </p:spPr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7700" y="2289893"/>
              <a:ext cx="3733800" cy="3040215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5477264" y="5433060"/>
              <a:ext cx="16946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5FD1"/>
                  </a:solidFill>
                  <a:latin typeface="+mn-lt"/>
                  <a:ea typeface="+mn-ea"/>
                  <a:cs typeface="+mn-cs"/>
                </a:rPr>
                <a:t>目标 + 范围 + 完成标准</a:t>
              </a:r>
              <a:endParaRPr lang="zh-CN" sz="1200" b="1" dirty="0">
                <a:solidFill>
                  <a:srgbClr val="245FD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context-step"/>
          <p:cNvGrpSpPr/>
          <p:nvPr/>
        </p:nvGrpSpPr>
        <p:grpSpPr>
          <a:xfrm>
            <a:off x="8572500" y="1676400"/>
            <a:ext cx="3009900" cy="4016978"/>
            <a:chOff x="8572500" y="1676400"/>
            <a:chExt cx="3009900" cy="4016978"/>
          </a:xfrm>
        </p:grpSpPr>
        <p:sp>
          <p:nvSpPr>
            <p:cNvPr id="29" name="Rectangle 29"/>
            <p:cNvSpPr/>
            <p:nvPr/>
          </p:nvSpPr>
          <p:spPr>
            <a:xfrm>
              <a:off x="8572500" y="1676400"/>
              <a:ext cx="3009900" cy="4000500"/>
            </a:xfrm>
            <a:prstGeom prst="roundRect">
              <a:avLst>
                <a:gd name="adj" fmla="val 56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705850" y="18097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21067" y="191023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35618" y="18792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引用文件与选区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724900" y="2343150"/>
              <a:ext cx="2705100" cy="2400300"/>
            </a:xfrm>
            <a:prstGeom prst="roundRect">
              <a:avLst>
                <a:gd name="adj" fmla="val 476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4900" y="2476520"/>
              <a:ext cx="2705100" cy="2133561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8756523" y="49106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把相关文件、选区和报错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56523" y="51773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带入提示；最后审查摘要、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56523" y="5444014"/>
              <a:ext cx="1434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diff 与测试结果。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603885" y="6031706"/>
            <a:ext cx="10983849" cy="220028"/>
            <a:chOff x="603885" y="6031706"/>
            <a:chExt cx="10983849" cy="220028"/>
          </a:xfrm>
        </p:grpSpPr>
        <p:sp>
          <p:nvSpPr>
            <p:cNvPr id="39" name="TextBox 39"/>
            <p:cNvSpPr txBox="1"/>
            <p:nvPr/>
          </p:nvSpPr>
          <p:spPr>
            <a:xfrm>
              <a:off x="603885" y="6031706"/>
              <a:ext cx="37951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4"/>
                </a:rPr>
                <a:t>OpenAI Codex IDE 扩展文档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5"/>
                </a:rPr>
                <a:t>VS Code 使用参考教程</a:t>
              </a:r>
              <a:endParaRPr lang="zh-CN" sz="1120" u="sng" dirty="0">
                <a:solidFill>
                  <a:schemeClr val="accent2"/>
                </a:solidFill>
                <a:latin typeface="+mn-lt"/>
                <a:ea typeface="+mn-ea"/>
                <a:cs typeface="+mn-cs"/>
                <a:hlinkClick r:id="rId5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421580" y="60398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8A2B3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050" dirty="0">
                <a:solidFill>
                  <a:srgbClr val="98A2B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header"/>
          <p:cNvGrpSpPr/>
          <p:nvPr/>
        </p:nvGrpSpPr>
        <p:grpSpPr>
          <a:xfrm>
            <a:off x="593598" y="479108"/>
            <a:ext cx="10884042" cy="878110"/>
            <a:chOff x="593598" y="479108"/>
            <a:chExt cx="10884042" cy="878110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479108"/>
              <a:ext cx="106221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Git 不是“网盘”：它是每个人都拥有完整历史的版本系统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49179"/>
              <a:ext cx="645076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Git 管理版本与历史；GitHub、GitLab 等平台负责远程托管与协作。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9672066" y="515302"/>
              <a:ext cx="1805574" cy="237173"/>
              <a:chOff x="9672066" y="515302"/>
              <a:chExt cx="1805574" cy="237173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9672066" y="515302"/>
                <a:ext cx="4732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0357866" y="515302"/>
                <a:ext cx="23021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endPara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0776966" y="515302"/>
                <a:ext cx="7006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RESEARCH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10363200" y="723900"/>
                <a:ext cx="247650" cy="28575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</p:grpSp>
      </p:grpSp>
      <p:grpSp>
        <p:nvGrpSpPr>
          <p:cNvPr id="20" name="git-definition"/>
          <p:cNvGrpSpPr/>
          <p:nvPr/>
        </p:nvGrpSpPr>
        <p:grpSpPr>
          <a:xfrm>
            <a:off x="597408" y="2064068"/>
            <a:ext cx="4546092" cy="3689032"/>
            <a:chOff x="597408" y="2064068"/>
            <a:chExt cx="4546092" cy="3689032"/>
          </a:xfrm>
        </p:grpSpPr>
        <p:sp>
          <p:nvSpPr>
            <p:cNvPr id="10" name="TextBox 10"/>
            <p:cNvSpPr txBox="1"/>
            <p:nvPr/>
          </p:nvSpPr>
          <p:spPr>
            <a:xfrm>
              <a:off x="602742" y="2064068"/>
              <a:ext cx="2876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DISTRIBUTED VERSION CONTROL</a:t>
              </a:r>
              <a:endParaRPr lang="en-US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7408" y="246507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每个本地仓库，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7408" y="286512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都拥有完整历史。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3448050"/>
              <a:ext cx="4533900" cy="895350"/>
            </a:xfrm>
            <a:prstGeom prst="roundRect">
              <a:avLst>
                <a:gd name="adj" fmla="val 1914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0961" y="3627596"/>
              <a:ext cx="11597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Git ≠ GitHub</a:t>
              </a:r>
              <a:endParaRPr lang="en-US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342" y="39500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前者是版本控制工具，后者是远程协作平台。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" y="4552950"/>
              <a:ext cx="4533900" cy="1200150"/>
            </a:xfrm>
            <a:prstGeom prst="roundRect">
              <a:avLst>
                <a:gd name="adj" fmla="val 14286"/>
              </a:avLst>
            </a:prstGeom>
            <a:solidFill>
              <a:srgbClr val="EAF8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0961" y="476107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FA0"/>
                  </a:solidFill>
                  <a:latin typeface="+mn-lt"/>
                  <a:ea typeface="+mn-ea"/>
                  <a:cs typeface="+mn-cs"/>
                </a:rPr>
                <a:t>离线也能提交与查看历史</a:t>
              </a:r>
              <a:endParaRPr lang="zh-CN" sz="1420" b="1" dirty="0">
                <a:solidFill>
                  <a:srgbClr val="168FA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1342" y="50930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一次提交保存项目状态快照及其父子关系，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1342" y="5397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不是随手复制一个新文件夹。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distributed-diagram"/>
          <p:cNvGrpSpPr/>
          <p:nvPr/>
        </p:nvGrpSpPr>
        <p:grpSpPr>
          <a:xfrm>
            <a:off x="5562600" y="1790700"/>
            <a:ext cx="6019800" cy="3962400"/>
            <a:chOff x="5562600" y="1790700"/>
            <a:chExt cx="6019800" cy="3962400"/>
          </a:xfrm>
        </p:grpSpPr>
        <p:sp>
          <p:nvSpPr>
            <p:cNvPr id="21" name="Rectangle 21"/>
            <p:cNvSpPr/>
            <p:nvPr/>
          </p:nvSpPr>
          <p:spPr>
            <a:xfrm>
              <a:off x="5562600" y="1790700"/>
              <a:ext cx="6019800" cy="3962400"/>
            </a:xfrm>
            <a:prstGeom prst="roundRect">
              <a:avLst>
                <a:gd name="adj" fmla="val 480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734050" y="2038350"/>
              <a:ext cx="5676900" cy="320040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6463284" y="5414010"/>
              <a:ext cx="4218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集中式依赖中心节点；分布式 Git 的每个克隆都包含历史。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885" y="6107906"/>
            <a:ext cx="10983849" cy="220028"/>
            <a:chOff x="603885" y="6107906"/>
            <a:chExt cx="10983849" cy="220028"/>
          </a:xfrm>
        </p:grpSpPr>
        <p:sp>
          <p:nvSpPr>
            <p:cNvPr id="25" name="TextBox 25"/>
            <p:cNvSpPr txBox="1"/>
            <p:nvPr/>
          </p:nvSpPr>
          <p:spPr>
            <a:xfrm>
              <a:off x="603885" y="6107906"/>
              <a:ext cx="1026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参考：</a:t>
              </a:r>
              <a:r>
                <a:rPr lang="zh-CN" sz="112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2"/>
                </a:rPr>
                <a:t>Git 教程</a:t>
              </a:r>
              <a:endParaRPr lang="zh-CN" sz="1120" u="sng" dirty="0">
                <a:solidFill>
                  <a:schemeClr val="accent2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21580" y="6116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8A2B3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zh-CN" sz="1050" dirty="0">
                <a:solidFill>
                  <a:srgbClr val="98A2B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header"/>
          <p:cNvGrpSpPr/>
          <p:nvPr/>
        </p:nvGrpSpPr>
        <p:grpSpPr>
          <a:xfrm>
            <a:off x="592836" y="462915"/>
            <a:ext cx="10884804" cy="875253"/>
            <a:chOff x="592836" y="462915"/>
            <a:chExt cx="10884804" cy="875253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62915"/>
              <a:ext cx="631499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 Git 提交，要经过四个位置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450396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理解“文件现在在哪里”，命令就不再需要死记。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9672066" y="515302"/>
              <a:ext cx="1805574" cy="237173"/>
              <a:chOff x="9672066" y="515302"/>
              <a:chExt cx="1805574" cy="237173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9672066" y="515302"/>
                <a:ext cx="4732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0357866" y="515302"/>
                <a:ext cx="23021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endPara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0776966" y="515302"/>
                <a:ext cx="7006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RESEARCH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10363200" y="723900"/>
                <a:ext cx="247650" cy="28575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</p:grpSp>
      </p:grpSp>
      <p:grpSp>
        <p:nvGrpSpPr>
          <p:cNvPr id="45" name="git-four-zones"/>
          <p:cNvGrpSpPr/>
          <p:nvPr/>
        </p:nvGrpSpPr>
        <p:grpSpPr>
          <a:xfrm>
            <a:off x="609600" y="2438400"/>
            <a:ext cx="10972800" cy="2876550"/>
            <a:chOff x="609600" y="2438400"/>
            <a:chExt cx="10972800" cy="2876550"/>
          </a:xfrm>
        </p:grpSpPr>
        <p:sp>
          <p:nvSpPr>
            <p:cNvPr id="10" name="Line 10"/>
            <p:cNvSpPr/>
            <p:nvPr/>
          </p:nvSpPr>
          <p:spPr>
            <a:xfrm>
              <a:off x="27241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567690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86296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 flipH="1">
              <a:off x="8629650" y="3790950"/>
              <a:ext cx="83820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786548" y="27308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45FD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add</a:t>
              </a:r>
              <a:endParaRPr lang="en-US" sz="1350" b="1" dirty="0">
                <a:solidFill>
                  <a:srgbClr val="245FD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89365" y="27308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45FD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commit</a:t>
              </a:r>
              <a:endParaRPr lang="en-US" sz="1350" b="1" dirty="0">
                <a:solidFill>
                  <a:srgbClr val="245FD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42071" y="273081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68FA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push</a:t>
              </a:r>
              <a:endParaRPr lang="en-US" sz="1350" b="1" dirty="0">
                <a:solidFill>
                  <a:srgbClr val="168FA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42071" y="396906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68FA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pull</a:t>
              </a:r>
              <a:endParaRPr lang="en-US" sz="1350" b="1" dirty="0">
                <a:solidFill>
                  <a:srgbClr val="168FA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09600" y="2438400"/>
              <a:ext cx="10972800" cy="1809750"/>
              <a:chOff x="609600" y="2438400"/>
              <a:chExt cx="10972800" cy="1809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09600" y="2438400"/>
                <a:ext cx="2114550" cy="1809750"/>
              </a:xfrm>
              <a:prstGeom prst="roundRect">
                <a:avLst>
                  <a:gd name="adj" fmla="val 10526"/>
                </a:avLst>
              </a:prstGeom>
              <a:solidFill>
                <a:schemeClr val="lt2"/>
              </a:solidFill>
              <a:ln w="19050">
                <a:solidFill>
                  <a:srgbClr val="BFD2FA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317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  <a:endPara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28675" y="2997994"/>
                <a:ext cx="7783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工作区</a:t>
                </a:r>
                <a:endPara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1723" y="3348514"/>
                <a:ext cx="11097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Working Tree</a:t>
                </a:r>
                <a:endPara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1342" y="37785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正在编辑的文件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562350" y="2438400"/>
                <a:ext cx="2114550" cy="1809750"/>
              </a:xfrm>
              <a:prstGeom prst="roundRect">
                <a:avLst>
                  <a:gd name="adj" fmla="val 10526"/>
                </a:avLst>
              </a:prstGeom>
              <a:solidFill>
                <a:schemeClr val="lt2"/>
              </a:solidFill>
              <a:ln w="19050">
                <a:solidFill>
                  <a:srgbClr val="BFD2FA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7844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  <a:endPara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781425" y="2997994"/>
                <a:ext cx="7783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暂存区</a:t>
                </a:r>
                <a:endPara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84473" y="3348514"/>
                <a:ext cx="10748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Staging Area</a:t>
                </a:r>
                <a:endPara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784092" y="36833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本次提交准备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784092" y="39309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包含的内容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6515100" y="2438400"/>
                <a:ext cx="2114550" cy="1809750"/>
              </a:xfrm>
              <a:prstGeom prst="roundRect">
                <a:avLst>
                  <a:gd name="adj" fmla="val 10526"/>
                </a:avLst>
              </a:prstGeom>
              <a:solidFill>
                <a:schemeClr val="lt2"/>
              </a:solidFill>
              <a:ln w="19050">
                <a:solidFill>
                  <a:srgbClr val="BFE8ED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7372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03</a:t>
                </a:r>
                <a:endPara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734175" y="2997994"/>
                <a:ext cx="103139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本地仓库</a:t>
                </a:r>
                <a:endPara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737223" y="3348514"/>
                <a:ext cx="141054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Local Repository</a:t>
                </a:r>
                <a:endPara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36842" y="36833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已固化、可恢复的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3684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提交历史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9467850" y="2438400"/>
                <a:ext cx="2114550" cy="1809750"/>
              </a:xfrm>
              <a:prstGeom prst="roundRect">
                <a:avLst>
                  <a:gd name="adj" fmla="val 1052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96899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7EE0CF"/>
                    </a:solidFill>
                    <a:latin typeface="+mn-lt"/>
                    <a:ea typeface="+mn-ea"/>
                    <a:cs typeface="+mn-cs"/>
                  </a:rPr>
                  <a:t>04</a:t>
                </a:r>
                <a:endParaRPr lang="zh-CN" sz="1280" b="1" dirty="0">
                  <a:solidFill>
                    <a:srgbClr val="7EE0C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686925" y="2997994"/>
                <a:ext cx="103139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远程仓库</a:t>
                </a:r>
                <a:endPara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689973" y="3348514"/>
                <a:ext cx="158342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B8C7E0"/>
                    </a:solidFill>
                    <a:latin typeface="+mn-lt"/>
                    <a:ea typeface="+mn-ea"/>
                    <a:cs typeface="+mn-cs"/>
                  </a:rPr>
                  <a:t>Remote Repository</a:t>
                </a:r>
                <a:endParaRPr lang="en-US" sz="1280" dirty="0">
                  <a:solidFill>
                    <a:srgbClr val="B8C7E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689592" y="368331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团队同步与远程</a:t>
                </a:r>
                <a:endPara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68959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备份协作</a:t>
                </a:r>
                <a:endPara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2" name="Rectangle 42"/>
            <p:cNvSpPr/>
            <p:nvPr/>
          </p:nvSpPr>
          <p:spPr>
            <a:xfrm>
              <a:off x="609600" y="4629150"/>
              <a:ext cx="10972800" cy="685800"/>
            </a:xfrm>
            <a:prstGeom prst="roundRect">
              <a:avLst>
                <a:gd name="adj" fmla="val 2222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17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观察状态</a:t>
              </a:r>
              <a:endPara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1723" y="5043964"/>
              <a:ext cx="4966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245FD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status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看位置　·　</a:t>
              </a:r>
              <a:r>
                <a:rPr lang="en-US" sz="1280" dirty="0">
                  <a:solidFill>
                    <a:srgbClr val="245FD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diff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看差异　·　</a:t>
              </a:r>
              <a:r>
                <a:rPr lang="en-US" sz="1280" dirty="0">
                  <a:solidFill>
                    <a:srgbClr val="245FD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log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看历史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609600" y="5638800"/>
            <a:ext cx="10978134" cy="834961"/>
            <a:chOff x="609600" y="5638800"/>
            <a:chExt cx="10978134" cy="834961"/>
          </a:xfrm>
        </p:grpSpPr>
        <p:sp>
          <p:nvSpPr>
            <p:cNvPr id="46" name="Rectangle 46"/>
            <p:cNvSpPr/>
            <p:nvPr/>
          </p:nvSpPr>
          <p:spPr>
            <a:xfrm>
              <a:off x="609600" y="5638800"/>
              <a:ext cx="10972800" cy="533400"/>
            </a:xfrm>
            <a:prstGeom prst="roundRect">
              <a:avLst>
                <a:gd name="adj" fmla="val 28571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1342" y="5826442"/>
              <a:ext cx="457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45FD1"/>
                  </a:solidFill>
                  <a:latin typeface="+mn-lt"/>
                  <a:ea typeface="+mn-ea"/>
                  <a:cs typeface="+mn-cs"/>
                </a:rPr>
                <a:t>暂存区的价值：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先选择“这次要提交什么”，再固化历史。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215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8A2B3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zh-CN" sz="1050" dirty="0">
                <a:solidFill>
                  <a:srgbClr val="98A2B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header"/>
          <p:cNvGrpSpPr/>
          <p:nvPr/>
        </p:nvGrpSpPr>
        <p:grpSpPr>
          <a:xfrm>
            <a:off x="592836" y="462915"/>
            <a:ext cx="10884804" cy="875253"/>
            <a:chOff x="592836" y="462915"/>
            <a:chExt cx="10884804" cy="875253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62915"/>
              <a:ext cx="631499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日常只需掌握一条安全 Git 循环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先看状态和差异，再精确暂存；验证通过后提交，最后推送。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9672066" y="515302"/>
              <a:ext cx="1805574" cy="237173"/>
              <a:chOff x="9672066" y="515302"/>
              <a:chExt cx="1805574" cy="237173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9672066" y="515302"/>
                <a:ext cx="4732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0357866" y="515302"/>
                <a:ext cx="23021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endPara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0776966" y="515302"/>
                <a:ext cx="7006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RESEARCH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10363200" y="723900"/>
                <a:ext cx="247650" cy="28575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</p:grpSp>
      </p:grpSp>
      <p:grpSp>
        <p:nvGrpSpPr>
          <p:cNvPr id="36" name="safe-loop"/>
          <p:cNvGrpSpPr/>
          <p:nvPr/>
        </p:nvGrpSpPr>
        <p:grpSpPr>
          <a:xfrm>
            <a:off x="742950" y="1903571"/>
            <a:ext cx="2949392" cy="3456432"/>
            <a:chOff x="742950" y="1903571"/>
            <a:chExt cx="2949392" cy="3456432"/>
          </a:xfrm>
        </p:grpSpPr>
        <p:sp>
          <p:nvSpPr>
            <p:cNvPr id="10" name="Line 10"/>
            <p:cNvSpPr/>
            <p:nvPr/>
          </p:nvSpPr>
          <p:spPr>
            <a:xfrm>
              <a:off x="914400" y="2114550"/>
              <a:ext cx="1" cy="289560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42950" y="1903571"/>
              <a:ext cx="2949392" cy="3456432"/>
              <a:chOff x="742950" y="1903571"/>
              <a:chExt cx="2949392" cy="3456432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742950" y="19431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58167" y="20340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1011" y="1903571"/>
                <a:ext cx="8555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168FA0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pull</a:t>
                </a:r>
                <a:endParaRPr lang="en-US" sz="1420" b="1" dirty="0">
                  <a:solidFill>
                    <a:srgbClr val="168FA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1773" y="21578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开始前同步远程更新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42950" y="2533650"/>
                <a:ext cx="342900" cy="3429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58167" y="26246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168FA0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280" b="1" dirty="0">
                  <a:solidFill>
                    <a:srgbClr val="168FA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1011" y="2494121"/>
                <a:ext cx="97028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修改并测试</a:t>
                </a:r>
                <a:endPara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1773" y="2748439"/>
                <a:ext cx="208071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完成一个边界清楚的小任务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42950" y="3124200"/>
                <a:ext cx="342900" cy="3429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58167" y="32151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168FA0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280" b="1" dirty="0">
                  <a:solidFill>
                    <a:srgbClr val="168FA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1011" y="3084671"/>
                <a:ext cx="2222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168FA0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status / git diff</a:t>
                </a:r>
                <a:endParaRPr lang="en-US" sz="1420" b="1" dirty="0">
                  <a:solidFill>
                    <a:srgbClr val="168FA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1773" y="33389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确认变更范围与内容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742950" y="3714750"/>
                <a:ext cx="342900" cy="3429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8167" y="38057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168FA0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zh-CN" sz="1280" b="1" dirty="0">
                  <a:solidFill>
                    <a:srgbClr val="168FA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31011" y="3675221"/>
                <a:ext cx="159155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168FA0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add &lt;files&gt;</a:t>
                </a:r>
                <a:endParaRPr lang="en-US" sz="1420" b="1" dirty="0">
                  <a:solidFill>
                    <a:srgbClr val="168FA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31773" y="39295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只暂存当前任务文件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42950" y="4305300"/>
                <a:ext cx="342900" cy="3429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58167" y="43962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168FA0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zh-CN" sz="1280" b="1" dirty="0">
                  <a:solidFill>
                    <a:srgbClr val="168FA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31011" y="4265771"/>
                <a:ext cx="246133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168FA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git commit -m "说明原因"</a:t>
                </a:r>
                <a:endParaRPr lang="zh-CN" sz="1420" b="1" dirty="0">
                  <a:solidFill>
                    <a:srgbClr val="168FA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31773" y="45200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让历史回答为什么改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742950" y="48958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58167" y="49868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  <a:endPara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231011" y="4856321"/>
                <a:ext cx="8555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push</a:t>
                </a:r>
                <a:endParaRPr lang="en-US" sz="142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31773" y="51106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同步到对应远程分支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" name="terminal-example"/>
          <p:cNvGrpSpPr/>
          <p:nvPr/>
        </p:nvGrpSpPr>
        <p:grpSpPr>
          <a:xfrm>
            <a:off x="6343650" y="1695450"/>
            <a:ext cx="5238750" cy="3619500"/>
            <a:chOff x="6343650" y="1695450"/>
            <a:chExt cx="5238750" cy="3619500"/>
          </a:xfrm>
        </p:grpSpPr>
        <p:sp>
          <p:nvSpPr>
            <p:cNvPr id="37" name="Rectangle 37"/>
            <p:cNvSpPr/>
            <p:nvPr/>
          </p:nvSpPr>
          <p:spPr>
            <a:xfrm>
              <a:off x="6343650" y="1695450"/>
              <a:ext cx="5238750" cy="3619500"/>
            </a:xfrm>
            <a:prstGeom prst="roundRect">
              <a:avLst>
                <a:gd name="adj" fmla="val 473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43650" y="1695450"/>
              <a:ext cx="5238750" cy="438150"/>
            </a:xfrm>
            <a:prstGeom prst="roundRect">
              <a:avLst>
                <a:gd name="adj" fmla="val 39130"/>
              </a:avLst>
            </a:prstGeom>
            <a:solidFill>
              <a:srgbClr val="1E2E4D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543675" y="1866900"/>
              <a:ext cx="95250" cy="9525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715125" y="1866900"/>
              <a:ext cx="95250" cy="95250"/>
            </a:xfrm>
            <a:prstGeom prst="ellipse">
              <a:avLst/>
            </a:prstGeom>
            <a:solidFill>
              <a:srgbClr val="FFD166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886575" y="1866900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76135" y="1850231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terminal · experiment-fix</a:t>
              </a:r>
              <a:endParaRPr lang="en-US" sz="1120" dirty="0">
                <a:solidFill>
                  <a:srgbClr val="CCD6E8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6641592" y="2426018"/>
              <a:ext cx="4419295" cy="2321433"/>
              <a:chOff x="6641592" y="2426018"/>
              <a:chExt cx="4419295" cy="2321433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6641592" y="2426018"/>
                <a:ext cx="12131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status</a:t>
                </a:r>
                <a:endParaRPr lang="en-US" sz="135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641592" y="2768918"/>
                <a:ext cx="31123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modified: configs/baseline.yaml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641592" y="3111818"/>
                <a:ext cx="17129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diff --stat</a:t>
                </a:r>
                <a:endParaRPr lang="en-US" sz="135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641592" y="3454718"/>
                <a:ext cx="33122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2 files changed, 18 insertions(+)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641592" y="3797618"/>
                <a:ext cx="4111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add configs/baseline.yaml src/run.m</a:t>
                </a:r>
                <a:endParaRPr lang="en-US" sz="135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641592" y="4140518"/>
                <a:ext cx="44192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7EE0C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commit -m "Fix baseline seed handling"</a:t>
                </a:r>
                <a:endParaRPr lang="en-US" sz="1350" dirty="0">
                  <a:solidFill>
                    <a:srgbClr val="7EE0C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641592" y="4483418"/>
                <a:ext cx="34121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7EE0C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[experiment-fix 6f2a1c9] committed</a:t>
                </a:r>
                <a:endParaRPr lang="en-US" sz="1350" dirty="0">
                  <a:solidFill>
                    <a:srgbClr val="7EE0C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6642354" y="49377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7E0"/>
                  </a:solidFill>
                  <a:latin typeface="+mn-lt"/>
                  <a:ea typeface="+mn-ea"/>
                  <a:cs typeface="+mn-cs"/>
                </a:rPr>
                <a:t>一次提交只讲一件事，审查与回退都会更容易。</a:t>
              </a:r>
              <a:endParaRPr lang="zh-CN" sz="1200" dirty="0">
                <a:solidFill>
                  <a:srgbClr val="B8C7E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risk-warning"/>
          <p:cNvGrpSpPr/>
          <p:nvPr/>
        </p:nvGrpSpPr>
        <p:grpSpPr>
          <a:xfrm>
            <a:off x="609600" y="5562600"/>
            <a:ext cx="10978134" cy="949261"/>
            <a:chOff x="609600" y="5562600"/>
            <a:chExt cx="10978134" cy="949261"/>
          </a:xfrm>
        </p:grpSpPr>
        <p:sp>
          <p:nvSpPr>
            <p:cNvPr id="53" name="Rectangle 53"/>
            <p:cNvSpPr/>
            <p:nvPr/>
          </p:nvSpPr>
          <p:spPr>
            <a:xfrm>
              <a:off x="609600" y="5562600"/>
              <a:ext cx="10972800" cy="647700"/>
            </a:xfrm>
            <a:prstGeom prst="roundRect">
              <a:avLst>
                <a:gd name="adj" fmla="val 23529"/>
              </a:avLst>
            </a:prstGeom>
            <a:solidFill>
              <a:srgbClr val="FFF4E8"/>
            </a:solidFill>
            <a:ln w="9525">
              <a:solidFill>
                <a:srgbClr val="F6C68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31342" y="58169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4B08"/>
                  </a:solidFill>
                  <a:latin typeface="+mn-lt"/>
                  <a:ea typeface="+mn-ea"/>
                  <a:cs typeface="+mn-cs"/>
                </a:rPr>
                <a:t>风险提示：</a:t>
              </a:r>
              <a:r>
                <a:rPr lang="zh-CN" sz="1350" dirty="0">
                  <a:solidFill>
                    <a:srgbClr val="8A4B08"/>
                  </a:solidFill>
                  <a:latin typeface="+mn-lt"/>
                  <a:ea typeface="+mn-ea"/>
                  <a:cs typeface="+mn-cs"/>
                </a:rPr>
                <a:t>未理解影响前，不使用会覆盖历史或丢失修改的强制命令。</a:t>
              </a:r>
              <a:endParaRPr lang="zh-CN" sz="1350" dirty="0">
                <a:solidFill>
                  <a:srgbClr val="8A4B0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421580" y="63065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8A2B3"/>
                  </a:solidFill>
                  <a:latin typeface="+mn-lt"/>
                  <a:ea typeface="+mn-ea"/>
                  <a:cs typeface="+mn-cs"/>
                </a:rPr>
                <a:t>09</a:t>
              </a:r>
              <a:endParaRPr lang="zh-CN" sz="1050" dirty="0">
                <a:solidFill>
                  <a:srgbClr val="98A2B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header"/>
          <p:cNvGrpSpPr/>
          <p:nvPr/>
        </p:nvGrpSpPr>
        <p:grpSpPr>
          <a:xfrm>
            <a:off x="593598" y="479108"/>
            <a:ext cx="10884042" cy="859060"/>
            <a:chOff x="593598" y="479108"/>
            <a:chExt cx="10884042" cy="859060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479108"/>
              <a:ext cx="93500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科研使用 Git：版本应回答“这次实验为什么不同”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把研究假设、代码、配置、验证结果与提交历史连在一起。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9672066" y="515302"/>
              <a:ext cx="1805574" cy="237173"/>
              <a:chOff x="9672066" y="515302"/>
              <a:chExt cx="1805574" cy="237173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9672066" y="515302"/>
                <a:ext cx="4732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0357866" y="515302"/>
                <a:ext cx="23021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endPara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0776966" y="515302"/>
                <a:ext cx="7006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RESEARCH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10363200" y="723900"/>
                <a:ext cx="247650" cy="28575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</p:grpSp>
      </p:grpSp>
      <p:grpSp>
        <p:nvGrpSpPr>
          <p:cNvPr id="38" name="experiment-branches"/>
          <p:cNvGrpSpPr/>
          <p:nvPr/>
        </p:nvGrpSpPr>
        <p:grpSpPr>
          <a:xfrm>
            <a:off x="603123" y="1862614"/>
            <a:ext cx="7263638" cy="3966686"/>
            <a:chOff x="603123" y="1862614"/>
            <a:chExt cx="7263638" cy="3966686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862614"/>
              <a:ext cx="49260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ONE QUESTION · SMALL BRANCHES · EXPLAINABLE MERGE</a:t>
              </a:r>
              <a:endParaRPr lang="en-US" sz="128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914400" y="4095750"/>
              <a:ext cx="6762750" cy="1"/>
            </a:xfrm>
            <a:prstGeom prst="line">
              <a:avLst/>
            </a:prstGeom>
            <a:noFill/>
            <a:ln w="57150" cap="rnd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1809750" y="2857500"/>
              <a:ext cx="571500" cy="1238250"/>
            </a:xfrm>
            <a:custGeom>
              <a:avLst/>
              <a:gdLst/>
              <a:ahLst/>
              <a:cxnLst/>
              <a:rect l="l" t="t" r="r" b="b"/>
              <a:pathLst>
                <a:path w="571500" h="1238250">
                  <a:moveTo>
                    <a:pt x="0" y="123825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381250" y="28575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095750" y="2857500"/>
              <a:ext cx="666750" cy="1238250"/>
            </a:xfrm>
            <a:custGeom>
              <a:avLst/>
              <a:gdLst/>
              <a:ahLst/>
              <a:cxnLst/>
              <a:rect l="l" t="t" r="r" b="b"/>
              <a:pathLst>
                <a:path w="666750" h="1238250">
                  <a:moveTo>
                    <a:pt x="0" y="0"/>
                  </a:moveTo>
                  <a:lnTo>
                    <a:pt x="666750" y="12382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429000" y="33337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76200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095750" y="33337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810250" y="33337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0"/>
                  </a:moveTo>
                  <a:lnTo>
                    <a:pt x="666750" y="7620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048250" y="2381250"/>
              <a:ext cx="666750" cy="1714500"/>
            </a:xfrm>
            <a:custGeom>
              <a:avLst/>
              <a:gdLst/>
              <a:ahLst/>
              <a:cxnLst/>
              <a:rect l="l" t="t" r="r" b="b"/>
              <a:pathLst>
                <a:path w="666750" h="1714500">
                  <a:moveTo>
                    <a:pt x="0" y="171450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715000" y="2381250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700" y="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124700" y="2381250"/>
              <a:ext cx="400050" cy="1714500"/>
            </a:xfrm>
            <a:custGeom>
              <a:avLst/>
              <a:gdLst/>
              <a:ahLst/>
              <a:cxnLst/>
              <a:rect l="l" t="t" r="r" b="b"/>
              <a:pathLst>
                <a:path w="400050" h="1714500">
                  <a:moveTo>
                    <a:pt x="0" y="0"/>
                  </a:moveTo>
                  <a:lnTo>
                    <a:pt x="400050" y="171450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42950" y="2247900"/>
              <a:ext cx="7105650" cy="2019300"/>
              <a:chOff x="742950" y="2247900"/>
              <a:chExt cx="7105650" cy="201930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742950" y="3924300"/>
                <a:ext cx="342900" cy="3429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1714500" y="4000500"/>
                <a:ext cx="190500" cy="1905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3333750" y="4000500"/>
                <a:ext cx="190500" cy="1905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4953000" y="4000500"/>
                <a:ext cx="190500" cy="1905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7505700" y="3924300"/>
                <a:ext cx="342900" cy="3429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3105150" y="2724150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4819650" y="3200400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6343650" y="2247900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rgbClr val="6C8D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742571" y="4339114"/>
              <a:ext cx="800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main 基线</a:t>
              </a:r>
              <a:endPara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99415" y="249126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5FD1"/>
                  </a:solidFill>
                  <a:latin typeface="+mn-lt"/>
                  <a:ea typeface="+mn-ea"/>
                  <a:cs typeface="+mn-cs"/>
                </a:rPr>
                <a:t>实验 A · config-a</a:t>
              </a:r>
              <a:endParaRPr lang="zh-CN" sz="1280" b="1" dirty="0">
                <a:solidFill>
                  <a:srgbClr val="245FD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13915" y="304371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68FA0"/>
                  </a:solidFill>
                  <a:latin typeface="+mn-lt"/>
                  <a:ea typeface="+mn-ea"/>
                  <a:cs typeface="+mn-cs"/>
                </a:rPr>
                <a:t>实验 B · config-b</a:t>
              </a:r>
              <a:endParaRPr lang="zh-CN" sz="1280" b="1" dirty="0">
                <a:solidFill>
                  <a:srgbClr val="168FA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37915" y="201501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4C68CC"/>
                  </a:solidFill>
                  <a:latin typeface="+mn-lt"/>
                  <a:ea typeface="+mn-ea"/>
                  <a:cs typeface="+mn-cs"/>
                </a:rPr>
                <a:t>实验 C · config-c</a:t>
              </a:r>
              <a:endParaRPr lang="zh-CN" sz="1280" b="1" dirty="0">
                <a:solidFill>
                  <a:srgbClr val="4C68C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92239" y="43391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68FA0"/>
                  </a:solidFill>
                  <a:latin typeface="+mn-lt"/>
                  <a:ea typeface="+mn-ea"/>
                  <a:cs typeface="+mn-cs"/>
                </a:rPr>
                <a:t>验证后合并</a:t>
              </a:r>
              <a:endParaRPr lang="zh-CN" sz="1280" b="1" dirty="0">
                <a:solidFill>
                  <a:srgbClr val="168FA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9600" y="4857750"/>
              <a:ext cx="7239000" cy="971550"/>
            </a:xfrm>
            <a:prstGeom prst="roundRect">
              <a:avLst>
                <a:gd name="adj" fmla="val 1764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1342" y="5054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一个提交应同时指向三类证据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1342" y="5378768"/>
              <a:ext cx="5484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代码与配置变化　·　环境与数据获取说明　·　指标摘要或结果索引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track-ignore"/>
          <p:cNvGrpSpPr/>
          <p:nvPr/>
        </p:nvGrpSpPr>
        <p:grpSpPr>
          <a:xfrm>
            <a:off x="8153400" y="1714500"/>
            <a:ext cx="3429000" cy="4114800"/>
            <a:chOff x="8153400" y="1714500"/>
            <a:chExt cx="3429000" cy="4114800"/>
          </a:xfrm>
        </p:grpSpPr>
        <p:sp>
          <p:nvSpPr>
            <p:cNvPr id="39" name="Rectangle 39"/>
            <p:cNvSpPr/>
            <p:nvPr/>
          </p:nvSpPr>
          <p:spPr>
            <a:xfrm>
              <a:off x="8153400" y="1714500"/>
              <a:ext cx="3429000" cy="1924050"/>
            </a:xfrm>
            <a:prstGeom prst="roundRect">
              <a:avLst>
                <a:gd name="adj" fmla="val 9901"/>
              </a:avLst>
            </a:prstGeom>
            <a:solidFill>
              <a:srgbClr val="EAF8F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73618" y="191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8FA0"/>
                  </a:solidFill>
                  <a:latin typeface="+mn-lt"/>
                  <a:ea typeface="+mn-ea"/>
                  <a:cs typeface="+mn-cs"/>
                </a:rPr>
                <a:t>应该追踪</a:t>
              </a:r>
              <a:endParaRPr lang="zh-CN" sz="1650" b="1" dirty="0">
                <a:solidFill>
                  <a:srgbClr val="168FA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75142" y="2311718"/>
              <a:ext cx="1613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源代码与评估脚本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75142" y="2635568"/>
              <a:ext cx="1431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配置与环境依赖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75142" y="295941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数据获取说明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5142" y="328326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图表生成方法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153400" y="3829050"/>
              <a:ext cx="3429000" cy="200025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73618" y="40319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应该忽略或外部管理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75142" y="4426268"/>
              <a:ext cx="1976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密钥、缓存与临时文件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75142" y="475011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大型原始数据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75142" y="5073968"/>
              <a:ext cx="179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可由脚本重建的输出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75904" y="5471160"/>
              <a:ext cx="3083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结果目录保留 README、指标摘要或索引。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603885" y="6184106"/>
            <a:ext cx="10983849" cy="220028"/>
            <a:chOff x="603885" y="6184106"/>
            <a:chExt cx="10983849" cy="220028"/>
          </a:xfrm>
        </p:grpSpPr>
        <p:sp>
          <p:nvSpPr>
            <p:cNvPr id="52" name="TextBox 52"/>
            <p:cNvSpPr txBox="1"/>
            <p:nvPr/>
          </p:nvSpPr>
          <p:spPr>
            <a:xfrm>
              <a:off x="603885" y="618410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分支不是越多越好：一个研究假设或修复，对应一个短而清楚的分支。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421580" y="6192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8A2B3"/>
                  </a:solidFill>
                  <a:latin typeface="+mn-lt"/>
                  <a:ea typeface="+mn-ea"/>
                  <a:cs typeface="+mn-cs"/>
                </a:rPr>
                <a:t>10</a:t>
              </a:r>
              <a:endParaRPr lang="zh-CN" sz="1050" dirty="0">
                <a:solidFill>
                  <a:srgbClr val="98A2B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header"/>
          <p:cNvGrpSpPr/>
          <p:nvPr/>
        </p:nvGrpSpPr>
        <p:grpSpPr>
          <a:xfrm>
            <a:off x="592836" y="462915"/>
            <a:ext cx="10894314" cy="875253"/>
            <a:chOff x="592836" y="462915"/>
            <a:chExt cx="10894314" cy="875253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62915"/>
              <a:ext cx="849971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Codex 负责执行，Git 负责建立可信检查点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713401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产生变化之前先有基线；变化之后必须有 diff、验证证据和可恢复提交。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9672066" y="515302"/>
              <a:ext cx="1815084" cy="237173"/>
              <a:chOff x="9672066" y="515302"/>
              <a:chExt cx="1815084" cy="237173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9672066" y="515302"/>
                <a:ext cx="4732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0357866" y="515302"/>
                <a:ext cx="23021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0776966" y="515302"/>
                <a:ext cx="7006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RESEARCH</a:t>
                </a:r>
                <a:endPara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10782300" y="723900"/>
                <a:ext cx="704850" cy="2857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49" name="trusted-research-loop"/>
          <p:cNvGrpSpPr/>
          <p:nvPr/>
        </p:nvGrpSpPr>
        <p:grpSpPr>
          <a:xfrm>
            <a:off x="609600" y="1771650"/>
            <a:ext cx="10972800" cy="3505200"/>
            <a:chOff x="609600" y="1771650"/>
            <a:chExt cx="10972800" cy="3505200"/>
          </a:xfrm>
        </p:grpSpPr>
        <p:sp>
          <p:nvSpPr>
            <p:cNvPr id="10" name="Line 10"/>
            <p:cNvSpPr/>
            <p:nvPr/>
          </p:nvSpPr>
          <p:spPr>
            <a:xfrm>
              <a:off x="3467100" y="228600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7162800" y="228600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9429750" y="2800350"/>
              <a:ext cx="1" cy="142875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 flipH="1">
              <a:off x="7162800" y="4762500"/>
              <a:ext cx="8382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 flipH="1">
              <a:off x="3467100" y="4762500"/>
              <a:ext cx="8382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09600" y="1771650"/>
              <a:ext cx="10972800" cy="3505200"/>
              <a:chOff x="609600" y="1771650"/>
              <a:chExt cx="10972800" cy="35052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09600" y="1771650"/>
                <a:ext cx="2857500" cy="1028700"/>
              </a:xfrm>
              <a:prstGeom prst="roundRect">
                <a:avLst>
                  <a:gd name="adj" fmla="val 18519"/>
                </a:avLst>
              </a:prstGeom>
              <a:solidFill>
                <a:schemeClr val="lt2"/>
              </a:solidFill>
              <a:ln w="19050">
                <a:solidFill>
                  <a:srgbClr val="BFD2FA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762000" y="192405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77217" y="2024539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11199" y="1944529"/>
                <a:ext cx="19302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人：定义任务与标准</a:t>
                </a:r>
                <a:endPara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31723" y="2367439"/>
                <a:ext cx="213241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目标 · 相关文件 · 验收条件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4305300" y="1771650"/>
                <a:ext cx="2857500" cy="1028700"/>
              </a:xfrm>
              <a:prstGeom prst="roundRect">
                <a:avLst>
                  <a:gd name="adj" fmla="val 18519"/>
                </a:avLst>
              </a:prstGeom>
              <a:solidFill>
                <a:schemeClr val="lt2"/>
              </a:solidFill>
              <a:ln w="19050">
                <a:solidFill>
                  <a:srgbClr val="BFE8ED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457700" y="192405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572917" y="2024539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906899" y="1944529"/>
                <a:ext cx="182346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Git：建立干净基线</a:t>
                </a:r>
                <a:endPara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527423" y="2367439"/>
                <a:ext cx="213241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状态清楚 · 可比较 · 可回退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8001000" y="1771650"/>
                <a:ext cx="3581400" cy="1028700"/>
              </a:xfrm>
              <a:prstGeom prst="roundRect">
                <a:avLst>
                  <a:gd name="adj" fmla="val 18519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8153400" y="192405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268617" y="2024539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602599" y="1944529"/>
                <a:ext cx="297682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Codex：分析、修改、运行检查</a:t>
                </a:r>
                <a:endPara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223123" y="2367439"/>
                <a:ext cx="264935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B8C7E0"/>
                    </a:solidFill>
                    <a:latin typeface="+mn-lt"/>
                    <a:ea typeface="+mn-ea"/>
                    <a:cs typeface="+mn-cs"/>
                  </a:rPr>
                  <a:t>项目上下文 · 最小变更 · 验证结果</a:t>
                </a:r>
                <a:endParaRPr lang="zh-CN" sz="1280" dirty="0">
                  <a:solidFill>
                    <a:srgbClr val="B8C7E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8001000" y="4248150"/>
                <a:ext cx="3581400" cy="1028700"/>
              </a:xfrm>
              <a:prstGeom prst="roundRect">
                <a:avLst>
                  <a:gd name="adj" fmla="val 18519"/>
                </a:avLst>
              </a:prstGeom>
              <a:solidFill>
                <a:schemeClr val="lt2"/>
              </a:solidFill>
              <a:ln w="19050">
                <a:solidFill>
                  <a:srgbClr val="BFD2FA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8153400" y="440055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268617" y="4501039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602599" y="4421029"/>
                <a:ext cx="264550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人：审查 diff、结果与风险</a:t>
                </a:r>
                <a:endPara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223123" y="4843939"/>
                <a:ext cx="173609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决定保留、修正或回退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4305300" y="4248150"/>
                <a:ext cx="2857500" cy="1028700"/>
              </a:xfrm>
              <a:prstGeom prst="roundRect">
                <a:avLst>
                  <a:gd name="adj" fmla="val 18519"/>
                </a:avLst>
              </a:prstGeom>
              <a:solidFill>
                <a:schemeClr val="lt2"/>
              </a:solidFill>
              <a:ln w="19050">
                <a:solidFill>
                  <a:srgbClr val="BFE8ED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4457700" y="440055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572917" y="4501039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906899" y="4421029"/>
                <a:ext cx="161076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Git：提交并推送</a:t>
                </a:r>
                <a:endPara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527423" y="48439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只提交当前任务文件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609600" y="4248150"/>
                <a:ext cx="2857500" cy="1028700"/>
              </a:xfrm>
              <a:prstGeom prst="roundRect">
                <a:avLst>
                  <a:gd name="adj" fmla="val 18519"/>
                </a:avLst>
              </a:prstGeom>
              <a:solidFill>
                <a:srgbClr val="EAF8FA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762000" y="44005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77217" y="4501039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  <a:endPara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211199" y="4421029"/>
                <a:ext cx="129220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记录结果来源</a:t>
                </a:r>
                <a:endPara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31723" y="4843939"/>
                <a:ext cx="230472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提交号 → 实验记录 → 论文图表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6" name="Rectangle 46"/>
            <p:cNvSpPr/>
            <p:nvPr/>
          </p:nvSpPr>
          <p:spPr>
            <a:xfrm>
              <a:off x="2286000" y="3181350"/>
              <a:ext cx="7620000" cy="685800"/>
            </a:xfrm>
            <a:prstGeom prst="roundRect">
              <a:avLst>
                <a:gd name="adj" fmla="val 27778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996742" y="3332321"/>
              <a:ext cx="61985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45FD1"/>
                  </a:solidFill>
                  <a:latin typeface="+mn-lt"/>
                  <a:ea typeface="+mn-ea"/>
                  <a:cs typeface="+mn-cs"/>
                </a:rPr>
                <a:t>可信变化 = clean baseline + diff + verification evidence + commit</a:t>
              </a:r>
              <a:endParaRPr lang="zh-CN" sz="1420" b="1" dirty="0">
                <a:solidFill>
                  <a:srgbClr val="245FD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62329" y="3604260"/>
              <a:ext cx="4667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Codex 提高执行效率，Git 把每一步变成可检查、可恢复的事实。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603885" y="6184106"/>
            <a:ext cx="10983849" cy="220028"/>
            <a:chOff x="603885" y="6184106"/>
            <a:chExt cx="10983849" cy="220028"/>
          </a:xfrm>
        </p:grpSpPr>
        <p:sp>
          <p:nvSpPr>
            <p:cNvPr id="50" name="TextBox 50"/>
            <p:cNvSpPr txBox="1"/>
            <p:nvPr/>
          </p:nvSpPr>
          <p:spPr>
            <a:xfrm>
              <a:off x="603885" y="6184106"/>
              <a:ext cx="48085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角色分工：人负责目标与判断，Codex 负责执行，Git 负责历史与证据。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421580" y="6192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8A2B3"/>
                  </a:solidFill>
                  <a:latin typeface="+mn-lt"/>
                  <a:ea typeface="+mn-ea"/>
                  <a:cs typeface="+mn-cs"/>
                </a:rPr>
                <a:t>11</a:t>
              </a:r>
              <a:endParaRPr lang="zh-CN" sz="1050" dirty="0">
                <a:solidFill>
                  <a:srgbClr val="98A2B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header"/>
          <p:cNvGrpSpPr/>
          <p:nvPr/>
        </p:nvGrpSpPr>
        <p:grpSpPr>
          <a:xfrm>
            <a:off x="592836" y="462915"/>
            <a:ext cx="10894314" cy="875253"/>
            <a:chOff x="592836" y="462915"/>
            <a:chExt cx="10894314" cy="875253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62915"/>
              <a:ext cx="8300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三条规则，把 AI 辅助编程变成可复现科研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9796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每次任务结束，都留下可运行的变化、验证证据和 Git 检查点。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9672066" y="515302"/>
              <a:ext cx="1815084" cy="237173"/>
              <a:chOff x="9672066" y="515302"/>
              <a:chExt cx="1815084" cy="237173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9672066" y="515302"/>
                <a:ext cx="4732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0357866" y="515302"/>
                <a:ext cx="23021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8A2B3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endParaRPr lang="en-US" sz="1050" b="1" dirty="0">
                  <a:solidFill>
                    <a:srgbClr val="98A2B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0776966" y="515302"/>
                <a:ext cx="7006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RESEARCH</a:t>
                </a:r>
                <a:endPara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10782300" y="723900"/>
                <a:ext cx="704850" cy="2857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28" name="three-rules"/>
          <p:cNvGrpSpPr/>
          <p:nvPr/>
        </p:nvGrpSpPr>
        <p:grpSpPr>
          <a:xfrm>
            <a:off x="609600" y="1885950"/>
            <a:ext cx="7239000" cy="3905250"/>
            <a:chOff x="609600" y="1885950"/>
            <a:chExt cx="7239000" cy="3905250"/>
          </a:xfrm>
        </p:grpSpPr>
        <p:sp>
          <p:nvSpPr>
            <p:cNvPr id="10" name="Line 10"/>
            <p:cNvSpPr/>
            <p:nvPr/>
          </p:nvSpPr>
          <p:spPr>
            <a:xfrm>
              <a:off x="1123950" y="203835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62000" y="1885950"/>
              <a:ext cx="6858000" cy="3276600"/>
              <a:chOff x="762000" y="1885950"/>
              <a:chExt cx="6858000" cy="327660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762000" y="1885950"/>
                <a:ext cx="723900" cy="723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37598" y="2119312"/>
                <a:ext cx="372704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  <a:endPara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703070" y="1890712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任务要小</a:t>
                </a:r>
                <a:endPara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707642" y="2311718"/>
                <a:ext cx="32849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说明目标、范围、相关文件与完成标准。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1714500" y="272415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762000" y="3162300"/>
                <a:ext cx="723900" cy="723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37598" y="3395662"/>
                <a:ext cx="372704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  <a:endPara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703070" y="3167062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结果要验</a:t>
                </a:r>
                <a:endPara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707642" y="3588068"/>
                <a:ext cx="44208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看 diff、跑测试、核对数据与图表；生成不等于正确。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1714500" y="40005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762000" y="4438650"/>
                <a:ext cx="723900" cy="72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37598" y="4672012"/>
                <a:ext cx="372704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  <a:endPara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703070" y="4443412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历史要清</a:t>
                </a:r>
                <a:endPara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707642" y="4864418"/>
                <a:ext cx="43754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只提交当前任务文件，说明原因，推送并记录提交号。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6" name="Rectangle 26"/>
            <p:cNvSpPr/>
            <p:nvPr/>
          </p:nvSpPr>
          <p:spPr>
            <a:xfrm>
              <a:off x="609600" y="5410200"/>
              <a:ext cx="7239000" cy="381000"/>
            </a:xfrm>
            <a:prstGeom prst="roundRect">
              <a:avLst>
                <a:gd name="adj" fmla="val 30000"/>
              </a:avLst>
            </a:prstGeom>
            <a:solidFill>
              <a:srgbClr val="EAF2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4004" y="5528310"/>
              <a:ext cx="38282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5FD1"/>
                  </a:solidFill>
                  <a:latin typeface="+mn-lt"/>
                  <a:ea typeface="+mn-ea"/>
                  <a:cs typeface="+mn-cs"/>
                </a:rPr>
                <a:t>小任务 + 可验证结果 + 清楚历史 = 可复现的日常习惯</a:t>
              </a:r>
              <a:endParaRPr lang="zh-CN" sz="1200" b="1" dirty="0">
                <a:solidFill>
                  <a:srgbClr val="245FD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final-checklist"/>
          <p:cNvGrpSpPr/>
          <p:nvPr/>
        </p:nvGrpSpPr>
        <p:grpSpPr>
          <a:xfrm>
            <a:off x="8229600" y="1676400"/>
            <a:ext cx="3352800" cy="4114800"/>
            <a:chOff x="8229600" y="1676400"/>
            <a:chExt cx="3352800" cy="4114800"/>
          </a:xfrm>
        </p:grpSpPr>
        <p:sp>
          <p:nvSpPr>
            <p:cNvPr id="29" name="Rectangle 29"/>
            <p:cNvSpPr/>
            <p:nvPr/>
          </p:nvSpPr>
          <p:spPr>
            <a:xfrm>
              <a:off x="8229600" y="1676400"/>
              <a:ext cx="3352800" cy="4114800"/>
            </a:xfrm>
            <a:prstGeom prst="roundRect">
              <a:avLst>
                <a:gd name="adj" fmla="val 681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89442" y="1949768"/>
              <a:ext cx="11125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7EB0FF"/>
                  </a:solidFill>
                  <a:latin typeface="+mn-lt"/>
                  <a:ea typeface="+mn-ea"/>
                  <a:cs typeface="+mn-cs"/>
                </a:rPr>
                <a:t>TASK DONE?</a:t>
              </a:r>
              <a:endParaRPr lang="en-US" sz="1350" b="1" dirty="0">
                <a:solidFill>
                  <a:srgbClr val="7EB0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86013" y="2276951"/>
              <a:ext cx="24679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结束前检查三样东西</a:t>
              </a:r>
              <a:endParaRPr lang="zh-CN" sz="20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8496300" y="2895600"/>
              <a:ext cx="1554251" cy="1305973"/>
              <a:chOff x="8496300" y="2895600"/>
              <a:chExt cx="1554251" cy="1305973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8496300" y="2895600"/>
                <a:ext cx="266700" cy="26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538743" y="2956560"/>
                <a:ext cx="18181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✓</a:t>
                </a:r>
                <a:endPara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889111" y="2932271"/>
                <a:ext cx="116144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可运行的变化</a:t>
                </a:r>
                <a:endPara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8496300" y="3390900"/>
                <a:ext cx="266700" cy="26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538743" y="3451860"/>
                <a:ext cx="18181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✓</a:t>
                </a:r>
                <a:endPara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889111" y="3427571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验证证据</a:t>
                </a:r>
                <a:endPara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8496300" y="3886200"/>
                <a:ext cx="266700" cy="26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538743" y="3947160"/>
                <a:ext cx="18181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✓</a:t>
                </a:r>
                <a:endPara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889111" y="3922871"/>
                <a:ext cx="91906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Git 检查点</a:t>
                </a:r>
                <a:endPara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2" name="Line 42"/>
            <p:cNvSpPr/>
            <p:nvPr/>
          </p:nvSpPr>
          <p:spPr>
            <a:xfrm>
              <a:off x="8496300" y="44196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3347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89823" y="46248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7EE0CF"/>
                  </a:solidFill>
                  <a:latin typeface="+mn-lt"/>
                  <a:ea typeface="+mn-ea"/>
                  <a:cs typeface="+mn-cs"/>
                </a:rPr>
                <a:t>立即实践</a:t>
              </a:r>
              <a:endParaRPr lang="zh-CN" sz="1280" b="1" dirty="0">
                <a:solidFill>
                  <a:srgbClr val="7EE0C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89823" y="49296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选择一个现有科研脚本，</a:t>
              </a:r>
              <a:endParaRPr lang="zh-CN" sz="128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89823" y="5196364"/>
              <a:ext cx="26645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 Codex 做一个可验证的小改动，</a:t>
              </a:r>
              <a:endParaRPr lang="zh-CN" sz="128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89823" y="5463064"/>
              <a:ext cx="17425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再用 Git 完成检查点。</a:t>
              </a:r>
              <a:endParaRPr lang="zh-CN" sz="128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closing"/>
          <p:cNvGrpSpPr/>
          <p:nvPr/>
        </p:nvGrpSpPr>
        <p:grpSpPr>
          <a:xfrm>
            <a:off x="602742" y="6178868"/>
            <a:ext cx="10984992" cy="264033"/>
            <a:chOff x="602742" y="6178868"/>
            <a:chExt cx="1098499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602742" y="617886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可复现不是最后补文档，而是每次任务结束时留下证据。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421580" y="62112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8A2B3"/>
                  </a:solidFill>
                  <a:latin typeface="+mn-lt"/>
                  <a:ea typeface="+mn-ea"/>
                  <a:cs typeface="+mn-cs"/>
                </a:rPr>
                <a:t>12</a:t>
              </a:r>
              <a:endParaRPr lang="zh-CN" sz="1050" dirty="0">
                <a:solidFill>
                  <a:srgbClr val="98A2B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codex_git_research_workflow">
  <a:themeElements>
    <a:clrScheme name="codex_git_research_workflow">
      <a:dk1>
        <a:srgbClr val="1D2939"/>
      </a:dk1>
      <a:lt1>
        <a:srgbClr val="F6F8FB"/>
      </a:lt1>
      <a:dk2>
        <a:srgbClr val="1F497D"/>
      </a:dk2>
      <a:lt2>
        <a:srgbClr val="FFFFFF"/>
      </a:lt2>
      <a:accent1>
        <a:srgbClr val="14213D"/>
      </a:accent1>
      <a:accent2>
        <a:srgbClr val="377DFF"/>
      </a:accent2>
      <a:accent3>
        <a:srgbClr val="20B8CD"/>
      </a:accent3>
      <a:accent4>
        <a:srgbClr val="14213D"/>
      </a:accent4>
      <a:accent5>
        <a:srgbClr val="667085"/>
      </a:accent5>
      <a:accent6>
        <a:srgbClr val="D9E1EC"/>
      </a:accent6>
      <a:hlink>
        <a:srgbClr val="377DFF"/>
      </a:hlink>
      <a:folHlink>
        <a:srgbClr val="20B8CD"/>
      </a:folHlink>
    </a:clrScheme>
    <a:fontScheme name="codex_git_research_workflow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_git_research_workfl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dex_git_research_workflow">
  <a:themeElements>
    <a:clrScheme name="codex_git_research_workflow">
      <a:dk1>
        <a:srgbClr val="1D2939"/>
      </a:dk1>
      <a:lt1>
        <a:srgbClr val="F6F8FB"/>
      </a:lt1>
      <a:dk2>
        <a:srgbClr val="1F497D"/>
      </a:dk2>
      <a:lt2>
        <a:srgbClr val="FFFFFF"/>
      </a:lt2>
      <a:accent1>
        <a:srgbClr val="14213D"/>
      </a:accent1>
      <a:accent2>
        <a:srgbClr val="377DFF"/>
      </a:accent2>
      <a:accent3>
        <a:srgbClr val="20B8CD"/>
      </a:accent3>
      <a:accent4>
        <a:srgbClr val="14213D"/>
      </a:accent4>
      <a:accent5>
        <a:srgbClr val="667085"/>
      </a:accent5>
      <a:accent6>
        <a:srgbClr val="D9E1EC"/>
      </a:accent6>
      <a:hlink>
        <a:srgbClr val="377DFF"/>
      </a:hlink>
      <a:folHlink>
        <a:srgbClr val="20B8CD"/>
      </a:folHlink>
    </a:clrScheme>
    <a:fontScheme name="codex_git_research_workflow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_git_research_workfl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3567</Words>
  <Application>WPS 演示</Application>
  <PresentationFormat>On-screen Show (16:9)</PresentationFormat>
  <Paragraphs>596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Consolas</vt:lpstr>
      <vt:lpstr>微软雅黑</vt:lpstr>
      <vt:lpstr>Arial Unicode MS</vt:lpstr>
      <vt:lpstr>codex_git_research_workflow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qzuser</cp:lastModifiedBy>
  <cp:revision>2</cp:revision>
  <dcterms:created xsi:type="dcterms:W3CDTF">2026-09-20T10:55:00Z</dcterms:created>
  <dcterms:modified xsi:type="dcterms:W3CDTF">2026-09-21T03:37:01Z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9E818E9284AB40EDA6EF57FAD807881A_12</vt:lpwstr>
  </property>
</Properties>
</file>