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这次汇报不把 Codex、VS Code 和 Git 当作三个零散工具，而是把它们串成一条从想法到可复现结果的工作路径。Codex 负责理解任务并执行修改，VS Code 提供观察代码、终端和差异的工作区，Git 负责记录、比较与恢复。我们会先讲 Codex，再讲 Git，最后把两者组合成科研工作流。衡量这套工具链的标准不是代码产生得多快，而是研究结果是否更可靠、更容易复查。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用同一个 MATLAB 任务看，两者的差别会更直观。如果我在普通 ChatGPT 对话中问“扩展卡尔曼滤波是什么，给一段示例代码”，通常得到的是原理说明和参考代码。接下来还要由我判断代码能否用于当前项目，把它放到合适的位置并运行验证。交给 Codex 的任务可以更具体：请它读当前工程，找到定位模块里的状态更新函数，在保持输入输出接口不变的前提下修改文件、补充测试，再说明修改了哪些文件以及测试结果。Codex 能进入授权范围内的真实项目执行这些步骤，也能查看 Git 差异。但这不等于改动自动正确，最后仍要由人检查代码和验证结果。这里的表述依据《Codex 是什么与基本使用教程》第一部分第 1、2 小节。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的价值不只是补出一段代码，而是围绕任务完成一个可验证的闭环。它从明确目标开始，读取项目和规则，拆解计划，修改文件，运行测试或检查，再审查差异并汇报结果。如果验证失败，就回到修改环节，而不是把未验证的代码直接交付。右侧的状态窗口强调了最终应看到的证据：测试通过、变更文件清楚，而且差异已经准备好供人审查。人在入口确认范围，在出口核对风险、证据和完成标准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Codex 项目没有一种神秘或唯一的目录格式，关键是让人和工具都能迅速定位规则、实现与验证。项目根目录里，AGENTS.md 说明执行约束，README.md 提供入口，src 放实现，tests 放可重复检查。configs、data、results 和 docs 分别管理参数、数据约定、输出与方法记录。依赖文件用于锁定环境，.gitignore 则排除密钥、缓存、大型原始数据和可以重新生成的文件。目录结构的目的不是显得专业，而是让规则是什么、代码在哪、怎样运行、如何验证和结果放哪都能被快速回答。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当项目规则稳定后，不必在每次对话里重新解释。AGENTS.md 适合记录测试命令、目录约定、提交规则、禁止事项和必要的领域背景，它回答的是这个项目始终应该怎么做。Skill 则把边界清楚、会重复出现的多步骤方法封装起来，核心是 SKILL.md，也可以配套脚本、参考资料和资源。Codex 执行任务时，一边遵守项目规则，一边在适用时调用可复用流程。接下来分别展开这两种机制，并给出可以直接迁移到科研项目中的示例。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AGENTS.md 可以理解为项目内长期有效的“协作说明书”，Codex 会在开始工作前读取它。全局文件适合放个人通用习惯，仓库根目录适合放整个项目的规则，更深目录中的文件则补充局部约束；从项目根目录到当前工作目录的规则会依次合并，位置越近的说明越具体。内容应优先写成可以执行和检查的规则，例如入口命令、测试方式、禁止修改的目录以及交付要求。临时任务、一次性背景和密钥不适合放进长期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这份示例把科研项目中容易口头遗漏的约定写成了明确规则。它先说明 MATLAB 版本和程序入口，再要求修改前检查 Git 状态、只处理当前任务文件、不要改动原始数据，最后规定必须运行的测试和汇报内容。好的 AGENTS.md 不追求面面俱到，而是做到具体、可执行、可验证。项目成员和 Codex 因而能用同一套标准判断任务是否真正完成。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Skill 是针对某一类任务的可复用工作手册，一个技能目录至少包含 SKILL.md，也可以配套脚本、参考资料和素材。Codex 通常先看到技能的名称和描述，判断任务匹配后再加载完整说明，这样既能复用专业流程，又不会把所有细节一次性塞进上下文。项目级技能可以放在 .agents/skills 下，通过美元符号加技能名显式调用，也可以依靠描述自动匹配。AGENTS.md 管整个项目的长期规则，Skill 则服务于边界清楚、会反复出现的具体任务。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这里把“实验结果复核”封装成一个最小技能。SKILL.md 用名称和描述说明什么时候使用，再规定读取配置、记录 Git 提交号、最小复现实验、比较指标和生成摘要的顺序，并明确禁止覆盖原始数据或跳过失败结果。使用时可以显式输入技能名和实验目录，也可以让 Codex 根据任务描述自动匹配。这样，同一套复核步骤能在不同实验和不同成员之间重复执行，输出也更容易比较。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第一次在 VS Code 中使用 Codex，可以沿着三步完成。先安装或启用扩展、登录账号，并打开真实项目；然后打开 Codex 侧边栏，用目标、范围和完成标准描述任务；最后引用相关文件、选区或报错，让上下文足够精确。任务完成后，不只看一段摘要，还要检查差异和测试结果。对于真实科研项目，建议在任务前后建立 Git 检查点，这样每一次 AI 修改都有基线、有证据，也能够恢复。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Git 是分布式版本控制工具，而 GitHub 或 GitLab 是远程托管与协作平台，两者不能混为一谈。集中式版本控制依赖中心仓库，分布式 Git 的每个完整克隆都带有项目历史，因此即使没有网络，也能在本地提交、查看历史和比较版本。一次提交保存的是某一时刻的项目状态以及与父提交的关系，不是把整个文件夹随手复制一份。这也是 Git 能够可靠比较、分支、合并和恢复的基础。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理解 Git 的关键，是知道文件当前位于哪一个位置。工作区是正在编辑的文件，git add 把选中的变化送到暂存区，暂存区决定本次提交包含什么。git commit 再把这批内容固化为本地仓库中的历史，只有 git push 和 git pull 才涉及远程仓库的同步。平时用 git status 看状态，用 git diff 看具体差异，用 git log 看历史。暂存区最重要的价值，是先选择这一次要提交什么，再生成一个清楚的检查点。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日常操作不需要记住大量命令，只要坚持一条安全循环。开始前用 git pull 同步更新，完成一个边界清楚的小修改并测试，然后用 git status 和 git diff 检查范围。接着只用 git add 暂存当前任务相关文件，用提交信息说明为什么改变，最后 git push 到对应远程分支。右侧终端示例显示了一次可解释的小提交：配置和代码变化明确，提交信息也能说明原因。没有理解影响之前，不要使用会覆盖历史或丢失修改的强制命令。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科研项目里的版本历史，应该帮助我们回答这次实验为什么与上一次不同。一个研究假设或修复可以对应一个短分支，在分支中同时修改代码和配置，验证后再合并。提交应能关联代码与配置变化、环境和数据获取说明，以及指标摘要或结果索引。源代码、配置、依赖、评估脚本和图表生成方法适合追踪；密钥、缓存、临时文件、大型原始数据和可重新生成的输出应忽略或交给专门机制管理。结果目录可以保留 README、指标摘要或索引，让提交真正指向实验记录。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 Codex 和 Git 结合起来时，人的判断位于流程的入口和出口。首先定义任务、相关文件与验收条件，再确认 Git 基线干净且可恢复。Codex 在这个上下文中分析、修改并运行检查，人随后审查差异、结果与风险，决定保留、修正还是回退。通过后，只提交当前任务文件并推送，最后把提交号写进实验记录、论文图表来源或结果索引。可信变化可以概括为干净基线、清楚差异、验证证据和可恢复提交，Codex 提高执行效率，Git 把变化固化为事实。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只需要记住三条最低实践。第一，任务要小，要说明目标、范围、相关文件和完成标准；第二，结果要验，要看差异、跑测试并核对数据和图表，不能把生成了当成正确了；第三，历史要清，只提交当前任务文件，说明修改原因，推送并记录提交号。每次结束前检查是否留下了可运行的变化、验证证据和 Git 检查点。可以从一个现有科研脚本开始，让 Codex 完成一个可验证的小改动，再用 Git 建立检查点，把这套方法真正用起来。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dex_git_semina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learn.chatgpt.com/docs/build-skills" TargetMode="External"/><Relationship Id="rId1" Type="http://schemas.openxmlformats.org/officeDocument/2006/relationships/hyperlink" Target="https://learn.chatgpt.com/docs/agent-configuration/agents-md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jishuzhan.net/article/2053301309797892098" TargetMode="External"/><Relationship Id="rId1" Type="http://schemas.openxmlformats.org/officeDocument/2006/relationships/hyperlink" Target="https://learn.chatgpt.com/docs/agent-configuration/agents-m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jishuzhan.net/article/2053301309797892098" TargetMode="Externa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jishuzhan.net/article/2053301309797892098" TargetMode="External"/><Relationship Id="rId1" Type="http://schemas.openxmlformats.org/officeDocument/2006/relationships/hyperlink" Target="https://learn.chatgpt.com/docs/build-skill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codexguide.ai/start/13-ide-vscode.html" TargetMode="External"/><Relationship Id="rId4" Type="http://schemas.openxmlformats.org/officeDocument/2006/relationships/hyperlink" Target="https://learn.chatgpt.com/docs/codex/ide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runoob.com/git/git-tutorial.html" TargetMode="Externa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ver-label"/>
          <p:cNvGrpSpPr/>
          <p:nvPr/>
        </p:nvGrpSpPr>
        <p:grpSpPr>
          <a:xfrm>
            <a:off x="831342" y="825818"/>
            <a:ext cx="10529316" cy="264033"/>
            <a:chOff x="831342" y="825818"/>
            <a:chExt cx="105293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831342" y="825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课题组方法交流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647255" y="825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2026.09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819150" y="2404110"/>
            <a:ext cx="6229140" cy="1682115"/>
            <a:chOff x="819150" y="2404110"/>
            <a:chExt cx="6229140" cy="1682115"/>
          </a:xfrm>
        </p:grpSpPr>
        <p:sp>
          <p:nvSpPr>
            <p:cNvPr id="5" name="TextBox 5"/>
            <p:cNvSpPr txBox="1"/>
            <p:nvPr/>
          </p:nvSpPr>
          <p:spPr>
            <a:xfrm>
              <a:off x="819150" y="2404110"/>
              <a:ext cx="6229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Codex、VS Code 与 Git</a:t>
              </a:r>
              <a:endParaRPr lang="zh-CN" sz="4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3217545"/>
              <a:ext cx="476326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在科研项目中的使用</a:t>
              </a:r>
              <a:endParaRPr lang="zh-CN" sz="39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838200" y="4076700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1" name="cover-description"/>
          <p:cNvGrpSpPr/>
          <p:nvPr/>
        </p:nvGrpSpPr>
        <p:grpSpPr>
          <a:xfrm>
            <a:off x="828675" y="4807744"/>
            <a:ext cx="3562248" cy="994029"/>
            <a:chOff x="828675" y="4807744"/>
            <a:chExt cx="3562248" cy="994029"/>
          </a:xfrm>
        </p:grpSpPr>
        <p:sp>
          <p:nvSpPr>
            <p:cNvPr id="9" name="TextBox 9"/>
            <p:cNvSpPr txBox="1"/>
            <p:nvPr/>
          </p:nvSpPr>
          <p:spPr>
            <a:xfrm>
              <a:off x="828675" y="4807744"/>
              <a:ext cx="35622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465861"/>
                  </a:solidFill>
                  <a:latin typeface="+mn-lt"/>
                  <a:ea typeface="+mn-ea"/>
                  <a:cs typeface="+mn-cs"/>
                </a:rPr>
                <a:t>项目约定、任务执行与版本记录</a:t>
              </a:r>
              <a:endParaRPr lang="zh-CN" sz="1880" dirty="0">
                <a:solidFill>
                  <a:srgbClr val="46586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552307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结合科研代码的日常维护与实验复现</a:t>
              </a:r>
              <a:endPara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421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ChatGPT 与 Codex 的工作方式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22032"/>
              <a:ext cx="43108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以同一个 MATLAB 扩展卡尔曼滤波任务为例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chatgpt-column"/>
          <p:cNvGrpSpPr/>
          <p:nvPr/>
        </p:nvGrpSpPr>
        <p:grpSpPr>
          <a:xfrm>
            <a:off x="598932" y="1887855"/>
            <a:ext cx="4639818" cy="3444240"/>
            <a:chOff x="598932" y="1887855"/>
            <a:chExt cx="4639818" cy="3444240"/>
          </a:xfrm>
        </p:grpSpPr>
        <p:sp>
          <p:nvSpPr>
            <p:cNvPr id="6" name="TextBox 6"/>
            <p:cNvSpPr txBox="1"/>
            <p:nvPr/>
          </p:nvSpPr>
          <p:spPr>
            <a:xfrm>
              <a:off x="598932" y="1887855"/>
              <a:ext cx="2515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 ChatGPT 对话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23964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解释原理，给出参考代码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86075"/>
              <a:ext cx="4629150" cy="9525"/>
            </a:xfrm>
            <a:custGeom>
              <a:avLst/>
              <a:gdLst/>
              <a:ahLst/>
              <a:cxnLst/>
              <a:rect l="l" t="t" r="r" b="b"/>
              <a:pathLst>
                <a:path w="4629150" h="9525">
                  <a:moveTo>
                    <a:pt x="0" y="0"/>
                  </a:moveTo>
                  <a:lnTo>
                    <a:pt x="46291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168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你可以这样问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3574732"/>
              <a:ext cx="306571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“请解释扩展卡尔曼滤波的原理，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并给一段 MATLAB 示例代码。”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得到原理说明和示例代码；</a:t>
              </a:r>
              <a:b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还需要自己放进项目并验证。</a:t>
              </a:r>
              <a:endParaRPr lang="zh-CN" sz="1500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codex-column"/>
          <p:cNvGrpSpPr/>
          <p:nvPr/>
        </p:nvGrpSpPr>
        <p:grpSpPr>
          <a:xfrm>
            <a:off x="6104382" y="1887855"/>
            <a:ext cx="5478018" cy="3444240"/>
            <a:chOff x="6104382" y="1887855"/>
            <a:chExt cx="5478018" cy="3444240"/>
          </a:xfrm>
        </p:grpSpPr>
        <p:sp>
          <p:nvSpPr>
            <p:cNvPr id="13" name="TextBox 13"/>
            <p:cNvSpPr txBox="1"/>
            <p:nvPr/>
          </p:nvSpPr>
          <p:spPr>
            <a:xfrm>
              <a:off x="6104382" y="18878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</a:t>
              </a:r>
              <a:endParaRPr lang="en-US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05906" y="23964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读取当前项目，修改并验证代码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6115050" y="2886075"/>
              <a:ext cx="5467350" cy="9525"/>
            </a:xfrm>
            <a:custGeom>
              <a:avLst/>
              <a:gdLst/>
              <a:ahLst/>
              <a:cxnLst/>
              <a:rect l="l" t="t" r="r" b="b"/>
              <a:pathLst>
                <a:path w="5467350" h="9525">
                  <a:moveTo>
                    <a:pt x="0" y="0"/>
                  </a:moveTo>
                  <a:lnTo>
                    <a:pt x="5467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08192" y="3168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你可以这样交代任务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06668" y="3574732"/>
              <a:ext cx="3579114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“请找到定位模块的状态更新函数，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加入扩展卡尔曼滤波，保持接口不变，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补充测试并说明修改了哪些文件。”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07430" y="4733925"/>
              <a:ext cx="2491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得到真实文件改动、测试结果</a:t>
              </a:r>
              <a:b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和可供审查的 Git 差异。</a:t>
              </a:r>
              <a:endParaRPr lang="zh-CN" sz="1500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2742" y="5829300"/>
            <a:ext cx="10984992" cy="463487"/>
            <a:chOff x="602742" y="5829300"/>
            <a:chExt cx="10984992" cy="463487"/>
          </a:xfrm>
        </p:grpSpPr>
        <p:sp>
          <p:nvSpPr>
            <p:cNvPr id="20" name="Line 20"/>
            <p:cNvSpPr/>
            <p:nvPr/>
          </p:nvSpPr>
          <p:spPr>
            <a:xfrm>
              <a:off x="609600" y="5829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2742" y="6035992"/>
              <a:ext cx="517207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可以在授权项目内执行任务；最终改动正确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性仍需人工检查。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1580" y="60874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464050" cy="438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处理任务的基本流程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218" y="1041082"/>
              <a:ext cx="586740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一次任务通常包括读取项目、修改文件、运行检查和审查差异。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0" name="execution-loop"/>
          <p:cNvGrpSpPr/>
          <p:nvPr/>
        </p:nvGrpSpPr>
        <p:grpSpPr>
          <a:xfrm>
            <a:off x="591439" y="2259806"/>
            <a:ext cx="7828661" cy="3302794"/>
            <a:chOff x="591439" y="2259806"/>
            <a:chExt cx="7828661" cy="3302794"/>
          </a:xfrm>
        </p:grpSpPr>
        <p:sp>
          <p:nvSpPr>
            <p:cNvPr id="6" name="Line 6"/>
            <p:cNvSpPr/>
            <p:nvPr/>
          </p:nvSpPr>
          <p:spPr>
            <a:xfrm>
              <a:off x="1009650" y="3238500"/>
              <a:ext cx="6896100" cy="1"/>
            </a:xfrm>
            <a:prstGeom prst="line">
              <a:avLst/>
            </a:prstGeom>
            <a:noFill/>
            <a:ln w="47625" cap="rnd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91439" y="2952750"/>
              <a:ext cx="7732522" cy="1178528"/>
              <a:chOff x="591439" y="2952750"/>
              <a:chExt cx="7732522" cy="1178528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591439" y="2952750"/>
                <a:ext cx="874522" cy="1178528"/>
                <a:chOff x="591439" y="2952750"/>
                <a:chExt cx="874522" cy="1178528"/>
              </a:xfrm>
            </p:grpSpPr>
            <p:sp>
              <p:nvSpPr>
                <p:cNvPr id="7" name="Ellipse 7"/>
                <p:cNvSpPr/>
                <p:nvPr/>
              </p:nvSpPr>
              <p:spPr>
                <a:xfrm>
                  <a:off x="742950" y="2952750"/>
                  <a:ext cx="571500" cy="571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969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  <a:endPara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677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明确目标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591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范围与标准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1734439" y="2952750"/>
                <a:ext cx="874522" cy="1178528"/>
                <a:chOff x="1734439" y="2952750"/>
                <a:chExt cx="874522" cy="1178528"/>
              </a:xfrm>
            </p:grpSpPr>
            <p:sp>
              <p:nvSpPr>
                <p:cNvPr id="12" name="Ellipse 12"/>
                <p:cNvSpPr/>
                <p:nvPr/>
              </p:nvSpPr>
              <p:spPr>
                <a:xfrm>
                  <a:off x="1885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2112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20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读取项目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734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文件与规则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2877439" y="2952750"/>
                <a:ext cx="874522" cy="1178528"/>
                <a:chOff x="2877439" y="2952750"/>
                <a:chExt cx="874522" cy="1178528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3028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3255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963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拆解计划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877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步骤与风险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4106596" y="2952750"/>
                <a:ext cx="702208" cy="1178528"/>
                <a:chOff x="4106596" y="2952750"/>
                <a:chExt cx="702208" cy="1178528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4171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398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106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修改文件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106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最小变更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5163439" y="2952750"/>
                <a:ext cx="874522" cy="1178528"/>
                <a:chOff x="5163439" y="2952750"/>
                <a:chExt cx="874522" cy="1178528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5314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541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5249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运行检查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163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测试与脚本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6361364" y="2952750"/>
                <a:ext cx="764672" cy="1178528"/>
                <a:chOff x="6361364" y="2952750"/>
                <a:chExt cx="764672" cy="1178528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6457950" y="2952750"/>
                  <a:ext cx="571500" cy="571500"/>
                </a:xfrm>
                <a:prstGeom prst="ellipse">
                  <a:avLst/>
                </a:prstGeom>
                <a:solidFill>
                  <a:schemeClr val="lt1"/>
                </a:solidFill>
                <a:ln w="28575">
                  <a:solidFill>
                    <a:schemeClr val="accent2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684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6</a:t>
                  </a:r>
                  <a:endPara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361364" y="3634264"/>
                  <a:ext cx="76467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审查 diff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392596" y="388191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核对范围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7449439" y="2952750"/>
                <a:ext cx="874522" cy="1178528"/>
                <a:chOff x="7449439" y="2952750"/>
                <a:chExt cx="874522" cy="1178528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7600950" y="2952750"/>
                  <a:ext cx="571500" cy="5715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827365" y="3159442"/>
                  <a:ext cx="11866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</a:t>
                  </a:r>
                  <a:endPara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35596" y="3634264"/>
                  <a:ext cx="70220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汇报结果</a:t>
                  </a:r>
                  <a:endPara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449439" y="3881914"/>
                  <a:ext cx="874522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8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证据与后续</a:t>
                  </a:r>
                  <a:endPara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43" name="Line 43"/>
            <p:cNvSpPr/>
            <p:nvPr/>
          </p:nvSpPr>
          <p:spPr>
            <a:xfrm>
              <a:off x="5600700" y="24955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4457700" y="24955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4457700" y="2495550"/>
              <a:ext cx="1" cy="2857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45000" y="2259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验证失败就返回修改</a:t>
              </a:r>
              <a:endParaRPr lang="zh-CN" sz="112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09600" y="4762500"/>
              <a:ext cx="7810500" cy="800100"/>
            </a:xfrm>
            <a:prstGeom prst="roundRect">
              <a:avLst>
                <a:gd name="adj" fmla="val 4762"/>
              </a:avLst>
            </a:prstGeom>
            <a:solidFill>
              <a:srgbClr val="F2F5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1342" y="4950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人的职责贯穿始终</a:t>
              </a:r>
              <a:endParaRPr lang="zh-CN" sz="1350" b="1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1342" y="523589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在入口确认范围，在出口核对风险、证据与完成标准。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2" name="editor-status"/>
          <p:cNvGrpSpPr/>
          <p:nvPr/>
        </p:nvGrpSpPr>
        <p:grpSpPr>
          <a:xfrm>
            <a:off x="8763000" y="1809750"/>
            <a:ext cx="2819400" cy="3752850"/>
            <a:chOff x="8763000" y="1809750"/>
            <a:chExt cx="2819400" cy="3752850"/>
          </a:xfrm>
        </p:grpSpPr>
        <p:sp>
          <p:nvSpPr>
            <p:cNvPr id="51" name="Rectangle 51"/>
            <p:cNvSpPr/>
            <p:nvPr/>
          </p:nvSpPr>
          <p:spPr>
            <a:xfrm>
              <a:off x="8763000" y="1809750"/>
              <a:ext cx="2819400" cy="3752850"/>
            </a:xfrm>
            <a:prstGeom prst="roundRect">
              <a:avLst>
                <a:gd name="adj" fmla="val 135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63000" y="1809750"/>
              <a:ext cx="2819400" cy="419100"/>
            </a:xfrm>
            <a:prstGeom prst="roundRect">
              <a:avLst>
                <a:gd name="adj" fmla="val 9091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557766" y="1963102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task / verify</a:t>
              </a:r>
              <a:endParaRPr lang="en-US" sz="105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04554" y="24803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 run tests</a:t>
              </a:r>
              <a:endParaRPr lang="en-US" sz="1200" dirty="0">
                <a:solidFill>
                  <a:srgbClr val="9FB5D9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03792" y="282606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✓ 18 passed</a:t>
              </a:r>
              <a:endParaRPr lang="en-US" sz="1350" dirty="0">
                <a:solidFill>
                  <a:srgbClr val="A9C9BB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9010650" y="3219450"/>
              <a:ext cx="2324100" cy="9525"/>
            </a:xfrm>
            <a:custGeom>
              <a:avLst/>
              <a:gdLst/>
              <a:ahLst/>
              <a:cxnLst/>
              <a:rect l="l" t="t" r="r" b="b"/>
              <a:pathLst>
                <a:path w="2324100" h="9525">
                  <a:moveTo>
                    <a:pt x="0" y="0"/>
                  </a:moveTo>
                  <a:lnTo>
                    <a:pt x="2324100" y="0"/>
                  </a:lnTo>
                </a:path>
              </a:pathLst>
            </a:custGeom>
            <a:noFill/>
            <a:ln w="9525">
              <a:solidFill>
                <a:srgbClr val="53626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04554" y="3489960"/>
              <a:ext cx="669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FB5D9"/>
                  </a:solidFill>
                  <a:latin typeface="+mn-lt"/>
                  <a:ea typeface="+mn-ea"/>
                  <a:cs typeface="+mn-cs"/>
                </a:rPr>
                <a:t>CHANGES</a:t>
              </a:r>
              <a:endParaRPr lang="en-US" sz="1200" dirty="0">
                <a:solidFill>
                  <a:srgbClr val="9FB5D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04173" y="3824764"/>
              <a:ext cx="1346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 src/model.py</a:t>
              </a:r>
              <a:endPara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04173" y="4129564"/>
              <a:ext cx="2009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 tests/test_model.py</a:t>
              </a:r>
              <a:endParaRPr lang="en-US" sz="128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010650" y="4667250"/>
              <a:ext cx="2266950" cy="533400"/>
            </a:xfrm>
            <a:prstGeom prst="roundRect">
              <a:avLst>
                <a:gd name="adj" fmla="val 7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87918" y="4854892"/>
              <a:ext cx="1912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diff ready to review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603504" y="5962650"/>
            <a:ext cx="10984230" cy="381381"/>
            <a:chOff x="603504" y="5962650"/>
            <a:chExt cx="10984230" cy="381381"/>
          </a:xfrm>
        </p:grpSpPr>
        <p:sp>
          <p:nvSpPr>
            <p:cNvPr id="63" name="Line 63"/>
            <p:cNvSpPr/>
            <p:nvPr/>
          </p:nvSpPr>
          <p:spPr>
            <a:xfrm>
              <a:off x="609600" y="5962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03504" y="6109335"/>
              <a:ext cx="4244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关键判断：不是“生成了没有”，而是“是否验证并可解释”。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1580" y="61255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435292"/>
            <a:ext cx="10987278" cy="1041083"/>
            <a:chOff x="595122" y="435292"/>
            <a:chExt cx="10987278" cy="10410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43529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科研代码项目的常见目录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规则、代码、测试与结果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0" name="project-tree"/>
          <p:cNvGrpSpPr/>
          <p:nvPr/>
        </p:nvGrpSpPr>
        <p:grpSpPr>
          <a:xfrm>
            <a:off x="609600" y="1733550"/>
            <a:ext cx="4762500" cy="4171950"/>
            <a:chOff x="609600" y="1733550"/>
            <a:chExt cx="4762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733550"/>
              <a:ext cx="4762500" cy="4171950"/>
            </a:xfrm>
            <a:prstGeom prst="roundRect">
              <a:avLst>
                <a:gd name="adj" fmla="val 9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33550"/>
              <a:ext cx="4762500" cy="457200"/>
            </a:xfrm>
            <a:prstGeom prst="roundRect">
              <a:avLst>
                <a:gd name="adj" fmla="val 8333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3035" y="1897856"/>
              <a:ext cx="2099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research-project / explorer</a:t>
              </a:r>
              <a:endParaRPr lang="en-US" sz="112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69442" y="2426018"/>
              <a:ext cx="1712957" cy="3369183"/>
              <a:chOff x="869442" y="2426018"/>
              <a:chExt cx="1712957" cy="336918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9442" y="24260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research-project/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36142" y="27879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AGENTS.md</a:t>
                </a:r>
                <a:endParaRPr lang="en-US" sz="1350" dirty="0">
                  <a:solidFill>
                    <a:srgbClr val="AFC6C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6142" y="3130868"/>
                <a:ext cx="12641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README.md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6142" y="3473768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src/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6142" y="3816668"/>
                <a:ext cx="9133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tests/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6142" y="41595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configs/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6142" y="45024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data/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36142" y="4845368"/>
                <a:ext cx="111322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results/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6142" y="5188268"/>
                <a:ext cx="813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docs/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36142" y="5531168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.gitignore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</p:grpSp>
      <p:grpSp>
        <p:nvGrpSpPr>
          <p:cNvPr id="37" name="file-responsibilities"/>
          <p:cNvGrpSpPr/>
          <p:nvPr/>
        </p:nvGrpSpPr>
        <p:grpSpPr>
          <a:xfrm>
            <a:off x="5706618" y="1879282"/>
            <a:ext cx="5875782" cy="4026218"/>
            <a:chOff x="5706618" y="1879282"/>
            <a:chExt cx="5875782" cy="4026218"/>
          </a:xfrm>
        </p:grpSpPr>
        <p:sp>
          <p:nvSpPr>
            <p:cNvPr id="21" name="TextBox 21"/>
            <p:cNvSpPr txBox="1"/>
            <p:nvPr/>
          </p:nvSpPr>
          <p:spPr>
            <a:xfrm>
              <a:off x="5706618" y="18792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一个好项目应快速回答四个问题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5715000" y="2305050"/>
              <a:ext cx="5867400" cy="2933700"/>
              <a:chOff x="5715000" y="2305050"/>
              <a:chExt cx="5867400" cy="29337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0" y="23050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5715000" y="23050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974080" y="24669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规则是什么？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74461" y="2779871"/>
                <a:ext cx="363128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rgbClr val="355F70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AGENTS.md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写约束，</a:t>
                </a:r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README.md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写入口。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715000" y="33337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715000" y="33337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974080" y="349567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代码在哪？怎样验证？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974461" y="3808571"/>
                <a:ext cx="328332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src/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放实现，</a:t>
                </a:r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tests/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放可重复检查。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715000" y="4362450"/>
                <a:ext cx="5867400" cy="876300"/>
              </a:xfrm>
              <a:prstGeom prst="roundRect">
                <a:avLst>
                  <a:gd name="adj" fmla="val 4348"/>
                </a:avLst>
              </a:prstGeom>
              <a:solidFill>
                <a:schemeClr val="lt1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715000" y="4362450"/>
                <a:ext cx="76200" cy="8763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974080" y="4524375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参数、数据与结果怎么管理？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74461" y="4837271"/>
                <a:ext cx="34458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configs/ data/ results/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各司其职。</a:t>
                </a:r>
                <a:endPara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5" name="Rectangle 35"/>
            <p:cNvSpPr/>
            <p:nvPr/>
          </p:nvSpPr>
          <p:spPr>
            <a:xfrm>
              <a:off x="5715000" y="5410200"/>
              <a:ext cx="5867400" cy="495300"/>
            </a:xfrm>
            <a:prstGeom prst="roundRect">
              <a:avLst>
                <a:gd name="adj" fmla="val 7692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99023" y="5577364"/>
              <a:ext cx="4923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.gitignore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：排除密钥、缓存、大型原始数据和可再生成文件。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38" name="TextBox 38"/>
            <p:cNvSpPr txBox="1"/>
            <p:nvPr/>
          </p:nvSpPr>
          <p:spPr>
            <a:xfrm>
              <a:off x="603885" y="6184106"/>
              <a:ext cx="5512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目录不是为了“看起来专业”，而是为了让人和 Codex 都能定位规则、执行与验证。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项目规则与可复用技能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两类文件分别解决长期约定和特定任务的操作方法。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agents-column"/>
          <p:cNvGrpSpPr/>
          <p:nvPr/>
        </p:nvGrpSpPr>
        <p:grpSpPr>
          <a:xfrm>
            <a:off x="599313" y="1953101"/>
            <a:ext cx="5058537" cy="3587877"/>
            <a:chOff x="599313" y="1953101"/>
            <a:chExt cx="5058537" cy="3587877"/>
          </a:xfrm>
        </p:grpSpPr>
        <p:sp>
          <p:nvSpPr>
            <p:cNvPr id="6" name="TextBox 6"/>
            <p:cNvSpPr txBox="1"/>
            <p:nvPr/>
          </p:nvSpPr>
          <p:spPr>
            <a:xfrm>
              <a:off x="599313" y="1953101"/>
              <a:ext cx="142378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AGENTS.md</a:t>
              </a:r>
              <a:endParaRPr lang="en-US" sz="202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24288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项目内持续生效的工作约定。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3073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通常包括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961" y="34847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测试与运行命令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961" y="39038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目录职责和修改范围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961" y="4322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数据、提交和删除的限制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961" y="47420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完成任务后的汇报要求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123" y="5291614"/>
              <a:ext cx="36380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例如：修改前检查 Git 状态，完成后运行测试。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skill-column"/>
          <p:cNvGrpSpPr/>
          <p:nvPr/>
        </p:nvGrpSpPr>
        <p:grpSpPr>
          <a:xfrm>
            <a:off x="6523863" y="1953101"/>
            <a:ext cx="5058537" cy="3664077"/>
            <a:chOff x="6523863" y="1953101"/>
            <a:chExt cx="5058537" cy="3664077"/>
          </a:xfrm>
        </p:grpSpPr>
        <p:sp>
          <p:nvSpPr>
            <p:cNvPr id="16" name="TextBox 16"/>
            <p:cNvSpPr txBox="1"/>
            <p:nvPr/>
          </p:nvSpPr>
          <p:spPr>
            <a:xfrm>
              <a:off x="6523863" y="1953101"/>
              <a:ext cx="77685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Skill</a:t>
              </a:r>
              <a:endParaRPr lang="en-US" sz="202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26530" y="2428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针对一类重复任务的操作手册。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534150" y="280035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7292" y="3073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一个技能目录可以这样组织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755130" y="3476625"/>
              <a:ext cx="1903286" cy="1817370"/>
              <a:chOff x="6755130" y="3476625"/>
              <a:chExt cx="1903286" cy="18173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755130" y="3476625"/>
                <a:ext cx="19032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experiment-audit/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021830" y="3857625"/>
                <a:ext cx="12863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SKILL.md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21830" y="4238625"/>
                <a:ext cx="123691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scripts/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21830" y="4619625"/>
                <a:ext cx="15701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references/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021830" y="5000625"/>
                <a:ext cx="1125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assets/</a:t>
                </a:r>
                <a:endParaRPr lang="en-US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6527673" y="5367814"/>
              <a:ext cx="38297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 SKILL.md 必需，其余目录按任务需要添加。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8" name="Line 28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03885" y="6098381"/>
              <a:ext cx="2892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AGENTS.md 官方文档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Skills 官方文档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52610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AGENTS.md：项目级工作约定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8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Codex 开始任务前读取这些文件，确定本次工作的约束。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scope"/>
          <p:cNvGrpSpPr/>
          <p:nvPr/>
        </p:nvGrpSpPr>
        <p:grpSpPr>
          <a:xfrm>
            <a:off x="601218" y="1936432"/>
            <a:ext cx="5247132" cy="3318796"/>
            <a:chOff x="601218" y="1936432"/>
            <a:chExt cx="5247132" cy="3318796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文件放在哪里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33886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规则从通用到具体，沿工作目录逐级生效。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7622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3123" y="30437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个人通用约定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69261" y="3027521"/>
              <a:ext cx="19564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~/.codex/AGENTS.md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40042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3123" y="36818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整个项目的约定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69261" y="3665696"/>
              <a:ext cx="18422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project/AGENTS.md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40386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3123" y="43200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局部目录的补充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69261" y="4303871"/>
              <a:ext cx="2578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project/subdir/AGENTS.md</a:t>
              </a:r>
              <a:endParaRPr lang="en-US" sz="142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676775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123" y="5005864"/>
              <a:ext cx="3473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进入更深目录时，Codex 会合并适用的规则。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content"/>
          <p:cNvGrpSpPr/>
          <p:nvPr/>
        </p:nvGrpSpPr>
        <p:grpSpPr>
          <a:xfrm>
            <a:off x="6487668" y="1936432"/>
            <a:ext cx="5094732" cy="3509296"/>
            <a:chOff x="6487668" y="1936432"/>
            <a:chExt cx="5094732" cy="3509296"/>
          </a:xfrm>
        </p:grpSpPr>
        <p:sp>
          <p:nvSpPr>
            <p:cNvPr id="20" name="TextBox 20"/>
            <p:cNvSpPr txBox="1"/>
            <p:nvPr/>
          </p:nvSpPr>
          <p:spPr>
            <a:xfrm>
              <a:off x="6487668" y="19364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写哪些内容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8811" y="238934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项目入口和测试命令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8811" y="281797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允许修改的文件和目录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811" y="324659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依赖环境、代码约定与验收标准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811" y="36752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原始数据、密钥等保护要求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496050" y="4171950"/>
              <a:ext cx="5086350" cy="9525"/>
            </a:xfrm>
            <a:custGeom>
              <a:avLst/>
              <a:gdLst/>
              <a:ahLst/>
              <a:cxnLst/>
              <a:rect l="l" t="t" r="r" b="b"/>
              <a:pathLst>
                <a:path w="5086350" h="9525">
                  <a:moveTo>
                    <a:pt x="0" y="0"/>
                  </a:moveTo>
                  <a:lnTo>
                    <a:pt x="5086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8430" y="44100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不写入长期规则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9192" y="48263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一次性任务、频繁变化的细节和敏感信息。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9573" y="51963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让每条规则具体到能够执行或检查。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0" name="Line 30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885" y="6098381"/>
              <a:ext cx="31592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OpenAI AGENTS.md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参考教程第八节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551301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科研项目中的 AGENTS.md 示例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下面是一份最小示例：复制后替换项目入口、验证命令与保护目录即可。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3" name="agents-example"/>
          <p:cNvGrpSpPr/>
          <p:nvPr/>
        </p:nvGrpSpPr>
        <p:grpSpPr>
          <a:xfrm>
            <a:off x="609600" y="1619250"/>
            <a:ext cx="6705600" cy="4305300"/>
            <a:chOff x="609600" y="1619250"/>
            <a:chExt cx="67056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67056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67056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1556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project/AGENTS.md</a:t>
              </a:r>
              <a:endParaRPr lang="en-US" sz="1200" dirty="0">
                <a:solidFill>
                  <a:srgbClr val="C3CDD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68680" y="2257425"/>
              <a:ext cx="3451250" cy="3181731"/>
              <a:chOff x="868680" y="2257425"/>
              <a:chExt cx="3451250" cy="318173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68680" y="2257425"/>
                <a:ext cx="12887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 AGENTS.md</a:t>
                </a:r>
                <a:endParaRPr lang="en-US" sz="1500" b="1" dirty="0">
                  <a:solidFill>
                    <a:srgbClr val="AFC6C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204" y="2613660"/>
                <a:ext cx="1617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 Project context</a:t>
                </a:r>
                <a:endParaRPr lang="en-US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60704" y="2880360"/>
                <a:ext cx="259020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MATLAB R2024a；入口：main.m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60704" y="3147060"/>
                <a:ext cx="23303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全量测试：tests/run_all.m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204" y="3509010"/>
                <a:ext cx="18842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 Working agreements</a:t>
                </a:r>
                <a:endParaRPr lang="en-US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60704" y="3775710"/>
                <a:ext cx="2136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修改前先检查 git status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0704" y="4042410"/>
                <a:ext cx="19668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只修改当前任务相关文件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0704" y="4309110"/>
                <a:ext cx="25322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不修改 data/raw/，不提交密钥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70204" y="4671060"/>
                <a:ext cx="23284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## Validation and delivery</a:t>
                </a:r>
                <a:endParaRPr lang="en-US" sz="120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0704" y="4937760"/>
                <a:ext cx="24191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完成后运行 tests/run_all.m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0704" y="5204460"/>
                <a:ext cx="32592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- 汇报修改文件、测试结果、风险与回退方式</a:t>
                </a:r>
                <a:endParaRPr lang="zh-CN" sz="120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sp>
          <p:nvSpPr>
            <p:cNvPr id="21" name="Rectangle 21"/>
            <p:cNvSpPr/>
            <p:nvPr/>
          </p:nvSpPr>
          <p:spPr>
            <a:xfrm>
              <a:off x="876300" y="5543550"/>
              <a:ext cx="6172200" cy="228600"/>
            </a:xfrm>
            <a:prstGeom prst="roundRect">
              <a:avLst>
                <a:gd name="adj" fmla="val 16667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3747" y="5600224"/>
              <a:ext cx="31621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EBBC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保存位置：项目根目录；团队成员与 Codex 共同遵守</a:t>
              </a:r>
              <a:endParaRPr lang="zh-CN" sz="980" dirty="0">
                <a:solidFill>
                  <a:srgbClr val="AEBBC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45" name="writing-principles"/>
          <p:cNvGrpSpPr/>
          <p:nvPr/>
        </p:nvGrpSpPr>
        <p:grpSpPr>
          <a:xfrm>
            <a:off x="7620000" y="1619250"/>
            <a:ext cx="3962400" cy="4305300"/>
            <a:chOff x="7620000" y="1619250"/>
            <a:chExt cx="3962400" cy="4305300"/>
          </a:xfrm>
        </p:grpSpPr>
        <p:sp>
          <p:nvSpPr>
            <p:cNvPr id="24" name="Rectangle 24"/>
            <p:cNvSpPr/>
            <p:nvPr/>
          </p:nvSpPr>
          <p:spPr>
            <a:xfrm>
              <a:off x="7620000" y="1619250"/>
              <a:ext cx="3962400" cy="43053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78318" y="1822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三条写作原则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7886700" y="2266950"/>
              <a:ext cx="3429000" cy="2647950"/>
              <a:chOff x="7886700" y="2266950"/>
              <a:chExt cx="3429000" cy="26479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86700" y="226695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2F5F5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039100" y="2447925"/>
                <a:ext cx="419100" cy="419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2723" y="25622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02980" y="24098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具体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04504" y="2708910"/>
                <a:ext cx="25968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写路径、命令与边界，不写空泛口号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886700" y="320040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1F5F3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8039100" y="3381375"/>
                <a:ext cx="419100" cy="419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182723" y="349567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02980" y="33432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可执行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604504" y="3642360"/>
                <a:ext cx="19643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Codex 能据此采取明确动作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7886700" y="4133850"/>
                <a:ext cx="3429000" cy="781050"/>
              </a:xfrm>
              <a:prstGeom prst="roundRect">
                <a:avLst>
                  <a:gd name="adj" fmla="val 4878"/>
                </a:avLst>
              </a:prstGeom>
              <a:solidFill>
                <a:srgbClr val="F0F3F8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8039100" y="4314825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182723" y="4429125"/>
                <a:ext cx="1318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602980" y="427672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可验证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04504" y="457581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完成标准能通过测试或检查确认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2" name="Line 42"/>
            <p:cNvSpPr/>
            <p:nvPr/>
          </p:nvSpPr>
          <p:spPr>
            <a:xfrm>
              <a:off x="7886700" y="51816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80604" y="5337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先写最常被遗忘、但影响最大的规则。</a:t>
              </a:r>
              <a:endParaRPr lang="zh-CN" sz="1200" b="1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80985" y="5593556"/>
              <a:ext cx="28818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规则变化时更新文件，并让 Git 记录原因。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04266" y="6230302"/>
            <a:ext cx="10983468" cy="205359"/>
            <a:chOff x="604266" y="6230302"/>
            <a:chExt cx="109834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604266" y="62303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示例思路参考：</a:t>
              </a:r>
              <a:r>
                <a:rPr lang="zh-CN" sz="105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1"/>
                </a:rPr>
                <a:t>教程第八节：项目指令配置</a:t>
              </a:r>
              <a:endParaRPr lang="zh-CN" sz="1050" u="sng" dirty="0">
                <a:solidFill>
                  <a:schemeClr val="accent2"/>
                </a:solidFill>
                <a:latin typeface="+mn-lt"/>
                <a:ea typeface="+mn-ea"/>
                <a:cs typeface="+mn-cs"/>
                <a:hlinkClick r:id="rId1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0353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的结构与调用方式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533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 为一类任务保存步骤说明，必要时附带脚本或参考资料。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directory"/>
          <p:cNvGrpSpPr/>
          <p:nvPr/>
        </p:nvGrpSpPr>
        <p:grpSpPr>
          <a:xfrm>
            <a:off x="601218" y="1917382"/>
            <a:ext cx="4770882" cy="3480721"/>
            <a:chOff x="601218" y="1917382"/>
            <a:chExt cx="4770882" cy="3480721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17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项目中的目录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281714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.agents/skills/experiment-audit/</a:t>
              </a:r>
              <a:endParaRPr lang="en-US" sz="128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647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0199" y="3011329"/>
              <a:ext cx="2004743" cy="1984439"/>
              <a:chOff x="830199" y="3011329"/>
              <a:chExt cx="2004743" cy="198443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0199" y="3011329"/>
                <a:ext cx="200474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experiment-audit/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87374" y="3430429"/>
                <a:ext cx="13548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SKILL.md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87374" y="3849529"/>
                <a:ext cx="130283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scripts/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87374" y="4268629"/>
                <a:ext cx="165378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├─ references/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87374" y="4687729"/>
                <a:ext cx="1185850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└─ assets/</a:t>
                </a:r>
                <a:endParaRPr lang="en-US" sz="158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31723" y="5148739"/>
              <a:ext cx="3431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SKILL.md 是必需文件，其余内容按需添加。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loading"/>
          <p:cNvGrpSpPr/>
          <p:nvPr/>
        </p:nvGrpSpPr>
        <p:grpSpPr>
          <a:xfrm>
            <a:off x="6030468" y="1917382"/>
            <a:ext cx="5551932" cy="2217516"/>
            <a:chOff x="6030468" y="1917382"/>
            <a:chExt cx="5551932" cy="2217516"/>
          </a:xfrm>
        </p:grpSpPr>
        <p:sp>
          <p:nvSpPr>
            <p:cNvPr id="17" name="TextBox 17"/>
            <p:cNvSpPr txBox="1"/>
            <p:nvPr/>
          </p:nvSpPr>
          <p:spPr>
            <a:xfrm>
              <a:off x="6030468" y="1917382"/>
              <a:ext cx="16246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怎样使用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038850" y="23431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1992" y="26069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先判断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6061" y="259889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读取名称与描述，确认任务是否匹配。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038850" y="297180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31992" y="32356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再加载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46061" y="3227546"/>
              <a:ext cx="2468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匹配后读取完整 SKILL.md。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6038850" y="360045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1992" y="38642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最后执行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46061" y="385619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按步骤工作，并检查结果。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invocation"/>
          <p:cNvGrpSpPr/>
          <p:nvPr/>
        </p:nvGrpSpPr>
        <p:grpSpPr>
          <a:xfrm>
            <a:off x="6030468" y="4679632"/>
            <a:ext cx="4198346" cy="1020319"/>
            <a:chOff x="6030468" y="4679632"/>
            <a:chExt cx="4198346" cy="1020319"/>
          </a:xfrm>
        </p:grpSpPr>
        <p:sp>
          <p:nvSpPr>
            <p:cNvPr id="28" name="TextBox 28"/>
            <p:cNvSpPr txBox="1"/>
            <p:nvPr/>
          </p:nvSpPr>
          <p:spPr>
            <a:xfrm>
              <a:off x="6030468" y="4679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调用方式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1992" y="5093018"/>
              <a:ext cx="2258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显式：</a:t>
              </a:r>
              <a:r>
                <a:rPr lang="en-US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$experiment-audit</a:t>
              </a:r>
              <a:endParaRPr lang="en-US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31992" y="5435918"/>
              <a:ext cx="4196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任务描述与 Skill 用途吻合时由 Codex 选择。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32" name="Line 32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3885" y="6098381"/>
              <a:ext cx="2736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1"/>
                </a:rPr>
                <a:t>OpenAI Skills 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2"/>
                </a:rPr>
                <a:t>参考教程第九节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4190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示例：实验结果复核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适合反复复现实验、核对指标和生成可追溯摘要的科研任务。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skill-example"/>
          <p:cNvGrpSpPr/>
          <p:nvPr/>
        </p:nvGrpSpPr>
        <p:grpSpPr>
          <a:xfrm>
            <a:off x="609600" y="1619250"/>
            <a:ext cx="5791200" cy="4305300"/>
            <a:chOff x="609600" y="1619250"/>
            <a:chExt cx="57912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791200" cy="4305300"/>
            </a:xfrm>
            <a:prstGeom prst="roundRect">
              <a:avLst>
                <a:gd name="adj" fmla="val 8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791200" cy="476250"/>
            </a:xfrm>
            <a:prstGeom prst="roundRect">
              <a:avLst>
                <a:gd name="adj" fmla="val 8000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054" y="1794510"/>
              <a:ext cx="3595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3CDD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.agents/skills/experiment-audit/SKILL.md</a:t>
              </a:r>
              <a:endParaRPr lang="en-US" sz="1200" dirty="0">
                <a:solidFill>
                  <a:srgbClr val="C3CDD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870585" y="2278856"/>
              <a:ext cx="3200309" cy="3287078"/>
              <a:chOff x="870585" y="2278856"/>
              <a:chExt cx="3200309" cy="328707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70585" y="22788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---</a:t>
                </a:r>
                <a:endParaRPr lang="zh-CN" sz="1120" dirty="0">
                  <a:solidFill>
                    <a:srgbClr val="AEBBC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70585" y="2545556"/>
                <a:ext cx="18358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name:</a:t>
                </a:r>
                <a:r>
                  <a:rPr lang="en-US" sz="1120" dirty="0">
                    <a:solidFill>
                      <a:srgbClr val="E8EEF8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experiment-audit</a:t>
                </a:r>
                <a:endParaRPr lang="en-US" sz="1120" dirty="0">
                  <a:solidFill>
                    <a:srgbClr val="E8EEF8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70585" y="2812256"/>
                <a:ext cx="32003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AFC6C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description:</a:t>
                </a:r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 当任务涉及实验复跑、指标对比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70585" y="3040856"/>
                <a:ext cx="136840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或结果复核时使用。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70585" y="33075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AEBBC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---</a:t>
                </a:r>
                <a:endParaRPr lang="zh-CN" sz="1120" dirty="0">
                  <a:solidFill>
                    <a:srgbClr val="AEBBC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0585" y="3650456"/>
                <a:ext cx="8465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# Workflow</a:t>
                </a:r>
                <a:endParaRPr lang="en-US" sz="1120" b="1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61085" y="39362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1. 读取实验配置与数据说明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61085" y="4202906"/>
                <a:ext cx="21904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2. 记录当前 Git 提交号与环境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61085" y="4469606"/>
                <a:ext cx="14664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3. 运行最小复现实验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61085" y="4736306"/>
                <a:ext cx="20695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4. 与基线指标比较并标记异常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61085" y="5003006"/>
                <a:ext cx="19187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E8EEF8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5. 生成复核摘要与结果索引</a:t>
                </a:r>
                <a:endParaRPr lang="zh-CN" sz="1120" dirty="0">
                  <a:solidFill>
                    <a:srgbClr val="E8EEF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70585" y="5345906"/>
                <a:ext cx="25745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FFB86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禁止：覆盖原始数据；隐藏失败结果。</a:t>
                </a:r>
                <a:endParaRPr lang="zh-CN" sz="1120" b="1" dirty="0">
                  <a:solidFill>
                    <a:srgbClr val="FFB86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50" name="audit-flow"/>
          <p:cNvGrpSpPr/>
          <p:nvPr/>
        </p:nvGrpSpPr>
        <p:grpSpPr>
          <a:xfrm>
            <a:off x="6705600" y="1619250"/>
            <a:ext cx="4876800" cy="4305300"/>
            <a:chOff x="6705600" y="1619250"/>
            <a:chExt cx="4876800" cy="4305300"/>
          </a:xfrm>
        </p:grpSpPr>
        <p:sp>
          <p:nvSpPr>
            <p:cNvPr id="23" name="Rectangle 23"/>
            <p:cNvSpPr/>
            <p:nvPr/>
          </p:nvSpPr>
          <p:spPr>
            <a:xfrm>
              <a:off x="6705600" y="1619250"/>
              <a:ext cx="4876800" cy="4305300"/>
            </a:xfrm>
            <a:prstGeom prst="roundRect">
              <a:avLst>
                <a:gd name="adj" fmla="val 88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63918" y="18221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执行后应该留下什么？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6204" y="21564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每一步都对应一个可检查的证据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7296150" y="2686050"/>
              <a:ext cx="1" cy="234315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124700" y="2502218"/>
              <a:ext cx="2611857" cy="2911316"/>
              <a:chOff x="7124700" y="2502218"/>
              <a:chExt cx="2611857" cy="291131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124700" y="25146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246899" y="26217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613142" y="25022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输入可追溯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14285" y="2755106"/>
                <a:ext cx="21222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配置文件、数据版本与入口命令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124700" y="31242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46899" y="32313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3142" y="31118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环境可定位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14285" y="3364706"/>
                <a:ext cx="193110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Git 提交号、依赖与运行参数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124700" y="37338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46899" y="38409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13142" y="37214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结果可比较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14285" y="39743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基线、当前指标与允许误差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124700" y="43434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246899" y="44505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13142" y="43310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异常不被掩盖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14285" y="4583906"/>
                <a:ext cx="18207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失败步骤、偏差与可能原因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7124700" y="49530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246899" y="5060156"/>
                <a:ext cx="985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13142" y="49406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摘要可以交接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14285" y="5193506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结论、证据路径与下一步建议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8" name="Rectangle 48"/>
            <p:cNvSpPr/>
            <p:nvPr/>
          </p:nvSpPr>
          <p:spPr>
            <a:xfrm>
              <a:off x="6972300" y="5524500"/>
              <a:ext cx="4343400" cy="247650"/>
            </a:xfrm>
            <a:prstGeom prst="roundRect">
              <a:avLst>
                <a:gd name="adj" fmla="val 1538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35244" y="5582602"/>
              <a:ext cx="2617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同一个 Skill，可在不同实验目录重复使用</a:t>
              </a:r>
              <a:endParaRPr lang="zh-CN" sz="105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885" y="6222206"/>
            <a:ext cx="10983849" cy="220028"/>
            <a:chOff x="603885" y="6222206"/>
            <a:chExt cx="10983849" cy="220028"/>
          </a:xfrm>
        </p:grpSpPr>
        <p:sp>
          <p:nvSpPr>
            <p:cNvPr id="51" name="TextBox 51"/>
            <p:cNvSpPr txBox="1"/>
            <p:nvPr/>
          </p:nvSpPr>
          <p:spPr>
            <a:xfrm>
              <a:off x="603885" y="6222206"/>
              <a:ext cx="6034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调用示例：</a:t>
              </a:r>
              <a:r>
                <a:rPr lang="zh-CN" sz="1120" dirty="0">
                  <a:solidFill>
                    <a:schemeClr val="accent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$experiment-audit 复核 results/exp_07，并与 baseline.json 对比。</a:t>
              </a:r>
              <a:endParaRPr lang="zh-CN" sz="1120" dirty="0">
                <a:solidFill>
                  <a:schemeClr val="accent5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21580" y="6230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09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5460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VS Code 中使用 Codex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一次任务按安装、提供上下文、检查结果三个环节完成。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setup"/>
          <p:cNvGrpSpPr/>
          <p:nvPr/>
        </p:nvGrpSpPr>
        <p:grpSpPr>
          <a:xfrm>
            <a:off x="601218" y="1936432"/>
            <a:ext cx="3342132" cy="3715893"/>
            <a:chOff x="601218" y="1936432"/>
            <a:chExt cx="3342132" cy="3715893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936432"/>
              <a:ext cx="1606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安装并登录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3030394"/>
              <a:ext cx="3333750" cy="1292511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02742" y="5093018"/>
              <a:ext cx="2573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在扩展市场安装或启用 Codex，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3882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登录后打开实际项目文件夹。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task"/>
          <p:cNvGrpSpPr/>
          <p:nvPr/>
        </p:nvGrpSpPr>
        <p:grpSpPr>
          <a:xfrm>
            <a:off x="4277868" y="1936432"/>
            <a:ext cx="3342132" cy="3715893"/>
            <a:chOff x="4277868" y="1936432"/>
            <a:chExt cx="3342132" cy="3715893"/>
          </a:xfrm>
        </p:grpSpPr>
        <p:sp>
          <p:nvSpPr>
            <p:cNvPr id="12" name="TextBox 12"/>
            <p:cNvSpPr txBox="1"/>
            <p:nvPr/>
          </p:nvSpPr>
          <p:spPr>
            <a:xfrm>
              <a:off x="4277868" y="1936432"/>
              <a:ext cx="13839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说明任务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4286250" y="234315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9365" y="2533650"/>
              <a:ext cx="2807521" cy="22860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4497197" y="5093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在侧边栏交代目标和修改范围，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92752" y="53882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同时写明完成标准。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review"/>
          <p:cNvGrpSpPr/>
          <p:nvPr/>
        </p:nvGrpSpPr>
        <p:grpSpPr>
          <a:xfrm>
            <a:off x="7954518" y="1936432"/>
            <a:ext cx="3627882" cy="3715893"/>
            <a:chOff x="7954518" y="1936432"/>
            <a:chExt cx="3627882" cy="3715893"/>
          </a:xfrm>
        </p:grpSpPr>
        <p:sp>
          <p:nvSpPr>
            <p:cNvPr id="18" name="TextBox 18"/>
            <p:cNvSpPr txBox="1"/>
            <p:nvPr/>
          </p:nvSpPr>
          <p:spPr>
            <a:xfrm>
              <a:off x="7954518" y="1936432"/>
              <a:ext cx="22724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补充上下文并审查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7962900" y="23431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3463" y="2533650"/>
              <a:ext cx="2898375" cy="22860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8293862" y="5093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引用相关文件、选区或报错，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2752" y="5388292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结束后检查 diff 与测试结果。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885" y="5905500"/>
            <a:ext cx="10983849" cy="412909"/>
            <a:chOff x="603885" y="5905500"/>
            <a:chExt cx="10983849" cy="412909"/>
          </a:xfrm>
        </p:grpSpPr>
        <p:sp>
          <p:nvSpPr>
            <p:cNvPr id="24" name="Line 24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3885" y="6098381"/>
              <a:ext cx="37951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4"/>
                </a:rPr>
                <a:t>OpenAI Codex IDE 扩展文档</a:t>
              </a: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　·　</a:t>
              </a:r>
              <a:r>
                <a:rPr lang="zh-CN" sz="1120" u="sng" dirty="0">
                  <a:solidFill>
                    <a:srgbClr val="355F70"/>
                  </a:solidFill>
                  <a:latin typeface="+mn-lt"/>
                  <a:ea typeface="+mn-ea"/>
                  <a:cs typeface="+mn-cs"/>
                  <a:hlinkClick r:id="rId5"/>
                </a:rPr>
                <a:t>VS Code 使用参考教程</a:t>
              </a:r>
              <a:endParaRPr lang="zh-CN" sz="1120" u="sng" dirty="0">
                <a:solidFill>
                  <a:srgbClr val="355F70"/>
                </a:solidFill>
                <a:latin typeface="+mn-lt"/>
                <a:ea typeface="+mn-ea"/>
                <a:cs typeface="+mn-cs"/>
                <a:hlinkClick r:id="rId5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21580" y="61064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10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7960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的分布式版本管理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49179"/>
              <a:ext cx="64507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Git 管理版本与历史；GitHub、GitLab 等平台负责远程托管与协作。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it-definition"/>
          <p:cNvGrpSpPr/>
          <p:nvPr/>
        </p:nvGrpSpPr>
        <p:grpSpPr>
          <a:xfrm>
            <a:off x="597408" y="2064068"/>
            <a:ext cx="4546092" cy="3689032"/>
            <a:chOff x="597408" y="2064068"/>
            <a:chExt cx="4546092" cy="3689032"/>
          </a:xfrm>
        </p:grpSpPr>
        <p:sp>
          <p:nvSpPr>
            <p:cNvPr id="6" name="TextBox 6"/>
            <p:cNvSpPr txBox="1"/>
            <p:nvPr/>
          </p:nvSpPr>
          <p:spPr>
            <a:xfrm>
              <a:off x="602742" y="2064068"/>
              <a:ext cx="2876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DISTRIBUTED VERSION CONTROL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7408" y="24650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每个本地仓库，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7408" y="286512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都拥有完整历史。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3448050"/>
              <a:ext cx="4533900" cy="89535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961" y="3627596"/>
              <a:ext cx="1159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≠ GitHub</a:t>
              </a:r>
              <a:endParaRPr lang="en-US" sz="142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39500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前者是版本控制工具，后者是远程协作平台。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4552950"/>
              <a:ext cx="4533900" cy="1200150"/>
            </a:xfrm>
            <a:prstGeom prst="roundRect">
              <a:avLst>
                <a:gd name="adj" fmla="val 3175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0961" y="476107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离线也能提交与查看历史</a:t>
              </a:r>
              <a:endParaRPr lang="zh-CN" sz="142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50930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一次提交保存项目状态快照及其父子关系，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53978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不是随手复制一个新文件夹。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distributed-diagram"/>
          <p:cNvGrpSpPr/>
          <p:nvPr/>
        </p:nvGrpSpPr>
        <p:grpSpPr>
          <a:xfrm>
            <a:off x="5562600" y="1790700"/>
            <a:ext cx="6019800" cy="3962400"/>
            <a:chOff x="5562600" y="1790700"/>
            <a:chExt cx="6019800" cy="3962400"/>
          </a:xfrm>
        </p:grpSpPr>
        <p:sp>
          <p:nvSpPr>
            <p:cNvPr id="17" name="Rectangle 17"/>
            <p:cNvSpPr/>
            <p:nvPr/>
          </p:nvSpPr>
          <p:spPr>
            <a:xfrm>
              <a:off x="5562600" y="1790700"/>
              <a:ext cx="6019800" cy="3962400"/>
            </a:xfrm>
            <a:prstGeom prst="roundRect">
              <a:avLst>
                <a:gd name="adj" fmla="val 96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34050" y="2038350"/>
              <a:ext cx="5676900" cy="32004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463284" y="5414010"/>
              <a:ext cx="4218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集中式依赖中心节点；分布式 Git 的每个克隆都包含历史。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885" y="6107906"/>
            <a:ext cx="10983849" cy="220028"/>
            <a:chOff x="603885" y="6107906"/>
            <a:chExt cx="10983849" cy="220028"/>
          </a:xfrm>
        </p:grpSpPr>
        <p:sp>
          <p:nvSpPr>
            <p:cNvPr id="21" name="TextBox 21"/>
            <p:cNvSpPr txBox="1"/>
            <p:nvPr/>
          </p:nvSpPr>
          <p:spPr>
            <a:xfrm>
              <a:off x="603885" y="6107906"/>
              <a:ext cx="1026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参考：</a:t>
              </a:r>
              <a:r>
                <a:rPr lang="zh-CN" sz="1120" u="sng" dirty="0">
                  <a:solidFill>
                    <a:schemeClr val="accent2"/>
                  </a:solidFill>
                  <a:latin typeface="+mn-lt"/>
                  <a:ea typeface="+mn-ea"/>
                  <a:cs typeface="+mn-cs"/>
                  <a:hlinkClick r:id="rId2"/>
                </a:rPr>
                <a:t>Git 教程</a:t>
              </a:r>
              <a:endParaRPr lang="zh-CN" sz="1120" u="sng" dirty="0">
                <a:solidFill>
                  <a:schemeClr val="accent2"/>
                </a:solidFill>
                <a:latin typeface="+mn-lt"/>
                <a:ea typeface="+mn-ea"/>
                <a:cs typeface="+mn-cs"/>
                <a:hlinkClick r:id="rId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1580" y="6116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11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的四个工作位置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3334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工作区、暂存区、本地仓库和远程仓库承担不同的工作。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1" name="git-four-zones"/>
          <p:cNvGrpSpPr/>
          <p:nvPr/>
        </p:nvGrpSpPr>
        <p:grpSpPr>
          <a:xfrm>
            <a:off x="609600" y="2438400"/>
            <a:ext cx="10972800" cy="2876550"/>
            <a:chOff x="609600" y="2438400"/>
            <a:chExt cx="10972800" cy="2876550"/>
          </a:xfrm>
        </p:grpSpPr>
        <p:sp>
          <p:nvSpPr>
            <p:cNvPr id="6" name="Line 6"/>
            <p:cNvSpPr/>
            <p:nvPr/>
          </p:nvSpPr>
          <p:spPr>
            <a:xfrm>
              <a:off x="27241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567690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8629650" y="3143250"/>
              <a:ext cx="838200" cy="1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>
              <a:off x="8629650" y="3790950"/>
              <a:ext cx="83820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86548" y="27308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add</a:t>
              </a:r>
              <a:endParaRPr lang="en-US" sz="1350" b="1" dirty="0">
                <a:solidFill>
                  <a:srgbClr val="355F7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89365" y="273081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commit</a:t>
              </a:r>
              <a:endParaRPr lang="en-US" sz="1350" b="1" dirty="0">
                <a:solidFill>
                  <a:srgbClr val="355F7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2071" y="273081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push</a:t>
              </a:r>
              <a:endParaRPr lang="en-US" sz="1350" b="1" dirty="0">
                <a:solidFill>
                  <a:srgbClr val="527A7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2071" y="396906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pull</a:t>
              </a:r>
              <a:endParaRPr lang="en-US" sz="1350" b="1" dirty="0">
                <a:solidFill>
                  <a:srgbClr val="527A7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09600" y="2438400"/>
              <a:ext cx="10972800" cy="1809750"/>
              <a:chOff x="609600" y="2438400"/>
              <a:chExt cx="10972800" cy="1809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317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867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工作区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1723" y="3348514"/>
                <a:ext cx="11097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Working Tree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1342" y="37785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正在编辑的文件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562350" y="2438400"/>
                <a:ext cx="200279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7844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781425" y="2997994"/>
                <a:ext cx="778307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暂存区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784473" y="3348514"/>
                <a:ext cx="10748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Staging Area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84092" y="36833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本次提交准备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84092" y="39309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包含的内容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654165" y="2438400"/>
                <a:ext cx="1975485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lt1"/>
              </a:solidFill>
              <a:ln w="19050">
                <a:solidFill>
                  <a:srgbClr val="D7DFE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73722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73417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本地仓库</a:t>
                </a:r>
                <a:endPara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737223" y="3348514"/>
                <a:ext cx="141054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Local Repository</a:t>
                </a:r>
                <a:endPara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736842" y="3683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已固化、可恢复的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73684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提交历史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9467850" y="2438400"/>
                <a:ext cx="2114550" cy="1809750"/>
              </a:xfrm>
              <a:prstGeom prst="roundRect">
                <a:avLst>
                  <a:gd name="adj" fmla="val 2105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89973" y="2700814"/>
                <a:ext cx="2119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A9C9BB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zh-CN" sz="1280" b="1" dirty="0">
                  <a:solidFill>
                    <a:srgbClr val="A9C9BB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686925" y="2997994"/>
                <a:ext cx="1031392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远程仓库</a:t>
                </a:r>
                <a:endPara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89973" y="3348514"/>
                <a:ext cx="158342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C3CDD2"/>
                    </a:solidFill>
                    <a:latin typeface="+mn-lt"/>
                    <a:ea typeface="+mn-ea"/>
                    <a:cs typeface="+mn-cs"/>
                  </a:rPr>
                  <a:t>Remote Repository</a:t>
                </a:r>
                <a:endParaRPr lang="en-US" sz="1280" dirty="0">
                  <a:solidFill>
                    <a:srgbClr val="C3CDD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89592" y="368331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团队同步与远程</a:t>
                </a:r>
                <a:endPara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689592" y="3930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备份协作</a:t>
                </a:r>
                <a:endPara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8" name="Rectangle 38"/>
            <p:cNvSpPr/>
            <p:nvPr/>
          </p:nvSpPr>
          <p:spPr>
            <a:xfrm>
              <a:off x="609600" y="462915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31723" y="4777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观察状态</a:t>
              </a:r>
              <a:endParaRPr lang="zh-CN" sz="12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1723" y="5043964"/>
              <a:ext cx="49669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status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看位置　·　</a:t>
              </a:r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diff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看差异　·　</a:t>
              </a:r>
              <a:r>
                <a:rPr lang="en-US" sz="1280" dirty="0">
                  <a:solidFill>
                    <a:srgbClr val="355F7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git log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看历史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831342" y="5826442"/>
            <a:ext cx="10756392" cy="647319"/>
            <a:chOff x="831342" y="5826442"/>
            <a:chExt cx="10756392" cy="647319"/>
          </a:xfrm>
        </p:grpSpPr>
        <p:sp>
          <p:nvSpPr>
            <p:cNvPr id="42" name="TextBox 42"/>
            <p:cNvSpPr txBox="1"/>
            <p:nvPr/>
          </p:nvSpPr>
          <p:spPr>
            <a:xfrm>
              <a:off x="831342" y="5826442"/>
              <a:ext cx="457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暂存区的价值：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先选择“这次要提交什么”，再固化历史。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21580" y="62684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12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34123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 的日常操作顺序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先看状态和差异，再精确暂存；验证通过后提交，最后推送。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2" name="safe-loop"/>
          <p:cNvGrpSpPr/>
          <p:nvPr/>
        </p:nvGrpSpPr>
        <p:grpSpPr>
          <a:xfrm>
            <a:off x="742950" y="1903571"/>
            <a:ext cx="2949392" cy="3456432"/>
            <a:chOff x="742950" y="1903571"/>
            <a:chExt cx="2949392" cy="3456432"/>
          </a:xfrm>
        </p:grpSpPr>
        <p:sp>
          <p:nvSpPr>
            <p:cNvPr id="6" name="Line 6"/>
            <p:cNvSpPr/>
            <p:nvPr/>
          </p:nvSpPr>
          <p:spPr>
            <a:xfrm>
              <a:off x="914400" y="2114550"/>
              <a:ext cx="1" cy="289560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42950" y="1903571"/>
              <a:ext cx="2949392" cy="3456432"/>
              <a:chOff x="742950" y="1903571"/>
              <a:chExt cx="2949392" cy="3456432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42950" y="1943100"/>
                <a:ext cx="342900" cy="342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58167" y="20340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31011" y="190357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pull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1773" y="21578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开始前同步远程更新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742950" y="25336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8167" y="26246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31011" y="2494121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修改并测试</a:t>
                </a:r>
                <a:endPara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31773" y="2748439"/>
                <a:ext cx="20807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完成一个边界清楚的小任务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42950" y="31242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8167" y="32151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31011" y="3084671"/>
                <a:ext cx="2222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status / git diff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1773" y="33389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确认变更范围与内容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742950" y="37147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58167" y="38057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4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31011" y="3675221"/>
                <a:ext cx="159155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527A7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add &lt;files&gt;</a:t>
                </a:r>
                <a:endParaRPr lang="en-US" sz="1420" b="1" dirty="0">
                  <a:solidFill>
                    <a:srgbClr val="527A7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31773" y="39295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只暂存当前任务文件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742950" y="4305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8167" y="439626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527A75"/>
                    </a:solidFill>
                    <a:latin typeface="+mn-lt"/>
                    <a:ea typeface="+mn-ea"/>
                    <a:cs typeface="+mn-cs"/>
                  </a:rPr>
                  <a:t>5</a:t>
                </a:r>
                <a:endPara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31011" y="4265771"/>
                <a:ext cx="246133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527A75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git commit -m "说明原因"</a:t>
                </a:r>
                <a:endParaRPr lang="zh-CN" sz="1420" b="1" dirty="0">
                  <a:solidFill>
                    <a:srgbClr val="527A75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31773" y="452008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让历史回答为什么改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42950" y="48958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58167" y="4986814"/>
                <a:ext cx="11246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  <a:endPara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31011" y="4856321"/>
                <a:ext cx="85558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git push</a:t>
                </a:r>
                <a:endParaRPr lang="en-US" sz="14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31773" y="5110639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同步到对应远程分支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" name="terminal-example"/>
          <p:cNvGrpSpPr/>
          <p:nvPr/>
        </p:nvGrpSpPr>
        <p:grpSpPr>
          <a:xfrm>
            <a:off x="6343650" y="1695450"/>
            <a:ext cx="5238750" cy="3619500"/>
            <a:chOff x="6343650" y="1695450"/>
            <a:chExt cx="5238750" cy="3619500"/>
          </a:xfrm>
        </p:grpSpPr>
        <p:sp>
          <p:nvSpPr>
            <p:cNvPr id="33" name="Rectangle 33"/>
            <p:cNvSpPr/>
            <p:nvPr/>
          </p:nvSpPr>
          <p:spPr>
            <a:xfrm>
              <a:off x="6343650" y="1695450"/>
              <a:ext cx="5238750" cy="3619500"/>
            </a:xfrm>
            <a:prstGeom prst="roundRect">
              <a:avLst>
                <a:gd name="adj" fmla="val 105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43650" y="1695450"/>
              <a:ext cx="5238750" cy="438150"/>
            </a:xfrm>
            <a:prstGeom prst="roundRect">
              <a:avLst>
                <a:gd name="adj" fmla="val 8696"/>
              </a:avLst>
            </a:prstGeom>
            <a:solidFill>
              <a:srgbClr val="34434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76135" y="1850231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CD6E8"/>
                  </a:solidFill>
                  <a:latin typeface="+mn-lt"/>
                  <a:ea typeface="+mn-ea"/>
                  <a:cs typeface="+mn-cs"/>
                </a:rPr>
                <a:t>terminal · experiment-fix</a:t>
              </a:r>
              <a:endParaRPr lang="en-US" sz="1120" dirty="0">
                <a:solidFill>
                  <a:srgbClr val="CCD6E8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641592" y="2426018"/>
              <a:ext cx="4419295" cy="2321433"/>
              <a:chOff x="6641592" y="2426018"/>
              <a:chExt cx="4419295" cy="2321433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6641592" y="2426018"/>
                <a:ext cx="12131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status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641592" y="2768918"/>
                <a:ext cx="31123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modified: configs/baseline.yaml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41592" y="3111818"/>
                <a:ext cx="17129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diff --stat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41592" y="3454718"/>
                <a:ext cx="33122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2 files changed, 18 insertions(+)</a:t>
                </a:r>
                <a:endParaRPr lang="en-US" sz="13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41592" y="3797618"/>
                <a:ext cx="4111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9FB5D9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add configs/baseline.yaml src/run.m</a:t>
                </a:r>
                <a:endParaRPr lang="en-US" sz="1350" dirty="0">
                  <a:solidFill>
                    <a:srgbClr val="9FB5D9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41592" y="4140518"/>
                <a:ext cx="44192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$ git commit -m "Fix baseline seed handling"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41592" y="4483418"/>
                <a:ext cx="34121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A9C9BB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[experiment-fix 6f2a1c9] committed</a:t>
                </a:r>
                <a:endParaRPr lang="en-US" sz="1350" dirty="0">
                  <a:solidFill>
                    <a:srgbClr val="A9C9BB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6642354" y="49377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3CDD2"/>
                  </a:solidFill>
                  <a:latin typeface="+mn-lt"/>
                  <a:ea typeface="+mn-ea"/>
                  <a:cs typeface="+mn-cs"/>
                </a:rPr>
                <a:t>一次提交只讲一件事，审查与回退都会更容易。</a:t>
              </a:r>
              <a:endParaRPr lang="zh-CN" sz="1200" dirty="0">
                <a:solidFill>
                  <a:srgbClr val="C3CDD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risk-warning"/>
          <p:cNvGrpSpPr/>
          <p:nvPr/>
        </p:nvGrpSpPr>
        <p:grpSpPr>
          <a:xfrm>
            <a:off x="831342" y="5816918"/>
            <a:ext cx="10756392" cy="694943"/>
            <a:chOff x="831342" y="5816918"/>
            <a:chExt cx="10756392" cy="694943"/>
          </a:xfrm>
        </p:grpSpPr>
        <p:sp>
          <p:nvSpPr>
            <p:cNvPr id="46" name="TextBox 46"/>
            <p:cNvSpPr txBox="1"/>
            <p:nvPr/>
          </p:nvSpPr>
          <p:spPr>
            <a:xfrm>
              <a:off x="831342" y="58169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风险提示：</a:t>
              </a:r>
              <a:r>
                <a:rPr lang="zh-CN" sz="1350" dirty="0">
                  <a:solidFill>
                    <a:srgbClr val="8A4B08"/>
                  </a:solidFill>
                  <a:latin typeface="+mn-lt"/>
                  <a:ea typeface="+mn-ea"/>
                  <a:cs typeface="+mn-cs"/>
                </a:rPr>
                <a:t>未理解影响前，不使用会覆盖历史或丢失修改的强制命令。</a:t>
              </a:r>
              <a:endParaRPr lang="zh-CN" sz="1350" dirty="0">
                <a:solidFill>
                  <a:srgbClr val="8A4B0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21580" y="63065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13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11492"/>
            <a:ext cx="10987278" cy="964883"/>
            <a:chOff x="595122" y="511492"/>
            <a:chExt cx="10987278" cy="96488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11492"/>
              <a:ext cx="43028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Git 管理科研实验版本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599" y="1030129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把研究假设、代码、配置、验证结果与提交历史连在一起。</a:t>
              </a:r>
              <a:endParaRPr lang="zh-CN" sz="15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3" name="experiment-branches"/>
          <p:cNvGrpSpPr/>
          <p:nvPr/>
        </p:nvGrpSpPr>
        <p:grpSpPr>
          <a:xfrm>
            <a:off x="609600" y="2015014"/>
            <a:ext cx="7257161" cy="3814286"/>
            <a:chOff x="609600" y="2015014"/>
            <a:chExt cx="7257161" cy="3814286"/>
          </a:xfrm>
        </p:grpSpPr>
        <p:sp>
          <p:nvSpPr>
            <p:cNvPr id="6" name="Line 6"/>
            <p:cNvSpPr/>
            <p:nvPr/>
          </p:nvSpPr>
          <p:spPr>
            <a:xfrm>
              <a:off x="914400" y="4095750"/>
              <a:ext cx="6762750" cy="1"/>
            </a:xfrm>
            <a:prstGeom prst="line">
              <a:avLst/>
            </a:prstGeom>
            <a:noFill/>
            <a:ln w="57150" cap="rnd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1809750" y="2857500"/>
              <a:ext cx="571500" cy="1238250"/>
            </a:xfrm>
            <a:custGeom>
              <a:avLst/>
              <a:gdLst/>
              <a:ahLst/>
              <a:cxnLst/>
              <a:rect l="l" t="t" r="r" b="b"/>
              <a:pathLst>
                <a:path w="571500" h="1238250">
                  <a:moveTo>
                    <a:pt x="0" y="123825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381250" y="2857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095750" y="2857500"/>
              <a:ext cx="666750" cy="1238250"/>
            </a:xfrm>
            <a:custGeom>
              <a:avLst/>
              <a:gdLst/>
              <a:ahLst/>
              <a:cxnLst/>
              <a:rect l="l" t="t" r="r" b="b"/>
              <a:pathLst>
                <a:path w="666750" h="1238250">
                  <a:moveTo>
                    <a:pt x="0" y="0"/>
                  </a:moveTo>
                  <a:lnTo>
                    <a:pt x="666750" y="123825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42900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7620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095750" y="3333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810250" y="3333750"/>
              <a:ext cx="666750" cy="762000"/>
            </a:xfrm>
            <a:custGeom>
              <a:avLst/>
              <a:gdLst/>
              <a:ahLst/>
              <a:cxnLst/>
              <a:rect l="l" t="t" r="r" b="b"/>
              <a:pathLst>
                <a:path w="666750" h="762000">
                  <a:moveTo>
                    <a:pt x="0" y="0"/>
                  </a:moveTo>
                  <a:lnTo>
                    <a:pt x="666750" y="76200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048250" y="2381250"/>
              <a:ext cx="666750" cy="1714500"/>
            </a:xfrm>
            <a:custGeom>
              <a:avLst/>
              <a:gdLst/>
              <a:ahLst/>
              <a:cxnLst/>
              <a:rect l="l" t="t" r="r" b="b"/>
              <a:pathLst>
                <a:path w="666750" h="1714500">
                  <a:moveTo>
                    <a:pt x="0" y="171450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15000" y="2381250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124700" y="2381250"/>
              <a:ext cx="400050" cy="1714500"/>
            </a:xfrm>
            <a:custGeom>
              <a:avLst/>
              <a:gdLst/>
              <a:ahLst/>
              <a:cxnLst/>
              <a:rect l="l" t="t" r="r" b="b"/>
              <a:pathLst>
                <a:path w="400050" h="1714500">
                  <a:moveTo>
                    <a:pt x="0" y="0"/>
                  </a:moveTo>
                  <a:lnTo>
                    <a:pt x="400050" y="1714500"/>
                  </a:lnTo>
                </a:path>
              </a:pathLst>
            </a:custGeom>
            <a:noFill/>
            <a:ln w="38100">
              <a:solidFill>
                <a:srgbClr val="6C8DF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42950" y="2247900"/>
              <a:ext cx="7105650" cy="2019300"/>
              <a:chOff x="742950" y="2247900"/>
              <a:chExt cx="7105650" cy="20193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4295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7145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33375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953000" y="4000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7505700" y="39243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105150" y="272415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4819650" y="32004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343650" y="2247900"/>
                <a:ext cx="266700" cy="2667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6C8D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42571" y="4339114"/>
              <a:ext cx="800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基线</a:t>
              </a:r>
              <a:endParaRPr lang="zh-CN" sz="12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99415" y="249126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55F70"/>
                  </a:solidFill>
                  <a:latin typeface="+mn-lt"/>
                  <a:ea typeface="+mn-ea"/>
                  <a:cs typeface="+mn-cs"/>
                </a:rPr>
                <a:t>实验 A · config-a</a:t>
              </a:r>
              <a:endParaRPr lang="zh-CN" sz="1280" b="1" dirty="0">
                <a:solidFill>
                  <a:srgbClr val="355F7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13915" y="30437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实验 B · config-b</a:t>
              </a:r>
              <a:endParaRPr lang="zh-CN" sz="128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37915" y="2015014"/>
              <a:ext cx="14781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4C68CC"/>
                  </a:solidFill>
                  <a:latin typeface="+mn-lt"/>
                  <a:ea typeface="+mn-ea"/>
                  <a:cs typeface="+mn-cs"/>
                </a:rPr>
                <a:t>实验 C · config-c</a:t>
              </a:r>
              <a:endParaRPr lang="zh-CN" sz="1280" b="1" dirty="0">
                <a:solidFill>
                  <a:srgbClr val="4C68C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2239" y="43391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验证后合并</a:t>
              </a:r>
              <a:endParaRPr lang="zh-CN" sz="128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4857750"/>
              <a:ext cx="7239000" cy="971550"/>
            </a:xfrm>
            <a:prstGeom prst="roundRect">
              <a:avLst>
                <a:gd name="adj" fmla="val 392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1342" y="5054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一个提交应同时指向三类证据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342" y="5378768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代码与配置变化　·　环境与数据获取说明　·　指标摘要或结果索引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track-ignore"/>
          <p:cNvGrpSpPr/>
          <p:nvPr/>
        </p:nvGrpSpPr>
        <p:grpSpPr>
          <a:xfrm>
            <a:off x="8153400" y="1714500"/>
            <a:ext cx="3429000" cy="4114800"/>
            <a:chOff x="8153400" y="1714500"/>
            <a:chExt cx="3429000" cy="4114800"/>
          </a:xfrm>
        </p:grpSpPr>
        <p:sp>
          <p:nvSpPr>
            <p:cNvPr id="34" name="Rectangle 34"/>
            <p:cNvSpPr/>
            <p:nvPr/>
          </p:nvSpPr>
          <p:spPr>
            <a:xfrm>
              <a:off x="8153400" y="1714500"/>
              <a:ext cx="3429000" cy="1924050"/>
            </a:xfrm>
            <a:prstGeom prst="roundRect">
              <a:avLst>
                <a:gd name="adj" fmla="val 1980"/>
              </a:avLst>
            </a:prstGeom>
            <a:solidFill>
              <a:srgbClr val="F1F5F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736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27A75"/>
                  </a:solidFill>
                  <a:latin typeface="+mn-lt"/>
                  <a:ea typeface="+mn-ea"/>
                  <a:cs typeface="+mn-cs"/>
                </a:rPr>
                <a:t>应该追踪</a:t>
              </a:r>
              <a:endParaRPr lang="zh-CN" sz="1650" b="1" dirty="0">
                <a:solidFill>
                  <a:srgbClr val="527A7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75142" y="2311718"/>
              <a:ext cx="1613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源代码与评估脚本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142" y="2635568"/>
              <a:ext cx="1431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配置与环境依赖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75142" y="29594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数据获取说明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75142" y="328326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图表生成方法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53400" y="3829050"/>
              <a:ext cx="3429000" cy="2000250"/>
            </a:xfrm>
            <a:prstGeom prst="roundRect">
              <a:avLst>
                <a:gd name="adj" fmla="val 190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73618" y="40319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应该忽略或外部管理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75142" y="4426268"/>
              <a:ext cx="19768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密钥、缓存与临时文件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75142" y="4750118"/>
              <a:ext cx="1249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大型原始数据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75142" y="5073968"/>
              <a:ext cx="1795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可由脚本重建的输出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5904" y="5471160"/>
              <a:ext cx="3083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结果目录保留 README、指标摘要或索引。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3885" y="6184106"/>
            <a:ext cx="10983849" cy="220028"/>
            <a:chOff x="603885" y="6184106"/>
            <a:chExt cx="10983849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603885" y="6184106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分支不是越多越好：一个研究假设或修复，对应一个短而清楚的分支。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21580" y="6192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14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3944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 与 Git 的协作流程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每一步明确负责者，也留下可检查的记录。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column-headings"/>
          <p:cNvGrpSpPr/>
          <p:nvPr/>
        </p:nvGrpSpPr>
        <p:grpSpPr>
          <a:xfrm>
            <a:off x="603123" y="1957864"/>
            <a:ext cx="10979277" cy="375761"/>
            <a:chOff x="603123" y="1957864"/>
            <a:chExt cx="10979277" cy="375761"/>
          </a:xfrm>
        </p:grpSpPr>
        <p:sp>
          <p:nvSpPr>
            <p:cNvPr id="6" name="TextBox 6"/>
            <p:cNvSpPr txBox="1"/>
            <p:nvPr/>
          </p:nvSpPr>
          <p:spPr>
            <a:xfrm>
              <a:off x="603123" y="19578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环节</a:t>
              </a:r>
              <a:endParaRPr lang="zh-CN" sz="128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279773" y="19578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主体或工具</a:t>
              </a:r>
              <a:endParaRPr lang="zh-CN" sz="128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70523" y="19578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应留下的记录</a:t>
              </a:r>
              <a:endParaRPr lang="zh-CN" sz="1280" b="1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324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35" name="workflow-table"/>
          <p:cNvGrpSpPr/>
          <p:nvPr/>
        </p:nvGrpSpPr>
        <p:grpSpPr>
          <a:xfrm>
            <a:off x="602361" y="2608421"/>
            <a:ext cx="10980039" cy="3192304"/>
            <a:chOff x="602361" y="2608421"/>
            <a:chExt cx="10980039" cy="3192304"/>
          </a:xfrm>
        </p:grpSpPr>
        <p:sp>
          <p:nvSpPr>
            <p:cNvPr id="11" name="TextBox 11"/>
            <p:cNvSpPr txBox="1"/>
            <p:nvPr/>
          </p:nvSpPr>
          <p:spPr>
            <a:xfrm>
              <a:off x="602361" y="26084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定义任务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79011" y="26084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研究者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69761" y="2608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目标、相关文件、验收条件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2933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2361" y="31799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记录基线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79011" y="3179921"/>
              <a:ext cx="2871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</a:t>
              </a:r>
              <a:endPara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9761" y="317992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当前分支、提交号、工作区状态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3505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2361" y="3751421"/>
              <a:ext cx="13717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执行与验证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79011" y="3751421"/>
              <a:ext cx="546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Codex</a:t>
              </a:r>
              <a:endPara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9761" y="3751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修改文件、运行或测试结果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4076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2361" y="43229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　审查变化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79011" y="4322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研究者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9761" y="4322921"/>
              <a:ext cx="22988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diff、指标变化和潜在风险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09600" y="4648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2361" y="4894421"/>
              <a:ext cx="13717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　提交与同步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79011" y="4894421"/>
              <a:ext cx="2871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Git</a:t>
              </a:r>
              <a:endPara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9761" y="4894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当前任务的提交和远程记录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2361" y="546592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　关联实验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79011" y="5465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研究者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69761" y="546592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提交号、配置和结果索引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5791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8" name="footer"/>
          <p:cNvGrpSpPr/>
          <p:nvPr/>
        </p:nvGrpSpPr>
        <p:grpSpPr>
          <a:xfrm>
            <a:off x="603504" y="6137910"/>
            <a:ext cx="10984230" cy="234696"/>
            <a:chOff x="603504" y="6137910"/>
            <a:chExt cx="10984230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13791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人工审查决定哪些变化可以进入正式实验记录。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21580" y="61541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15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122" y="530542"/>
            <a:ext cx="10987278" cy="945833"/>
            <a:chOff x="595122" y="530542"/>
            <a:chExt cx="10987278" cy="945833"/>
          </a:xfrm>
        </p:grpSpPr>
        <p:sp>
          <p:nvSpPr>
            <p:cNvPr id="2" name="TextBox 2"/>
            <p:cNvSpPr txBox="1"/>
            <p:nvPr/>
          </p:nvSpPr>
          <p:spPr>
            <a:xfrm>
              <a:off x="595122" y="5305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科研项目中的三项基本检查</a:t>
              </a:r>
              <a:endPara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382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一次任务完成后，用下面三项核对结果。</a:t>
              </a:r>
              <a:endPara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66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8" name="checks"/>
          <p:cNvGrpSpPr/>
          <p:nvPr/>
        </p:nvGrpSpPr>
        <p:grpSpPr>
          <a:xfrm>
            <a:off x="596646" y="2125028"/>
            <a:ext cx="10985754" cy="2837497"/>
            <a:chOff x="596646" y="2125028"/>
            <a:chExt cx="10985754" cy="2837497"/>
          </a:xfrm>
        </p:grpSpPr>
        <p:sp>
          <p:nvSpPr>
            <p:cNvPr id="6" name="TextBox 6"/>
            <p:cNvSpPr txBox="1"/>
            <p:nvPr/>
          </p:nvSpPr>
          <p:spPr>
            <a:xfrm>
              <a:off x="596646" y="2125028"/>
              <a:ext cx="403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25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08582" y="21736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任务边界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754499" y="2230279"/>
              <a:ext cx="3631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目标、修改范围与完成标准是否清楚？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724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6646" y="3239452"/>
              <a:ext cx="403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25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08582" y="32880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验证证据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54499" y="3344704"/>
              <a:ext cx="411046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是否检查 diff、运行测试并核对实验结果？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8385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6646" y="4353878"/>
              <a:ext cx="403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25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08582" y="4402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版本记录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4499" y="4459129"/>
              <a:ext cx="36318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是否只提交任务文件，并记录提交号？</a:t>
              </a:r>
              <a:endParaRPr lang="zh-CN" sz="15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2" name="next-step"/>
          <p:cNvGrpSpPr/>
          <p:nvPr/>
        </p:nvGrpSpPr>
        <p:grpSpPr>
          <a:xfrm>
            <a:off x="602361" y="5664518"/>
            <a:ext cx="10985373" cy="594455"/>
            <a:chOff x="602361" y="5664518"/>
            <a:chExt cx="10985373" cy="594455"/>
          </a:xfrm>
        </p:grpSpPr>
        <p:sp>
          <p:nvSpPr>
            <p:cNvPr id="19" name="TextBox 19"/>
            <p:cNvSpPr txBox="1"/>
            <p:nvPr/>
          </p:nvSpPr>
          <p:spPr>
            <a:xfrm>
              <a:off x="602742" y="566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开始练习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2361" y="5980271"/>
              <a:ext cx="6138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选一个已有科研脚本，完成一次小修改，核对结果后用 Git 留下检查点。</a:t>
              </a:r>
              <a:endPara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21580" y="6020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19096"/>
                  </a:solidFill>
                  <a:latin typeface="+mn-lt"/>
                  <a:ea typeface="+mn-ea"/>
                  <a:cs typeface="+mn-cs"/>
                </a:rPr>
                <a:t>16</a:t>
              </a:r>
              <a:endParaRPr lang="zh-CN" sz="1050" dirty="0">
                <a:solidFill>
                  <a:srgbClr val="81909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dex_git_seminar">
  <a:themeElements>
    <a:clrScheme name="codex_git_seminar">
      <a:dk1>
        <a:srgbClr val="263238"/>
      </a:dk1>
      <a:lt1>
        <a:srgbClr val="FFFFFF"/>
      </a:lt1>
      <a:dk2>
        <a:srgbClr val="1F497D"/>
      </a:dk2>
      <a:lt2>
        <a:srgbClr val="FFFFFF"/>
      </a:lt2>
      <a:accent1>
        <a:srgbClr val="263238"/>
      </a:accent1>
      <a:accent2>
        <a:srgbClr val="456779"/>
      </a:accent2>
      <a:accent3>
        <a:srgbClr val="648681"/>
      </a:accent3>
      <a:accent4>
        <a:srgbClr val="263238"/>
      </a:accent4>
      <a:accent5>
        <a:srgbClr val="607078"/>
      </a:accent5>
      <a:accent6>
        <a:srgbClr val="D8DEE0"/>
      </a:accent6>
      <a:hlink>
        <a:srgbClr val="456779"/>
      </a:hlink>
      <a:folHlink>
        <a:srgbClr val="648681"/>
      </a:folHlink>
    </a:clrScheme>
    <a:fontScheme name="codex_git_semina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x_git_semina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4512</Words>
  <Application>WPS 演示</Application>
  <PresentationFormat>On-screen Show (16:9)</PresentationFormat>
  <Paragraphs>704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Consolas</vt:lpstr>
      <vt:lpstr>微软雅黑</vt:lpstr>
      <vt:lpstr>Arial Unicode MS</vt:lpstr>
      <vt:lpstr>codex_git_seminar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qzuser</cp:lastModifiedBy>
  <cp:revision>4</cp:revision>
  <dcterms:created xsi:type="dcterms:W3CDTF">2026-09-21T07:26:00Z</dcterms:created>
  <dcterms:modified xsi:type="dcterms:W3CDTF">2026-09-22T05:37:37Z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8CADFB6E7D2744E29245E8B2E47CED1C_12</vt:lpwstr>
  </property>
  <property fmtid="{D5CDD505-2E9C-101B-9397-08002B2CF9AE}" pid="3" name="KSOProductBuildVer">
    <vt:lpwstr>2052-12.1.0.26895</vt:lpwstr>
  </property>
</Properties>
</file>